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27432000" cy="1828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Editable reconstruction of the paper-style framework. All diagram text, tensors, heatmaps, modules and connectors are native PowerPoint objects. Reused named ports avoid crossed lines. Representation transfer resets task heads and downstream local projection. The matching group is schematic: XI/XT similarities pool AP(P0); u is not a local image token. NSS is computed from the image, not from P0. Detailed source: docs/figures/model_forward_and_sharing.md.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Raster visual reference only. This original generated design has known connectivity errors. Use slide 1 for editable corrections; do not use this raster as the exact implementation diagram.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7175" y="85725"/>
            <a:ext cx="26660475" cy="548640"/>
          </a:xfrm>
          <a:prstGeom prst="rect">
            <a:avLst/>
          </a:prstGeom>
          <a:noFill/>
        </p:spPr>
        <p:txBody>
          <a:bodyPr wrap="square" lIns="34290" rIns="34290" tIns="0" bIns="0" anchor="ctr">
            <a:spAutoFit/>
          </a:bodyPr>
          <a:lstStyle/>
          <a:p>
            <a:pPr algn="l">
              <a:spcBef>
                <a:spcPts val="0"/>
              </a:spcBef>
              <a:spcAft>
                <a:spcPts val="0"/>
              </a:spcAft>
              <a:defRPr sz="3036" b="1">
                <a:solidFill>
                  <a:srgbClr val="162D43"/>
                </a:solidFill>
                <a:latin typeface="Georgia"/>
              </a:defRPr>
            </a:pPr>
            <a:r>
              <a:t>(a) Quality-aware multimodal pretraining</a:t>
            </a:r>
          </a:p>
        </p:txBody>
      </p:sp>
      <p:sp>
        <p:nvSpPr>
          <p:cNvPr id="3" name="TextBox 2"/>
          <p:cNvSpPr txBox="1"/>
          <p:nvPr/>
        </p:nvSpPr>
        <p:spPr>
          <a:xfrm>
            <a:off x="102869" y="1337310"/>
            <a:ext cx="1508760" cy="514350"/>
          </a:xfrm>
          <a:prstGeom prst="rect">
            <a:avLst/>
          </a:prstGeom>
          <a:noFill/>
        </p:spPr>
        <p:txBody>
          <a:bodyPr wrap="square" lIns="34290" rIns="34290" tIns="0" bIns="0" anchor="ctr">
            <a:spAutoFit/>
          </a:bodyPr>
          <a:lstStyle/>
          <a:p>
            <a:pPr algn="ctr">
              <a:spcBef>
                <a:spcPts val="0"/>
              </a:spcBef>
              <a:spcAft>
                <a:spcPts val="0"/>
              </a:spcAft>
              <a:defRPr sz="1848" b="1">
                <a:solidFill>
                  <a:srgbClr val="162D43"/>
                </a:solidFill>
                <a:latin typeface="Arial"/>
              </a:defRPr>
            </a:pPr>
            <a:r>
              <a:t>SafeAug 1</a:t>
            </a:r>
          </a:p>
        </p:txBody>
      </p:sp>
      <p:sp>
        <p:nvSpPr>
          <p:cNvPr id="4" name="Rectangle 3"/>
          <p:cNvSpPr/>
          <p:nvPr/>
        </p:nvSpPr>
        <p:spPr>
          <a:xfrm>
            <a:off x="1748789" y="994409"/>
            <a:ext cx="1371600" cy="1080135"/>
          </a:xfrm>
          <a:prstGeom prst="rect">
            <a:avLst/>
          </a:prstGeom>
          <a:solidFill>
            <a:srgbClr val="C2DCF9"/>
          </a:solidFill>
          <a:ln w="12700">
            <a:solidFill>
              <a:srgbClr val="4B8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783080" y="1594485"/>
            <a:ext cx="1303020" cy="428625"/>
          </a:xfrm>
          <a:prstGeom prst="rect">
            <a:avLst/>
          </a:prstGeom>
          <a:solidFill>
            <a:srgbClr val="D9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sosceles Triangle 5"/>
          <p:cNvSpPr/>
          <p:nvPr/>
        </p:nvSpPr>
        <p:spPr>
          <a:xfrm>
            <a:off x="1937385" y="1268730"/>
            <a:ext cx="462915" cy="462915"/>
          </a:xfrm>
          <a:prstGeom prst="triangle">
            <a:avLst/>
          </a:prstGeom>
          <a:solidFill>
            <a:srgbClr val="4B8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2400300" y="1405889"/>
            <a:ext cx="548640" cy="377190"/>
          </a:xfrm>
          <a:prstGeom prst="triangle">
            <a:avLst/>
          </a:prstGeom>
          <a:solidFill>
            <a:srgbClr val="2D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pezoid 7"/>
          <p:cNvSpPr/>
          <p:nvPr/>
        </p:nvSpPr>
        <p:spPr>
          <a:xfrm>
            <a:off x="2160270" y="1800225"/>
            <a:ext cx="445770" cy="120015"/>
          </a:xfrm>
          <a:prstGeom prst="trapezoid">
            <a:avLst/>
          </a:prstGeom>
          <a:solidFill>
            <a:srgbClr val="E99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E001.1"/>
          <p:cNvCxnSpPr/>
          <p:nvPr/>
        </p:nvCxnSpPr>
        <p:spPr>
          <a:xfrm>
            <a:off x="3120390" y="1525905"/>
            <a:ext cx="291464"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0" name="E001.2"/>
          <p:cNvCxnSpPr/>
          <p:nvPr/>
        </p:nvCxnSpPr>
        <p:spPr>
          <a:xfrm>
            <a:off x="3411854" y="1525905"/>
            <a:ext cx="0" cy="157734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1" name="E001.3"/>
          <p:cNvCxnSpPr/>
          <p:nvPr/>
        </p:nvCxnSpPr>
        <p:spPr>
          <a:xfrm>
            <a:off x="3411854" y="3103245"/>
            <a:ext cx="27432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2869" y="2966085"/>
            <a:ext cx="1508760" cy="514350"/>
          </a:xfrm>
          <a:prstGeom prst="rect">
            <a:avLst/>
          </a:prstGeom>
          <a:noFill/>
        </p:spPr>
        <p:txBody>
          <a:bodyPr wrap="square" lIns="34290" rIns="34290" tIns="0" bIns="0" anchor="ctr">
            <a:spAutoFit/>
          </a:bodyPr>
          <a:lstStyle/>
          <a:p>
            <a:pPr algn="ctr">
              <a:spcBef>
                <a:spcPts val="0"/>
              </a:spcBef>
              <a:spcAft>
                <a:spcPts val="0"/>
              </a:spcAft>
              <a:defRPr sz="1848" b="1">
                <a:solidFill>
                  <a:srgbClr val="162D43"/>
                </a:solidFill>
                <a:latin typeface="Arial"/>
              </a:defRPr>
            </a:pPr>
            <a:r>
              <a:t>SafeAug 2</a:t>
            </a:r>
          </a:p>
        </p:txBody>
      </p:sp>
      <p:sp>
        <p:nvSpPr>
          <p:cNvPr id="13" name="Rectangle 12"/>
          <p:cNvSpPr/>
          <p:nvPr/>
        </p:nvSpPr>
        <p:spPr>
          <a:xfrm>
            <a:off x="1748789" y="2623185"/>
            <a:ext cx="1371600" cy="1080135"/>
          </a:xfrm>
          <a:prstGeom prst="rect">
            <a:avLst/>
          </a:prstGeom>
          <a:solidFill>
            <a:srgbClr val="C2DCF9"/>
          </a:solidFill>
          <a:ln w="12700">
            <a:solidFill>
              <a:srgbClr val="4B8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83080" y="3223260"/>
            <a:ext cx="1303020" cy="428625"/>
          </a:xfrm>
          <a:prstGeom prst="rect">
            <a:avLst/>
          </a:prstGeom>
          <a:solidFill>
            <a:srgbClr val="D9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sosceles Triangle 14"/>
          <p:cNvSpPr/>
          <p:nvPr/>
        </p:nvSpPr>
        <p:spPr>
          <a:xfrm>
            <a:off x="1937385" y="2897504"/>
            <a:ext cx="462915" cy="462915"/>
          </a:xfrm>
          <a:prstGeom prst="triangle">
            <a:avLst/>
          </a:prstGeom>
          <a:solidFill>
            <a:srgbClr val="4B8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2400300" y="3034665"/>
            <a:ext cx="548640" cy="377190"/>
          </a:xfrm>
          <a:prstGeom prst="triangle">
            <a:avLst/>
          </a:prstGeom>
          <a:solidFill>
            <a:srgbClr val="2D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rapezoid 16"/>
          <p:cNvSpPr/>
          <p:nvPr/>
        </p:nvSpPr>
        <p:spPr>
          <a:xfrm>
            <a:off x="2160270" y="3429000"/>
            <a:ext cx="445770" cy="120015"/>
          </a:xfrm>
          <a:prstGeom prst="trapezoid">
            <a:avLst/>
          </a:prstGeom>
          <a:solidFill>
            <a:srgbClr val="E99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E002.1"/>
          <p:cNvCxnSpPr/>
          <p:nvPr/>
        </p:nvCxnSpPr>
        <p:spPr>
          <a:xfrm>
            <a:off x="3120390" y="3154679"/>
            <a:ext cx="291464"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9" name="E002.2"/>
          <p:cNvCxnSpPr/>
          <p:nvPr/>
        </p:nvCxnSpPr>
        <p:spPr>
          <a:xfrm flipV="1">
            <a:off x="3411854" y="3103245"/>
            <a:ext cx="0" cy="51434"/>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0" name="E002.3"/>
          <p:cNvCxnSpPr/>
          <p:nvPr/>
        </p:nvCxnSpPr>
        <p:spPr>
          <a:xfrm>
            <a:off x="3411854" y="3103245"/>
            <a:ext cx="27432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2869" y="4594859"/>
            <a:ext cx="1508760" cy="514350"/>
          </a:xfrm>
          <a:prstGeom prst="rect">
            <a:avLst/>
          </a:prstGeom>
          <a:noFill/>
        </p:spPr>
        <p:txBody>
          <a:bodyPr wrap="square" lIns="34290" rIns="34290" tIns="0" bIns="0" anchor="ctr">
            <a:spAutoFit/>
          </a:bodyPr>
          <a:lstStyle/>
          <a:p>
            <a:pPr algn="ctr">
              <a:spcBef>
                <a:spcPts val="0"/>
              </a:spcBef>
              <a:spcAft>
                <a:spcPts val="0"/>
              </a:spcAft>
              <a:defRPr sz="1848" b="1">
                <a:solidFill>
                  <a:srgbClr val="162D43"/>
                </a:solidFill>
                <a:latin typeface="Arial"/>
              </a:defRPr>
            </a:pPr>
            <a:r>
              <a:t>Clean</a:t>
            </a:r>
          </a:p>
        </p:txBody>
      </p:sp>
      <p:sp>
        <p:nvSpPr>
          <p:cNvPr id="22" name="Rectangle 21"/>
          <p:cNvSpPr/>
          <p:nvPr/>
        </p:nvSpPr>
        <p:spPr>
          <a:xfrm>
            <a:off x="1748789" y="4251959"/>
            <a:ext cx="1371600" cy="1080135"/>
          </a:xfrm>
          <a:prstGeom prst="rect">
            <a:avLst/>
          </a:prstGeom>
          <a:solidFill>
            <a:srgbClr val="C2DCF9"/>
          </a:solidFill>
          <a:ln w="12700">
            <a:solidFill>
              <a:srgbClr val="4B8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83080" y="4852034"/>
            <a:ext cx="1303020" cy="428625"/>
          </a:xfrm>
          <a:prstGeom prst="rect">
            <a:avLst/>
          </a:prstGeom>
          <a:solidFill>
            <a:srgbClr val="D9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1937385" y="4526280"/>
            <a:ext cx="462915" cy="462915"/>
          </a:xfrm>
          <a:prstGeom prst="triangle">
            <a:avLst/>
          </a:prstGeom>
          <a:solidFill>
            <a:srgbClr val="4B8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2400300" y="4663440"/>
            <a:ext cx="548640" cy="377190"/>
          </a:xfrm>
          <a:prstGeom prst="triangle">
            <a:avLst/>
          </a:prstGeom>
          <a:solidFill>
            <a:srgbClr val="2DA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rapezoid 25"/>
          <p:cNvSpPr/>
          <p:nvPr/>
        </p:nvSpPr>
        <p:spPr>
          <a:xfrm>
            <a:off x="2160270" y="5057775"/>
            <a:ext cx="445770" cy="120015"/>
          </a:xfrm>
          <a:prstGeom prst="trapezoid">
            <a:avLst/>
          </a:prstGeom>
          <a:solidFill>
            <a:srgbClr val="E99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E003.1"/>
          <p:cNvCxnSpPr/>
          <p:nvPr/>
        </p:nvCxnSpPr>
        <p:spPr>
          <a:xfrm>
            <a:off x="3120390" y="4783455"/>
            <a:ext cx="291464"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8" name="E003.2"/>
          <p:cNvCxnSpPr/>
          <p:nvPr/>
        </p:nvCxnSpPr>
        <p:spPr>
          <a:xfrm flipV="1">
            <a:off x="3411854" y="3103245"/>
            <a:ext cx="0" cy="168021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9" name="E003.3"/>
          <p:cNvCxnSpPr/>
          <p:nvPr/>
        </p:nvCxnSpPr>
        <p:spPr>
          <a:xfrm>
            <a:off x="3411854" y="3103245"/>
            <a:ext cx="27432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686175" y="908684"/>
            <a:ext cx="4543425" cy="4732020"/>
          </a:xfrm>
          <a:prstGeom prst="roundRect">
            <a:avLst>
              <a:gd name="adj" fmla="val 8000"/>
            </a:avLst>
          </a:prstGeom>
          <a:solidFill>
            <a:srgbClr val="FFFFFF"/>
          </a:solidFill>
          <a:ln w="1397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57625" y="960120"/>
            <a:ext cx="4200525" cy="445770"/>
          </a:xfrm>
          <a:prstGeom prst="rect">
            <a:avLst/>
          </a:prstGeom>
          <a:noFill/>
        </p:spPr>
        <p:txBody>
          <a:bodyPr wrap="square" lIns="34290" rIns="34290" tIns="0" bIns="0" anchor="ctr">
            <a:spAutoFit/>
          </a:bodyPr>
          <a:lstStyle/>
          <a:p>
            <a:pPr algn="l">
              <a:spcBef>
                <a:spcPts val="0"/>
              </a:spcBef>
              <a:spcAft>
                <a:spcPts val="0"/>
              </a:spcAft>
              <a:defRPr sz="2508" b="1">
                <a:solidFill>
                  <a:srgbClr val="41566A"/>
                </a:solidFill>
                <a:latin typeface="Georgia"/>
              </a:defRPr>
            </a:pPr>
            <a:r>
              <a:t>Shared visual backbone</a:t>
            </a:r>
          </a:p>
        </p:txBody>
      </p:sp>
      <p:sp>
        <p:nvSpPr>
          <p:cNvPr id="32" name="Trapezoid 31"/>
          <p:cNvSpPr/>
          <p:nvPr/>
        </p:nvSpPr>
        <p:spPr>
          <a:xfrm>
            <a:off x="3994784" y="1680210"/>
            <a:ext cx="1560195" cy="1320164"/>
          </a:xfrm>
          <a:prstGeom prst="trapezoid">
            <a:avLst/>
          </a:prstGeom>
          <a:solidFill>
            <a:srgbClr val="C2DC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46220" y="1765935"/>
            <a:ext cx="1457325" cy="1148714"/>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CLIP</a:t>
            </a:r>
          </a:p>
          <a:p>
            <a:pPr algn="ctr">
              <a:spcBef>
                <a:spcPts val="0"/>
              </a:spcBef>
              <a:spcAft>
                <a:spcPts val="0"/>
              </a:spcAft>
              <a:defRPr sz="2112" b="1">
                <a:solidFill>
                  <a:srgbClr val="162D43"/>
                </a:solidFill>
                <a:latin typeface="Arial"/>
              </a:defRPr>
            </a:pPr>
            <a:r>
              <a:t>ViT-L/14</a:t>
            </a:r>
          </a:p>
        </p:txBody>
      </p:sp>
      <p:grpSp>
        <p:nvGrpSpPr>
          <p:cNvPr id="34" name="Group 33"/>
          <p:cNvGrpSpPr/>
          <p:nvPr/>
        </p:nvGrpSpPr>
        <p:grpSpPr>
          <a:xfrm>
            <a:off x="5897880" y="1920240"/>
            <a:ext cx="1148713" cy="497204"/>
            <a:chOff x="5897880" y="1920240"/>
            <a:chExt cx="1148713" cy="497204"/>
          </a:xfrm>
        </p:grpSpPr>
        <p:sp>
          <p:nvSpPr>
            <p:cNvPr id="35" name="Rectangle 34"/>
            <p:cNvSpPr/>
            <p:nvPr/>
          </p:nvSpPr>
          <p:spPr>
            <a:xfrm>
              <a:off x="6052184" y="1920240"/>
              <a:ext cx="994409" cy="342900"/>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975032" y="1997392"/>
              <a:ext cx="994409" cy="342900"/>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97880" y="2074544"/>
              <a:ext cx="994409" cy="342900"/>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8" name="TextBox 37"/>
          <p:cNvSpPr txBox="1"/>
          <p:nvPr/>
        </p:nvSpPr>
        <p:spPr>
          <a:xfrm>
            <a:off x="5589270" y="1560195"/>
            <a:ext cx="2228850" cy="411479"/>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Global · 768-D</a:t>
            </a:r>
          </a:p>
        </p:txBody>
      </p:sp>
      <p:sp>
        <p:nvSpPr>
          <p:cNvPr id="39" name="Trapezoid 38"/>
          <p:cNvSpPr/>
          <p:nvPr/>
        </p:nvSpPr>
        <p:spPr>
          <a:xfrm>
            <a:off x="3994784" y="3549014"/>
            <a:ext cx="1560195" cy="1337310"/>
          </a:xfrm>
          <a:prstGeom prst="trapezoid">
            <a:avLst/>
          </a:prstGeom>
          <a:solidFill>
            <a:srgbClr val="D9F1EE"/>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46220" y="3634739"/>
            <a:ext cx="1457325" cy="1165860"/>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ResNet-50</a:t>
            </a:r>
          </a:p>
          <a:p>
            <a:pPr algn="ctr">
              <a:spcBef>
                <a:spcPts val="0"/>
              </a:spcBef>
              <a:spcAft>
                <a:spcPts val="0"/>
              </a:spcAft>
              <a:defRPr sz="2112" b="1">
                <a:solidFill>
                  <a:srgbClr val="162D43"/>
                </a:solidFill>
                <a:latin typeface="Arial"/>
              </a:defRPr>
            </a:pPr>
            <a:r>
              <a:t>layer4</a:t>
            </a:r>
          </a:p>
        </p:txBody>
      </p:sp>
      <p:grpSp>
        <p:nvGrpSpPr>
          <p:cNvPr id="41" name="Group 40"/>
          <p:cNvGrpSpPr/>
          <p:nvPr/>
        </p:nvGrpSpPr>
        <p:grpSpPr>
          <a:xfrm>
            <a:off x="5915025" y="3823334"/>
            <a:ext cx="898397" cy="812672"/>
            <a:chOff x="5915025" y="3823334"/>
            <a:chExt cx="898397" cy="812672"/>
          </a:xfrm>
        </p:grpSpPr>
        <p:sp>
          <p:nvSpPr>
            <p:cNvPr id="42" name="Rectangle 41"/>
            <p:cNvSpPr/>
            <p:nvPr/>
          </p:nvSpPr>
          <p:spPr>
            <a:xfrm>
              <a:off x="5915025" y="3823334"/>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096762" y="3823334"/>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78499" y="3823334"/>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60236" y="3823334"/>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641972" y="3823334"/>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15025" y="3987927"/>
              <a:ext cx="171450" cy="15430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096762" y="3987927"/>
              <a:ext cx="171450" cy="15430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78499" y="3987927"/>
              <a:ext cx="171450" cy="15430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60236" y="3987927"/>
              <a:ext cx="171450" cy="15430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641972" y="3987927"/>
              <a:ext cx="171450" cy="15430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915025" y="4152519"/>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096762" y="4152519"/>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278499" y="4152519"/>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460236" y="4152519"/>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641972" y="4152519"/>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915025" y="4317111"/>
              <a:ext cx="171450" cy="15430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096762" y="4317111"/>
              <a:ext cx="171450" cy="15430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278499" y="4317111"/>
              <a:ext cx="171450" cy="15430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460236" y="4317111"/>
              <a:ext cx="171450" cy="15430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641972" y="4317111"/>
              <a:ext cx="171450" cy="15430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915025" y="4481702"/>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096762" y="4481702"/>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278499" y="4481702"/>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460236" y="4481702"/>
              <a:ext cx="171450" cy="15430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41972" y="4481702"/>
              <a:ext cx="171450" cy="15430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67" name="TextBox 66"/>
          <p:cNvSpPr txBox="1"/>
          <p:nvPr/>
        </p:nvSpPr>
        <p:spPr>
          <a:xfrm>
            <a:off x="5503545" y="4783455"/>
            <a:ext cx="2434590" cy="394334"/>
          </a:xfrm>
          <a:prstGeom prst="rect">
            <a:avLst/>
          </a:prstGeom>
          <a:noFill/>
        </p:spPr>
        <p:txBody>
          <a:bodyPr wrap="square" lIns="34290" rIns="34290" tIns="0" bIns="0" anchor="ctr">
            <a:spAutoFit/>
          </a:bodyPr>
          <a:lstStyle/>
          <a:p>
            <a:pPr algn="ctr">
              <a:spcBef>
                <a:spcPts val="0"/>
              </a:spcBef>
              <a:spcAft>
                <a:spcPts val="0"/>
              </a:spcAft>
              <a:defRPr sz="1452" b="0">
                <a:solidFill>
                  <a:srgbClr val="162D43"/>
                </a:solidFill>
                <a:latin typeface="Arial"/>
              </a:defRPr>
            </a:pPr>
            <a:r>
              <a:t>7 × 7 × 2048</a:t>
            </a:r>
          </a:p>
        </p:txBody>
      </p:sp>
      <p:sp>
        <p:nvSpPr>
          <p:cNvPr id="68" name="TextBox 67"/>
          <p:cNvSpPr txBox="1"/>
          <p:nvPr/>
        </p:nvSpPr>
        <p:spPr>
          <a:xfrm>
            <a:off x="5503545" y="5177790"/>
            <a:ext cx="2434590" cy="291465"/>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then R.proj: 2048→256</a:t>
            </a:r>
          </a:p>
        </p:txBody>
      </p:sp>
      <p:sp>
        <p:nvSpPr>
          <p:cNvPr id="69" name="Rounded Rectangle 68"/>
          <p:cNvSpPr/>
          <p:nvPr/>
        </p:nvSpPr>
        <p:spPr>
          <a:xfrm>
            <a:off x="7218045" y="2726054"/>
            <a:ext cx="788669" cy="1200150"/>
          </a:xfrm>
          <a:prstGeom prst="roundRect">
            <a:avLst>
              <a:gd name="adj" fmla="val 8000"/>
            </a:avLst>
          </a:prstGeom>
          <a:solidFill>
            <a:srgbClr val="F3F6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269479" y="2760345"/>
            <a:ext cx="685800" cy="1131570"/>
          </a:xfrm>
          <a:prstGeom prst="rect">
            <a:avLst/>
          </a:prstGeom>
          <a:noFill/>
        </p:spPr>
        <p:txBody>
          <a:bodyPr wrap="square" lIns="34290" rIns="34290" tIns="0" bIns="0" anchor="ctr">
            <a:spAutoFit/>
          </a:bodyPr>
          <a:lstStyle/>
          <a:p>
            <a:pPr algn="ctr">
              <a:spcBef>
                <a:spcPts val="0"/>
              </a:spcBef>
              <a:spcAft>
                <a:spcPts val="0"/>
              </a:spcAft>
              <a:defRPr sz="1452" b="0">
                <a:solidFill>
                  <a:srgbClr val="162D43"/>
                </a:solidFill>
                <a:latin typeface="Arial"/>
              </a:defRPr>
            </a:pPr>
            <a:r>
              <a:t>F</a:t>
            </a:r>
          </a:p>
          <a:p>
            <a:pPr algn="ctr">
              <a:spcBef>
                <a:spcPts val="0"/>
              </a:spcBef>
              <a:spcAft>
                <a:spcPts val="0"/>
              </a:spcAft>
              <a:defRPr sz="1452" b="0">
                <a:solidFill>
                  <a:srgbClr val="162D43"/>
                </a:solidFill>
                <a:latin typeface="Arial"/>
              </a:defRPr>
            </a:pPr>
            <a:r>
              <a:t>u</a:t>
            </a:r>
          </a:p>
          <a:p>
            <a:pPr algn="ctr">
              <a:spcBef>
                <a:spcPts val="0"/>
              </a:spcBef>
              <a:spcAft>
                <a:spcPts val="0"/>
              </a:spcAft>
              <a:defRPr sz="1452" b="0">
                <a:solidFill>
                  <a:srgbClr val="162D43"/>
                </a:solidFill>
                <a:latin typeface="Arial"/>
              </a:defRPr>
            </a:pPr>
            <a:r>
              <a:t>s</a:t>
            </a:r>
          </a:p>
          <a:p>
            <a:pPr algn="ctr">
              <a:spcBef>
                <a:spcPts val="0"/>
              </a:spcBef>
              <a:spcAft>
                <a:spcPts val="0"/>
              </a:spcAft>
              <a:defRPr sz="1452" b="0">
                <a:solidFill>
                  <a:srgbClr val="162D43"/>
                </a:solidFill>
                <a:latin typeface="Arial"/>
              </a:defRPr>
            </a:pPr>
            <a:r>
              <a:t>i</a:t>
            </a:r>
          </a:p>
          <a:p>
            <a:pPr algn="ctr">
              <a:spcBef>
                <a:spcPts val="0"/>
              </a:spcBef>
              <a:spcAft>
                <a:spcPts val="0"/>
              </a:spcAft>
              <a:defRPr sz="1452" b="0">
                <a:solidFill>
                  <a:srgbClr val="162D43"/>
                </a:solidFill>
                <a:latin typeface="Arial"/>
              </a:defRPr>
            </a:pPr>
            <a:r>
              <a:t>o</a:t>
            </a:r>
          </a:p>
          <a:p>
            <a:pPr algn="ctr">
              <a:spcBef>
                <a:spcPts val="0"/>
              </a:spcBef>
              <a:spcAft>
                <a:spcPts val="0"/>
              </a:spcAft>
              <a:defRPr sz="1452" b="0">
                <a:solidFill>
                  <a:srgbClr val="162D43"/>
                </a:solidFill>
                <a:latin typeface="Arial"/>
              </a:defRPr>
            </a:pPr>
            <a:r>
              <a:t>n</a:t>
            </a:r>
          </a:p>
        </p:txBody>
      </p:sp>
      <p:cxnSp>
        <p:nvCxnSpPr>
          <p:cNvPr id="71" name="E004.1"/>
          <p:cNvCxnSpPr/>
          <p:nvPr/>
        </p:nvCxnSpPr>
        <p:spPr>
          <a:xfrm>
            <a:off x="5554980" y="2348865"/>
            <a:ext cx="25717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E005.1"/>
          <p:cNvCxnSpPr/>
          <p:nvPr/>
        </p:nvCxnSpPr>
        <p:spPr>
          <a:xfrm>
            <a:off x="6892290" y="2263140"/>
            <a:ext cx="188594"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73" name="E005.2"/>
          <p:cNvCxnSpPr/>
          <p:nvPr/>
        </p:nvCxnSpPr>
        <p:spPr>
          <a:xfrm>
            <a:off x="7080884" y="2263140"/>
            <a:ext cx="0" cy="75438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74" name="E005.3"/>
          <p:cNvCxnSpPr/>
          <p:nvPr/>
        </p:nvCxnSpPr>
        <p:spPr>
          <a:xfrm>
            <a:off x="7080884" y="3017520"/>
            <a:ext cx="13716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E006.1"/>
          <p:cNvCxnSpPr/>
          <p:nvPr/>
        </p:nvCxnSpPr>
        <p:spPr>
          <a:xfrm>
            <a:off x="5554980" y="4200525"/>
            <a:ext cx="27432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E007.1"/>
          <p:cNvCxnSpPr/>
          <p:nvPr/>
        </p:nvCxnSpPr>
        <p:spPr>
          <a:xfrm>
            <a:off x="6840854" y="4200525"/>
            <a:ext cx="24003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77" name="E007.2"/>
          <p:cNvCxnSpPr/>
          <p:nvPr/>
        </p:nvCxnSpPr>
        <p:spPr>
          <a:xfrm flipV="1">
            <a:off x="7080884" y="3634739"/>
            <a:ext cx="0" cy="565786"/>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78" name="E007.3"/>
          <p:cNvCxnSpPr/>
          <p:nvPr/>
        </p:nvCxnSpPr>
        <p:spPr>
          <a:xfrm>
            <a:off x="7080884" y="3634739"/>
            <a:ext cx="13716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E008.1"/>
          <p:cNvCxnSpPr/>
          <p:nvPr/>
        </p:nvCxnSpPr>
        <p:spPr>
          <a:xfrm>
            <a:off x="8006715" y="3343275"/>
            <a:ext cx="497204"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80" name="Group 79"/>
          <p:cNvGrpSpPr/>
          <p:nvPr/>
        </p:nvGrpSpPr>
        <p:grpSpPr>
          <a:xfrm>
            <a:off x="8572500" y="2931795"/>
            <a:ext cx="462914" cy="908685"/>
            <a:chOff x="8572500" y="2931795"/>
            <a:chExt cx="462914" cy="908685"/>
          </a:xfrm>
        </p:grpSpPr>
        <p:sp>
          <p:nvSpPr>
            <p:cNvPr id="81" name="Rectangle 80"/>
            <p:cNvSpPr/>
            <p:nvPr/>
          </p:nvSpPr>
          <p:spPr>
            <a:xfrm>
              <a:off x="8726805" y="2931795"/>
              <a:ext cx="308609" cy="754380"/>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649652" y="3008947"/>
              <a:ext cx="308609" cy="754380"/>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8572500" y="3086100"/>
              <a:ext cx="308609" cy="754380"/>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84" name="TextBox 83"/>
          <p:cNvSpPr txBox="1"/>
          <p:nvPr/>
        </p:nvSpPr>
        <p:spPr>
          <a:xfrm>
            <a:off x="8401050" y="2486025"/>
            <a:ext cx="754380" cy="428625"/>
          </a:xfrm>
          <a:prstGeom prst="rect">
            <a:avLst/>
          </a:prstGeom>
          <a:noFill/>
        </p:spPr>
        <p:txBody>
          <a:bodyPr wrap="square" lIns="34290" rIns="34290" tIns="0" bIns="0" anchor="ctr">
            <a:spAutoFit/>
          </a:bodyPr>
          <a:lstStyle/>
          <a:p>
            <a:pPr algn="ctr">
              <a:spcBef>
                <a:spcPts val="0"/>
              </a:spcBef>
              <a:spcAft>
                <a:spcPts val="0"/>
              </a:spcAft>
              <a:defRPr sz="1980" b="1">
                <a:solidFill>
                  <a:srgbClr val="162D43"/>
                </a:solidFill>
                <a:latin typeface="Arial"/>
              </a:defRPr>
            </a:pPr>
            <a:r>
              <a:t>z</a:t>
            </a:r>
          </a:p>
        </p:txBody>
      </p:sp>
      <p:sp>
        <p:nvSpPr>
          <p:cNvPr id="85" name="TextBox 84"/>
          <p:cNvSpPr txBox="1"/>
          <p:nvPr/>
        </p:nvSpPr>
        <p:spPr>
          <a:xfrm>
            <a:off x="8195310" y="3857625"/>
            <a:ext cx="1028700" cy="617219"/>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per-view</a:t>
            </a:r>
          </a:p>
          <a:p>
            <a:pPr algn="ctr">
              <a:spcBef>
                <a:spcPts val="0"/>
              </a:spcBef>
              <a:spcAft>
                <a:spcPts val="0"/>
              </a:spcAft>
              <a:defRPr sz="1056" b="0">
                <a:solidFill>
                  <a:srgbClr val="162D43"/>
                </a:solidFill>
                <a:latin typeface="Arial"/>
              </a:defRPr>
            </a:pPr>
            <a:r>
              <a:t>outputs</a:t>
            </a:r>
          </a:p>
        </p:txBody>
      </p:sp>
      <p:sp>
        <p:nvSpPr>
          <p:cNvPr id="86" name="TextBox 85"/>
          <p:cNvSpPr txBox="1"/>
          <p:nvPr/>
        </p:nvSpPr>
        <p:spPr>
          <a:xfrm>
            <a:off x="9292590" y="685800"/>
            <a:ext cx="6600825" cy="428625"/>
          </a:xfrm>
          <a:prstGeom prst="rect">
            <a:avLst/>
          </a:prstGeom>
          <a:noFill/>
        </p:spPr>
        <p:txBody>
          <a:bodyPr wrap="square" lIns="34290" rIns="34290" tIns="0" bIns="0" anchor="ctr">
            <a:spAutoFit/>
          </a:bodyPr>
          <a:lstStyle/>
          <a:p>
            <a:pPr algn="ctr">
              <a:spcBef>
                <a:spcPts val="0"/>
              </a:spcBef>
              <a:spcAft>
                <a:spcPts val="0"/>
              </a:spcAft>
              <a:defRPr sz="1584" b="1">
                <a:solidFill>
                  <a:srgbClr val="9262C9"/>
                </a:solidFill>
                <a:latin typeface="Arial"/>
              </a:defRPr>
            </a:pPr>
            <a:r>
              <a:t>Shared P_Q / D_Q across augmented views</a:t>
            </a:r>
          </a:p>
        </p:txBody>
      </p:sp>
      <p:sp>
        <p:nvSpPr>
          <p:cNvPr id="87" name="TextBox 86"/>
          <p:cNvSpPr txBox="1"/>
          <p:nvPr/>
        </p:nvSpPr>
        <p:spPr>
          <a:xfrm>
            <a:off x="9172575" y="1337310"/>
            <a:ext cx="634365" cy="497204"/>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z₁</a:t>
            </a:r>
          </a:p>
        </p:txBody>
      </p:sp>
      <p:sp>
        <p:nvSpPr>
          <p:cNvPr id="88" name="Trapezoid 87"/>
          <p:cNvSpPr/>
          <p:nvPr/>
        </p:nvSpPr>
        <p:spPr>
          <a:xfrm>
            <a:off x="9978390" y="1337310"/>
            <a:ext cx="720090" cy="651510"/>
          </a:xfrm>
          <a:prstGeom prst="trapezoid">
            <a:avLst/>
          </a:prstGeom>
          <a:solidFill>
            <a:srgbClr val="C2DC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926955" y="1371600"/>
            <a:ext cx="822959" cy="58293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P_Q</a:t>
            </a:r>
          </a:p>
        </p:txBody>
      </p:sp>
      <p:cxnSp>
        <p:nvCxnSpPr>
          <p:cNvPr id="90" name="E009.1"/>
          <p:cNvCxnSpPr/>
          <p:nvPr/>
        </p:nvCxnSpPr>
        <p:spPr>
          <a:xfrm>
            <a:off x="9806940" y="1663064"/>
            <a:ext cx="17145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91" name="Group 90"/>
          <p:cNvGrpSpPr/>
          <p:nvPr/>
        </p:nvGrpSpPr>
        <p:grpSpPr>
          <a:xfrm>
            <a:off x="11041380" y="1337310"/>
            <a:ext cx="1011555" cy="411479"/>
            <a:chOff x="11041380" y="1337310"/>
            <a:chExt cx="1011555" cy="411479"/>
          </a:xfrm>
        </p:grpSpPr>
        <p:sp>
          <p:nvSpPr>
            <p:cNvPr id="92" name="Rectangle 91"/>
            <p:cNvSpPr/>
            <p:nvPr/>
          </p:nvSpPr>
          <p:spPr>
            <a:xfrm>
              <a:off x="11195685" y="1337310"/>
              <a:ext cx="857250"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1118532" y="1414462"/>
              <a:ext cx="857250"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1041380" y="1491614"/>
              <a:ext cx="857250" cy="25717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95" name="E010.1"/>
          <p:cNvCxnSpPr/>
          <p:nvPr/>
        </p:nvCxnSpPr>
        <p:spPr>
          <a:xfrm>
            <a:off x="10698480" y="1663064"/>
            <a:ext cx="30861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96" name="Trapezoid 95"/>
          <p:cNvSpPr/>
          <p:nvPr/>
        </p:nvSpPr>
        <p:spPr>
          <a:xfrm>
            <a:off x="12327255" y="1337310"/>
            <a:ext cx="720090" cy="651510"/>
          </a:xfrm>
          <a:prstGeom prst="trapezoid">
            <a:avLst/>
          </a:prstGeom>
          <a:solidFill>
            <a:srgbClr val="FFF0DD"/>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2275819" y="1371600"/>
            <a:ext cx="822959" cy="58293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D_Q</a:t>
            </a:r>
          </a:p>
        </p:txBody>
      </p:sp>
      <p:cxnSp>
        <p:nvCxnSpPr>
          <p:cNvPr id="98" name="E011.1"/>
          <p:cNvCxnSpPr/>
          <p:nvPr/>
        </p:nvCxnSpPr>
        <p:spPr>
          <a:xfrm>
            <a:off x="11932919" y="1663064"/>
            <a:ext cx="39433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99" name="Group 98"/>
          <p:cNvGrpSpPr/>
          <p:nvPr/>
        </p:nvGrpSpPr>
        <p:grpSpPr>
          <a:xfrm>
            <a:off x="13355955" y="1320164"/>
            <a:ext cx="702944" cy="445771"/>
            <a:chOff x="13355955" y="1320164"/>
            <a:chExt cx="702944" cy="445771"/>
          </a:xfrm>
        </p:grpSpPr>
        <p:sp>
          <p:nvSpPr>
            <p:cNvPr id="100" name="Rectangle 99"/>
            <p:cNvSpPr/>
            <p:nvPr/>
          </p:nvSpPr>
          <p:spPr>
            <a:xfrm>
              <a:off x="13510259" y="1320164"/>
              <a:ext cx="548640" cy="29146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3433107" y="1397317"/>
              <a:ext cx="548640" cy="29146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3355955" y="1474470"/>
              <a:ext cx="548640" cy="29146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103" name="E012.1"/>
          <p:cNvCxnSpPr/>
          <p:nvPr/>
        </p:nvCxnSpPr>
        <p:spPr>
          <a:xfrm>
            <a:off x="13047344" y="1663064"/>
            <a:ext cx="27432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9172575" y="2948940"/>
            <a:ext cx="634365" cy="497204"/>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z₂</a:t>
            </a:r>
          </a:p>
        </p:txBody>
      </p:sp>
      <p:sp>
        <p:nvSpPr>
          <p:cNvPr id="105" name="Trapezoid 104"/>
          <p:cNvSpPr/>
          <p:nvPr/>
        </p:nvSpPr>
        <p:spPr>
          <a:xfrm>
            <a:off x="9978390" y="2948940"/>
            <a:ext cx="720090" cy="651510"/>
          </a:xfrm>
          <a:prstGeom prst="trapezoid">
            <a:avLst/>
          </a:prstGeom>
          <a:solidFill>
            <a:srgbClr val="C2DC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926955" y="2983229"/>
            <a:ext cx="822959" cy="58293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P_Q</a:t>
            </a:r>
          </a:p>
        </p:txBody>
      </p:sp>
      <p:cxnSp>
        <p:nvCxnSpPr>
          <p:cNvPr id="107" name="E013.1"/>
          <p:cNvCxnSpPr/>
          <p:nvPr/>
        </p:nvCxnSpPr>
        <p:spPr>
          <a:xfrm>
            <a:off x="9806940" y="3274695"/>
            <a:ext cx="17145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108" name="Group 107"/>
          <p:cNvGrpSpPr/>
          <p:nvPr/>
        </p:nvGrpSpPr>
        <p:grpSpPr>
          <a:xfrm>
            <a:off x="11041380" y="2948940"/>
            <a:ext cx="1011555" cy="411480"/>
            <a:chOff x="11041380" y="2948940"/>
            <a:chExt cx="1011555" cy="411480"/>
          </a:xfrm>
        </p:grpSpPr>
        <p:sp>
          <p:nvSpPr>
            <p:cNvPr id="109" name="Rectangle 108"/>
            <p:cNvSpPr/>
            <p:nvPr/>
          </p:nvSpPr>
          <p:spPr>
            <a:xfrm>
              <a:off x="11195685" y="2948940"/>
              <a:ext cx="857250"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118532" y="3026092"/>
              <a:ext cx="857250"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041380" y="3103245"/>
              <a:ext cx="857250" cy="25717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112" name="E014.1"/>
          <p:cNvCxnSpPr/>
          <p:nvPr/>
        </p:nvCxnSpPr>
        <p:spPr>
          <a:xfrm>
            <a:off x="10698480" y="3274695"/>
            <a:ext cx="30861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13" name="Trapezoid 112"/>
          <p:cNvSpPr/>
          <p:nvPr/>
        </p:nvSpPr>
        <p:spPr>
          <a:xfrm>
            <a:off x="12327255" y="2948940"/>
            <a:ext cx="720090" cy="651510"/>
          </a:xfrm>
          <a:prstGeom prst="trapezoid">
            <a:avLst/>
          </a:prstGeom>
          <a:solidFill>
            <a:srgbClr val="FFF0DD"/>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2275819" y="2983229"/>
            <a:ext cx="822959" cy="58293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D_Q</a:t>
            </a:r>
          </a:p>
        </p:txBody>
      </p:sp>
      <p:cxnSp>
        <p:nvCxnSpPr>
          <p:cNvPr id="115" name="E015.1"/>
          <p:cNvCxnSpPr/>
          <p:nvPr/>
        </p:nvCxnSpPr>
        <p:spPr>
          <a:xfrm>
            <a:off x="11932919" y="3274695"/>
            <a:ext cx="39433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116" name="Group 115"/>
          <p:cNvGrpSpPr/>
          <p:nvPr/>
        </p:nvGrpSpPr>
        <p:grpSpPr>
          <a:xfrm>
            <a:off x="13355955" y="2931795"/>
            <a:ext cx="702944" cy="445770"/>
            <a:chOff x="13355955" y="2931795"/>
            <a:chExt cx="702944" cy="445770"/>
          </a:xfrm>
        </p:grpSpPr>
        <p:sp>
          <p:nvSpPr>
            <p:cNvPr id="117" name="Rectangle 116"/>
            <p:cNvSpPr/>
            <p:nvPr/>
          </p:nvSpPr>
          <p:spPr>
            <a:xfrm>
              <a:off x="13510259" y="2931795"/>
              <a:ext cx="548640" cy="29146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3433107" y="3008947"/>
              <a:ext cx="548640" cy="29146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3355955" y="3086100"/>
              <a:ext cx="548640" cy="29146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120" name="E016.1"/>
          <p:cNvCxnSpPr/>
          <p:nvPr/>
        </p:nvCxnSpPr>
        <p:spPr>
          <a:xfrm>
            <a:off x="13047344" y="3274695"/>
            <a:ext cx="27432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9172575" y="4560570"/>
            <a:ext cx="634365" cy="497204"/>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z_c</a:t>
            </a:r>
          </a:p>
        </p:txBody>
      </p:sp>
      <p:sp>
        <p:nvSpPr>
          <p:cNvPr id="122" name="Trapezoid 121"/>
          <p:cNvSpPr/>
          <p:nvPr/>
        </p:nvSpPr>
        <p:spPr>
          <a:xfrm>
            <a:off x="9978390" y="4560570"/>
            <a:ext cx="720090" cy="651510"/>
          </a:xfrm>
          <a:prstGeom prst="trapezoid">
            <a:avLst/>
          </a:prstGeom>
          <a:solidFill>
            <a:srgbClr val="C2DC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926955" y="4594859"/>
            <a:ext cx="822959" cy="58293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P_Q</a:t>
            </a:r>
          </a:p>
        </p:txBody>
      </p:sp>
      <p:cxnSp>
        <p:nvCxnSpPr>
          <p:cNvPr id="124" name="E017.1"/>
          <p:cNvCxnSpPr/>
          <p:nvPr/>
        </p:nvCxnSpPr>
        <p:spPr>
          <a:xfrm>
            <a:off x="9806940" y="4886325"/>
            <a:ext cx="17145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125" name="Group 124"/>
          <p:cNvGrpSpPr/>
          <p:nvPr/>
        </p:nvGrpSpPr>
        <p:grpSpPr>
          <a:xfrm>
            <a:off x="11041380" y="4560570"/>
            <a:ext cx="1011555" cy="411480"/>
            <a:chOff x="11041380" y="4560570"/>
            <a:chExt cx="1011555" cy="411480"/>
          </a:xfrm>
        </p:grpSpPr>
        <p:sp>
          <p:nvSpPr>
            <p:cNvPr id="126" name="Rectangle 125"/>
            <p:cNvSpPr/>
            <p:nvPr/>
          </p:nvSpPr>
          <p:spPr>
            <a:xfrm>
              <a:off x="11195685" y="4560570"/>
              <a:ext cx="857250"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118532" y="4637722"/>
              <a:ext cx="857250"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041380" y="4714875"/>
              <a:ext cx="857250" cy="25717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129" name="E018.1"/>
          <p:cNvCxnSpPr/>
          <p:nvPr/>
        </p:nvCxnSpPr>
        <p:spPr>
          <a:xfrm>
            <a:off x="10698480" y="4886325"/>
            <a:ext cx="30861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30" name="Rounded Rectangle 129"/>
          <p:cNvSpPr/>
          <p:nvPr/>
        </p:nvSpPr>
        <p:spPr>
          <a:xfrm>
            <a:off x="12464415" y="4406265"/>
            <a:ext cx="4166234" cy="1028700"/>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2515850" y="4440555"/>
            <a:ext cx="4063364" cy="960120"/>
          </a:xfrm>
          <a:prstGeom prst="rect">
            <a:avLst/>
          </a:prstGeom>
          <a:noFill/>
        </p:spPr>
        <p:txBody>
          <a:bodyPr wrap="square" lIns="34290" rIns="34290" tIns="0" bIns="0" anchor="ctr">
            <a:spAutoFit/>
          </a:bodyPr>
          <a:lstStyle/>
          <a:p>
            <a:pPr algn="ctr">
              <a:spcBef>
                <a:spcPts val="0"/>
              </a:spcBef>
              <a:spcAft>
                <a:spcPts val="0"/>
              </a:spcAft>
              <a:defRPr sz="1716" b="0">
                <a:solidFill>
                  <a:srgbClr val="162D43"/>
                </a:solidFill>
                <a:latin typeface="Arial"/>
              </a:defRPr>
            </a:pPr>
            <a:r>
              <a:t>Component anchors + ordinal</a:t>
            </a:r>
          </a:p>
          <a:p>
            <a:pPr algn="ctr">
              <a:spcBef>
                <a:spcPts val="0"/>
              </a:spcBef>
              <a:spcAft>
                <a:spcPts val="0"/>
              </a:spcAft>
              <a:defRPr sz="1716" b="0">
                <a:solidFill>
                  <a:srgbClr val="162D43"/>
                </a:solidFill>
                <a:latin typeface="Arial"/>
              </a:defRPr>
            </a:pPr>
            <a:r>
              <a:t>Five-level quality text CE</a:t>
            </a:r>
          </a:p>
        </p:txBody>
      </p:sp>
      <p:cxnSp>
        <p:nvCxnSpPr>
          <p:cNvPr id="132" name="E019.1"/>
          <p:cNvCxnSpPr/>
          <p:nvPr/>
        </p:nvCxnSpPr>
        <p:spPr>
          <a:xfrm>
            <a:off x="11915775" y="4886325"/>
            <a:ext cx="54864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3" name="E020.1"/>
          <p:cNvCxnSpPr/>
          <p:nvPr/>
        </p:nvCxnSpPr>
        <p:spPr>
          <a:xfrm>
            <a:off x="8915400" y="3429000"/>
            <a:ext cx="154305"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34" name="E020.2"/>
          <p:cNvCxnSpPr/>
          <p:nvPr/>
        </p:nvCxnSpPr>
        <p:spPr>
          <a:xfrm flipV="1">
            <a:off x="9069705" y="1663064"/>
            <a:ext cx="0" cy="1765936"/>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35" name="E020.3"/>
          <p:cNvCxnSpPr/>
          <p:nvPr/>
        </p:nvCxnSpPr>
        <p:spPr>
          <a:xfrm>
            <a:off x="9069705" y="1663064"/>
            <a:ext cx="10287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6" name="E021.1"/>
          <p:cNvCxnSpPr/>
          <p:nvPr/>
        </p:nvCxnSpPr>
        <p:spPr>
          <a:xfrm>
            <a:off x="9069705" y="3274695"/>
            <a:ext cx="10287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7" name="E022.1"/>
          <p:cNvCxnSpPr/>
          <p:nvPr/>
        </p:nvCxnSpPr>
        <p:spPr>
          <a:xfrm>
            <a:off x="9069705" y="3429000"/>
            <a:ext cx="0" cy="145732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38" name="E022.2"/>
          <p:cNvCxnSpPr/>
          <p:nvPr/>
        </p:nvCxnSpPr>
        <p:spPr>
          <a:xfrm>
            <a:off x="9069705" y="4886325"/>
            <a:ext cx="10287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39" name="Rounded Rectangle 138"/>
          <p:cNvSpPr/>
          <p:nvPr/>
        </p:nvSpPr>
        <p:spPr>
          <a:xfrm>
            <a:off x="14350365" y="1543050"/>
            <a:ext cx="2280285" cy="2057400"/>
          </a:xfrm>
          <a:prstGeom prst="roundRect">
            <a:avLst>
              <a:gd name="adj" fmla="val 8000"/>
            </a:avLst>
          </a:prstGeom>
          <a:solidFill>
            <a:srgbClr val="F3F6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4401800" y="1577339"/>
            <a:ext cx="2177415" cy="1988819"/>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Symmetric SimSiam</a:t>
            </a:r>
          </a:p>
          <a:p>
            <a:pPr algn="ctr">
              <a:spcBef>
                <a:spcPts val="0"/>
              </a:spcBef>
              <a:spcAft>
                <a:spcPts val="0"/>
              </a:spcAft>
              <a:defRPr sz="1848" b="0">
                <a:solidFill>
                  <a:srgbClr val="162D43"/>
                </a:solidFill>
                <a:latin typeface="Arial"/>
              </a:defRPr>
            </a:pPr>
            <a:r>
              <a:t>p₁ ↔ sg(q₂)</a:t>
            </a:r>
          </a:p>
          <a:p>
            <a:pPr algn="ctr">
              <a:spcBef>
                <a:spcPts val="0"/>
              </a:spcBef>
              <a:spcAft>
                <a:spcPts val="0"/>
              </a:spcAft>
              <a:defRPr sz="1848" b="0">
                <a:solidFill>
                  <a:srgbClr val="162D43"/>
                </a:solidFill>
                <a:latin typeface="Arial"/>
              </a:defRPr>
            </a:pPr>
            <a:r>
              <a:t>p₂ ↔ sg(q₁)</a:t>
            </a:r>
          </a:p>
        </p:txBody>
      </p:sp>
      <p:cxnSp>
        <p:nvCxnSpPr>
          <p:cNvPr id="141" name="E023.1"/>
          <p:cNvCxnSpPr/>
          <p:nvPr/>
        </p:nvCxnSpPr>
        <p:spPr>
          <a:xfrm>
            <a:off x="13921740" y="1628775"/>
            <a:ext cx="428625" cy="411479"/>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2" name="E024.1"/>
          <p:cNvCxnSpPr/>
          <p:nvPr/>
        </p:nvCxnSpPr>
        <p:spPr>
          <a:xfrm flipV="1">
            <a:off x="13921740" y="3017520"/>
            <a:ext cx="428625" cy="222884"/>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43" name="Rounded Rectangle 142"/>
          <p:cNvSpPr/>
          <p:nvPr/>
        </p:nvSpPr>
        <p:spPr>
          <a:xfrm>
            <a:off x="9978390" y="6017895"/>
            <a:ext cx="3051810" cy="822959"/>
          </a:xfrm>
          <a:prstGeom prst="roundRect">
            <a:avLst>
              <a:gd name="adj" fmla="val 8000"/>
            </a:avLst>
          </a:prstGeom>
          <a:solidFill>
            <a:srgbClr val="FFF0DD"/>
          </a:solidFill>
          <a:ln w="12700">
            <a:solidFill>
              <a:srgbClr val="E99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029825" y="6052184"/>
            <a:ext cx="2948940" cy="75438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Clean score heads</a:t>
            </a:r>
          </a:p>
        </p:txBody>
      </p:sp>
      <p:cxnSp>
        <p:nvCxnSpPr>
          <p:cNvPr id="145" name="E025.1"/>
          <p:cNvCxnSpPr/>
          <p:nvPr/>
        </p:nvCxnSpPr>
        <p:spPr>
          <a:xfrm>
            <a:off x="8915400" y="3600450"/>
            <a:ext cx="24003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46" name="E025.2"/>
          <p:cNvCxnSpPr/>
          <p:nvPr/>
        </p:nvCxnSpPr>
        <p:spPr>
          <a:xfrm>
            <a:off x="9155430" y="3600450"/>
            <a:ext cx="0" cy="282892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147" name="E025.3"/>
          <p:cNvCxnSpPr/>
          <p:nvPr/>
        </p:nvCxnSpPr>
        <p:spPr>
          <a:xfrm>
            <a:off x="9155430" y="6429375"/>
            <a:ext cx="82296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13150215" y="6017895"/>
            <a:ext cx="3480435" cy="822959"/>
          </a:xfrm>
          <a:prstGeom prst="rect">
            <a:avLst/>
          </a:prstGeom>
          <a:noFill/>
        </p:spPr>
        <p:txBody>
          <a:bodyPr wrap="square" lIns="34290" rIns="34290" tIns="0" bIns="0" anchor="ctr">
            <a:spAutoFit/>
          </a:bodyPr>
          <a:lstStyle/>
          <a:p>
            <a:pPr algn="l">
              <a:spcBef>
                <a:spcPts val="0"/>
              </a:spcBef>
              <a:spcAft>
                <a:spcPts val="0"/>
              </a:spcAft>
              <a:defRPr sz="1584" b="0">
                <a:solidFill>
                  <a:srgbClr val="162D43"/>
                </a:solidFill>
                <a:latin typeface="Arial"/>
              </a:defRPr>
            </a:pPr>
            <a:r>
              <a:t>Quality / Alignment</a:t>
            </a:r>
          </a:p>
          <a:p>
            <a:pPr algn="l">
              <a:spcBef>
                <a:spcPts val="0"/>
              </a:spcBef>
              <a:spcAft>
                <a:spcPts val="0"/>
              </a:spcAft>
              <a:defRPr sz="1584" b="0">
                <a:solidFill>
                  <a:srgbClr val="162D43"/>
                </a:solidFill>
                <a:latin typeface="Arial"/>
              </a:defRPr>
            </a:pPr>
            <a:r>
              <a:t>Artifact / Aesthetics</a:t>
            </a:r>
          </a:p>
        </p:txBody>
      </p:sp>
      <p:sp>
        <p:nvSpPr>
          <p:cNvPr id="149" name="Rounded Rectangle 148"/>
          <p:cNvSpPr/>
          <p:nvPr/>
        </p:nvSpPr>
        <p:spPr>
          <a:xfrm>
            <a:off x="17230725" y="891540"/>
            <a:ext cx="9789794" cy="4749165"/>
          </a:xfrm>
          <a:prstGeom prst="roundRect">
            <a:avLst>
              <a:gd name="adj" fmla="val 8000"/>
            </a:avLst>
          </a:prstGeom>
          <a:solidFill>
            <a:srgbClr val="FFFFFF"/>
          </a:solidFill>
          <a:ln w="1397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7402175" y="942975"/>
            <a:ext cx="9446894" cy="445770"/>
          </a:xfrm>
          <a:prstGeom prst="rect">
            <a:avLst/>
          </a:prstGeom>
          <a:noFill/>
        </p:spPr>
        <p:txBody>
          <a:bodyPr wrap="square" lIns="34290" rIns="34290" tIns="0" bIns="0" anchor="ctr">
            <a:spAutoFit/>
          </a:bodyPr>
          <a:lstStyle/>
          <a:p>
            <a:pPr algn="l">
              <a:spcBef>
                <a:spcPts val="0"/>
              </a:spcBef>
              <a:spcAft>
                <a:spcPts val="0"/>
              </a:spcAft>
              <a:defRPr sz="2508" b="1">
                <a:solidFill>
                  <a:srgbClr val="9262C9"/>
                </a:solidFill>
                <a:latin typeface="Georgia"/>
              </a:defRPr>
            </a:pPr>
            <a:r>
              <a:t>Separate image–text relation space</a:t>
            </a:r>
          </a:p>
        </p:txBody>
      </p:sp>
      <p:sp>
        <p:nvSpPr>
          <p:cNvPr id="151" name="TextBox 150"/>
          <p:cNvSpPr txBox="1"/>
          <p:nvPr/>
        </p:nvSpPr>
        <p:spPr>
          <a:xfrm>
            <a:off x="17470755" y="1457325"/>
            <a:ext cx="3446145" cy="308609"/>
          </a:xfrm>
          <a:prstGeom prst="rect">
            <a:avLst/>
          </a:prstGeom>
          <a:noFill/>
        </p:spPr>
        <p:txBody>
          <a:bodyPr wrap="square" lIns="34290" rIns="34290" tIns="0" bIns="0" anchor="ctr">
            <a:spAutoFit/>
          </a:bodyPr>
          <a:lstStyle/>
          <a:p>
            <a:pPr algn="ctr">
              <a:spcBef>
                <a:spcPts val="0"/>
              </a:spcBef>
              <a:spcAft>
                <a:spcPts val="0"/>
              </a:spcAft>
              <a:defRPr sz="1188" b="0">
                <a:solidFill>
                  <a:srgbClr val="162D43"/>
                </a:solidFill>
                <a:latin typeface="Arial"/>
              </a:defRPr>
            </a:pPr>
            <a:r>
              <a:t>Clean aligned image / region features</a:t>
            </a:r>
          </a:p>
        </p:txBody>
      </p:sp>
      <p:grpSp>
        <p:nvGrpSpPr>
          <p:cNvPr id="152" name="Group 151"/>
          <p:cNvGrpSpPr/>
          <p:nvPr/>
        </p:nvGrpSpPr>
        <p:grpSpPr>
          <a:xfrm>
            <a:off x="17590770" y="1663064"/>
            <a:ext cx="925830" cy="720090"/>
            <a:chOff x="17590770" y="1663064"/>
            <a:chExt cx="925830" cy="720090"/>
          </a:xfrm>
        </p:grpSpPr>
        <p:sp>
          <p:nvSpPr>
            <p:cNvPr id="153" name="Rectangle 152"/>
            <p:cNvSpPr/>
            <p:nvPr/>
          </p:nvSpPr>
          <p:spPr>
            <a:xfrm>
              <a:off x="17745075" y="1663064"/>
              <a:ext cx="771525" cy="56578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7667922" y="1740217"/>
              <a:ext cx="771525" cy="56578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7590770" y="1817369"/>
              <a:ext cx="771525" cy="56578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56" name="Trapezoid 155"/>
          <p:cNvSpPr/>
          <p:nvPr/>
        </p:nvSpPr>
        <p:spPr>
          <a:xfrm>
            <a:off x="18859500" y="1765935"/>
            <a:ext cx="685800" cy="685800"/>
          </a:xfrm>
          <a:prstGeom prst="trapezoid">
            <a:avLst/>
          </a:prstGeom>
          <a:solidFill>
            <a:srgbClr val="C2DC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8808064" y="1800225"/>
            <a:ext cx="788669" cy="617219"/>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P_I</a:t>
            </a:r>
          </a:p>
        </p:txBody>
      </p:sp>
      <p:sp>
        <p:nvSpPr>
          <p:cNvPr id="158" name="Trapezoid 157"/>
          <p:cNvSpPr/>
          <p:nvPr/>
        </p:nvSpPr>
        <p:spPr>
          <a:xfrm>
            <a:off x="20145375" y="1765935"/>
            <a:ext cx="685800" cy="685800"/>
          </a:xfrm>
          <a:prstGeom prst="trapezoid">
            <a:avLst/>
          </a:prstGeom>
          <a:solidFill>
            <a:srgbClr val="FFF0DD"/>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20093939" y="1800225"/>
            <a:ext cx="788669" cy="617219"/>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D_I</a:t>
            </a:r>
          </a:p>
        </p:txBody>
      </p:sp>
      <p:cxnSp>
        <p:nvCxnSpPr>
          <p:cNvPr id="160" name="E026.1"/>
          <p:cNvCxnSpPr/>
          <p:nvPr/>
        </p:nvCxnSpPr>
        <p:spPr>
          <a:xfrm>
            <a:off x="18379439" y="2091690"/>
            <a:ext cx="48006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1" name="E027.1"/>
          <p:cNvCxnSpPr/>
          <p:nvPr/>
        </p:nvCxnSpPr>
        <p:spPr>
          <a:xfrm>
            <a:off x="19545300" y="2091690"/>
            <a:ext cx="60007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62" name="Rounded Rectangle 161"/>
          <p:cNvSpPr/>
          <p:nvPr/>
        </p:nvSpPr>
        <p:spPr>
          <a:xfrm>
            <a:off x="17590770" y="3291839"/>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7865089" y="3291839"/>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18139410" y="3291839"/>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18413730" y="3291839"/>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rapezoid 165"/>
          <p:cNvSpPr/>
          <p:nvPr/>
        </p:nvSpPr>
        <p:spPr>
          <a:xfrm>
            <a:off x="18859500" y="2983229"/>
            <a:ext cx="1817369" cy="1062989"/>
          </a:xfrm>
          <a:prstGeom prst="trapezoid">
            <a:avLst/>
          </a:prstGeom>
          <a:solidFill>
            <a:srgbClr val="F0E9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8910935" y="3068954"/>
            <a:ext cx="1714500" cy="891540"/>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Text encoder</a:t>
            </a:r>
          </a:p>
          <a:p>
            <a:pPr algn="ctr">
              <a:spcBef>
                <a:spcPts val="0"/>
              </a:spcBef>
              <a:spcAft>
                <a:spcPts val="0"/>
              </a:spcAft>
              <a:defRPr sz="2112" b="1">
                <a:solidFill>
                  <a:srgbClr val="162D43"/>
                </a:solidFill>
                <a:latin typeface="Arial"/>
              </a:defRPr>
            </a:pPr>
            <a:r>
              <a:t>Frozen</a:t>
            </a:r>
          </a:p>
        </p:txBody>
      </p:sp>
      <p:sp>
        <p:nvSpPr>
          <p:cNvPr id="168" name="Trapezoid 167"/>
          <p:cNvSpPr/>
          <p:nvPr/>
        </p:nvSpPr>
        <p:spPr>
          <a:xfrm>
            <a:off x="21259800" y="3137535"/>
            <a:ext cx="685800" cy="685800"/>
          </a:xfrm>
          <a:prstGeom prst="trapezoid">
            <a:avLst/>
          </a:prstGeom>
          <a:solidFill>
            <a:srgbClr val="F0E9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21208364" y="3171825"/>
            <a:ext cx="788669" cy="617219"/>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P_T</a:t>
            </a:r>
          </a:p>
        </p:txBody>
      </p:sp>
      <p:sp>
        <p:nvSpPr>
          <p:cNvPr id="170" name="Trapezoid 169"/>
          <p:cNvSpPr/>
          <p:nvPr/>
        </p:nvSpPr>
        <p:spPr>
          <a:xfrm>
            <a:off x="22459950" y="3137535"/>
            <a:ext cx="685800" cy="685800"/>
          </a:xfrm>
          <a:prstGeom prst="trapezoid">
            <a:avLst/>
          </a:prstGeom>
          <a:solidFill>
            <a:srgbClr val="FFF0DD"/>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2408514" y="3171825"/>
            <a:ext cx="788669" cy="617219"/>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D_T</a:t>
            </a:r>
          </a:p>
        </p:txBody>
      </p:sp>
      <p:cxnSp>
        <p:nvCxnSpPr>
          <p:cNvPr id="172" name="E028.1"/>
          <p:cNvCxnSpPr/>
          <p:nvPr/>
        </p:nvCxnSpPr>
        <p:spPr>
          <a:xfrm>
            <a:off x="18653760" y="3446145"/>
            <a:ext cx="20574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73" name="E029.1"/>
          <p:cNvCxnSpPr/>
          <p:nvPr/>
        </p:nvCxnSpPr>
        <p:spPr>
          <a:xfrm>
            <a:off x="20676870" y="3446145"/>
            <a:ext cx="58293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20574000" y="2691765"/>
            <a:ext cx="2828925" cy="308609"/>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via U + relation-specific adapters</a:t>
            </a:r>
          </a:p>
        </p:txBody>
      </p:sp>
      <p:cxnSp>
        <p:nvCxnSpPr>
          <p:cNvPr id="175" name="E030.1"/>
          <p:cNvCxnSpPr/>
          <p:nvPr/>
        </p:nvCxnSpPr>
        <p:spPr>
          <a:xfrm>
            <a:off x="21945600" y="3446145"/>
            <a:ext cx="51435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7453610" y="4217670"/>
            <a:ext cx="5966459" cy="822959"/>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Prompt / Answer / region phrases</a:t>
            </a:r>
          </a:p>
          <a:p>
            <a:pPr algn="ctr">
              <a:spcBef>
                <a:spcPts val="0"/>
              </a:spcBef>
              <a:spcAft>
                <a:spcPts val="0"/>
              </a:spcAft>
              <a:defRPr sz="1584" b="0">
                <a:solidFill>
                  <a:srgbClr val="162D43"/>
                </a:solidFill>
                <a:latin typeface="Arial"/>
              </a:defRPr>
            </a:pPr>
            <a:r>
              <a:t>Trainable contexts; relation-specific adapters</a:t>
            </a:r>
          </a:p>
        </p:txBody>
      </p:sp>
      <p:grpSp>
        <p:nvGrpSpPr>
          <p:cNvPr id="177" name="Group 176"/>
          <p:cNvGrpSpPr/>
          <p:nvPr/>
        </p:nvGrpSpPr>
        <p:grpSpPr>
          <a:xfrm>
            <a:off x="24191595" y="2125979"/>
            <a:ext cx="1755647" cy="1532763"/>
            <a:chOff x="24191595" y="2125979"/>
            <a:chExt cx="1755647" cy="1532763"/>
          </a:xfrm>
        </p:grpSpPr>
        <p:sp>
          <p:nvSpPr>
            <p:cNvPr id="178" name="Rectangle 177"/>
            <p:cNvSpPr/>
            <p:nvPr/>
          </p:nvSpPr>
          <p:spPr>
            <a:xfrm>
              <a:off x="24191595" y="2125979"/>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24485917" y="2125979"/>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24780239" y="2125979"/>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25074562" y="2125979"/>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25368885" y="2125979"/>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25663207" y="2125979"/>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24191595" y="2383154"/>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24485917" y="2383154"/>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24780239" y="2383154"/>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25074562" y="2383154"/>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25368885" y="2383154"/>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25663207" y="2383154"/>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24191595" y="2640329"/>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24485917" y="2640329"/>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24780239" y="2640329"/>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25074562" y="2640329"/>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25368885" y="2640329"/>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25663207" y="2640329"/>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24191595" y="2897504"/>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24485917" y="2897504"/>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24780239" y="2897504"/>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25074562" y="2897504"/>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25368885" y="2897504"/>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25663207" y="2897504"/>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24191595" y="3154679"/>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24485917" y="3154679"/>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24780239" y="3154679"/>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25074562" y="3154679"/>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25368885" y="3154679"/>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25663207" y="3154679"/>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24191595" y="3411854"/>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24485917" y="3411854"/>
              <a:ext cx="284035" cy="246888"/>
            </a:xfrm>
            <a:prstGeom prst="rect">
              <a:avLst/>
            </a:prstGeom>
            <a:solidFill>
              <a:srgbClr val="B5A7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24780239" y="3411854"/>
              <a:ext cx="284035" cy="246888"/>
            </a:xfrm>
            <a:prstGeom prst="rect">
              <a:avLst/>
            </a:prstGeom>
            <a:solidFill>
              <a:srgbClr val="BCD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25074562" y="3411854"/>
              <a:ext cx="284035" cy="246888"/>
            </a:xfrm>
            <a:prstGeom prst="rect">
              <a:avLst/>
            </a:prstGeom>
            <a:solidFill>
              <a:srgbClr val="D3C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25368885" y="3411854"/>
              <a:ext cx="284035" cy="246888"/>
            </a:xfrm>
            <a:prstGeom prst="rect">
              <a:avLst/>
            </a:prstGeom>
            <a:solidFill>
              <a:srgbClr val="7C7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25663207" y="3411854"/>
              <a:ext cx="284035" cy="246888"/>
            </a:xfrm>
            <a:prstGeom prst="rect">
              <a:avLst/>
            </a:prstGeom>
            <a:solidFill>
              <a:srgbClr val="F0EC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214" name="E031.1"/>
          <p:cNvCxnSpPr/>
          <p:nvPr/>
        </p:nvCxnSpPr>
        <p:spPr>
          <a:xfrm>
            <a:off x="20831175" y="2108835"/>
            <a:ext cx="264033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15" name="E031.2"/>
          <p:cNvCxnSpPr/>
          <p:nvPr/>
        </p:nvCxnSpPr>
        <p:spPr>
          <a:xfrm>
            <a:off x="23471505" y="2108835"/>
            <a:ext cx="0" cy="37719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16" name="E031.3"/>
          <p:cNvCxnSpPr/>
          <p:nvPr/>
        </p:nvCxnSpPr>
        <p:spPr>
          <a:xfrm>
            <a:off x="23471505" y="2486025"/>
            <a:ext cx="63436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7" name="E032.1"/>
          <p:cNvCxnSpPr/>
          <p:nvPr/>
        </p:nvCxnSpPr>
        <p:spPr>
          <a:xfrm>
            <a:off x="23145750" y="3480435"/>
            <a:ext cx="96012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23660100" y="3823334"/>
            <a:ext cx="2880360" cy="977264"/>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Image–Prompt / Answer</a:t>
            </a:r>
          </a:p>
          <a:p>
            <a:pPr algn="ctr">
              <a:spcBef>
                <a:spcPts val="0"/>
              </a:spcBef>
              <a:spcAft>
                <a:spcPts val="0"/>
              </a:spcAft>
              <a:defRPr sz="1584" b="0">
                <a:solidFill>
                  <a:srgbClr val="162D43"/>
                </a:solidFill>
                <a:latin typeface="Arial"/>
              </a:defRPr>
            </a:pPr>
            <a:r>
              <a:t>Prompt–Answer</a:t>
            </a:r>
          </a:p>
          <a:p>
            <a:pPr algn="ctr">
              <a:spcBef>
                <a:spcPts val="0"/>
              </a:spcBef>
              <a:spcAft>
                <a:spcPts val="0"/>
              </a:spcAft>
              <a:defRPr sz="1584" b="0">
                <a:solidFill>
                  <a:srgbClr val="162D43"/>
                </a:solidFill>
                <a:latin typeface="Arial"/>
              </a:defRPr>
            </a:pPr>
            <a:r>
              <a:t>Region–word</a:t>
            </a:r>
          </a:p>
        </p:txBody>
      </p:sp>
      <p:sp>
        <p:nvSpPr>
          <p:cNvPr id="219" name="Rounded Rectangle 218"/>
          <p:cNvSpPr/>
          <p:nvPr/>
        </p:nvSpPr>
        <p:spPr>
          <a:xfrm>
            <a:off x="17419320" y="5966459"/>
            <a:ext cx="9515475" cy="977264"/>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7470755" y="6000750"/>
            <a:ext cx="9412605" cy="908684"/>
          </a:xfrm>
          <a:prstGeom prst="rect">
            <a:avLst/>
          </a:prstGeom>
          <a:noFill/>
        </p:spPr>
        <p:txBody>
          <a:bodyPr wrap="square" lIns="34290" rIns="34290" tIns="0" bIns="0" anchor="ctr">
            <a:spAutoFit/>
          </a:bodyPr>
          <a:lstStyle/>
          <a:p>
            <a:pPr algn="ctr">
              <a:spcBef>
                <a:spcPts val="0"/>
              </a:spcBef>
              <a:spcAft>
                <a:spcPts val="0"/>
              </a:spcAft>
              <a:defRPr sz="1716" b="0">
                <a:solidFill>
                  <a:srgbClr val="162D43"/>
                </a:solidFill>
                <a:latin typeface="Arial"/>
              </a:defRPr>
            </a:pPr>
            <a:r>
              <a:t>P_Q → Quality Adapter initialization</a:t>
            </a:r>
          </a:p>
          <a:p>
            <a:pPr algn="ctr">
              <a:spcBef>
                <a:spcPts val="0"/>
              </a:spcBef>
              <a:spcAft>
                <a:spcPts val="0"/>
              </a:spcAft>
              <a:defRPr sz="1716" b="0">
                <a:solidFill>
                  <a:srgbClr val="162D43"/>
                </a:solidFill>
                <a:latin typeface="Arial"/>
              </a:defRPr>
            </a:pPr>
            <a:r>
              <a:t>Backbone / contexts / alignment adapters / quality bank transferred</a:t>
            </a:r>
          </a:p>
        </p:txBody>
      </p:sp>
      <p:cxnSp>
        <p:nvCxnSpPr>
          <p:cNvPr id="221" name="E033.1"/>
          <p:cNvCxnSpPr/>
          <p:nvPr/>
        </p:nvCxnSpPr>
        <p:spPr>
          <a:xfrm>
            <a:off x="411479" y="7320915"/>
            <a:ext cx="26609040" cy="0"/>
          </a:xfrm>
          <a:prstGeom prst="line">
            <a:avLst/>
          </a:prstGeom>
          <a:ln w="16510">
            <a:solidFill>
              <a:srgbClr val="41566A"/>
            </a:solidFill>
            <a:prstDash val="dash"/>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257175" y="7526654"/>
            <a:ext cx="26660475" cy="548640"/>
          </a:xfrm>
          <a:prstGeom prst="rect">
            <a:avLst/>
          </a:prstGeom>
          <a:noFill/>
        </p:spPr>
        <p:txBody>
          <a:bodyPr wrap="square" lIns="34290" rIns="34290" tIns="0" bIns="0" anchor="ctr">
            <a:spAutoFit/>
          </a:bodyPr>
          <a:lstStyle/>
          <a:p>
            <a:pPr algn="l">
              <a:spcBef>
                <a:spcPts val="0"/>
              </a:spcBef>
              <a:spcAft>
                <a:spcPts val="0"/>
              </a:spcAft>
              <a:defRPr sz="3036" b="1">
                <a:solidFill>
                  <a:srgbClr val="162D43"/>
                </a:solidFill>
                <a:latin typeface="Georgia"/>
              </a:defRPr>
            </a:pPr>
            <a:r>
              <a:t>(b) Downstream quality &amp; alignment assessment</a:t>
            </a:r>
          </a:p>
        </p:txBody>
      </p:sp>
      <p:sp>
        <p:nvSpPr>
          <p:cNvPr id="223" name="Rounded Rectangle 222"/>
          <p:cNvSpPr/>
          <p:nvPr/>
        </p:nvSpPr>
        <p:spPr>
          <a:xfrm>
            <a:off x="360045" y="9721215"/>
            <a:ext cx="1680210" cy="1543050"/>
          </a:xfrm>
          <a:prstGeom prst="roundRect">
            <a:avLst>
              <a:gd name="adj" fmla="val 8000"/>
            </a:avLst>
          </a:prstGeom>
          <a:solidFill>
            <a:srgbClr val="C2DCF9"/>
          </a:solidFill>
          <a:ln w="12700">
            <a:solidFill>
              <a:srgbClr val="4B8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411479" y="9755505"/>
            <a:ext cx="1577339" cy="1474470"/>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Input image</a:t>
            </a:r>
          </a:p>
          <a:p>
            <a:pPr algn="ctr">
              <a:spcBef>
                <a:spcPts val="0"/>
              </a:spcBef>
              <a:spcAft>
                <a:spcPts val="0"/>
              </a:spcAft>
              <a:defRPr sz="1848" b="0">
                <a:solidFill>
                  <a:srgbClr val="162D43"/>
                </a:solidFill>
                <a:latin typeface="Arial"/>
              </a:defRPr>
            </a:pPr>
            <a:r>
              <a:t>224 × 224</a:t>
            </a:r>
          </a:p>
        </p:txBody>
      </p:sp>
      <p:sp>
        <p:nvSpPr>
          <p:cNvPr id="225" name="Trapezoid 224"/>
          <p:cNvSpPr/>
          <p:nvPr/>
        </p:nvSpPr>
        <p:spPr>
          <a:xfrm>
            <a:off x="2537460" y="8538210"/>
            <a:ext cx="1903094" cy="1525905"/>
          </a:xfrm>
          <a:prstGeom prst="trapezoid">
            <a:avLst/>
          </a:prstGeom>
          <a:solidFill>
            <a:srgbClr val="C2DC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2588895" y="8623935"/>
            <a:ext cx="1800225" cy="1354455"/>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CLIP</a:t>
            </a:r>
          </a:p>
          <a:p>
            <a:pPr algn="ctr">
              <a:spcBef>
                <a:spcPts val="0"/>
              </a:spcBef>
              <a:spcAft>
                <a:spcPts val="0"/>
              </a:spcAft>
              <a:defRPr sz="2112" b="1">
                <a:solidFill>
                  <a:srgbClr val="162D43"/>
                </a:solidFill>
                <a:latin typeface="Arial"/>
              </a:defRPr>
            </a:pPr>
            <a:r>
              <a:t>ViT-L/14</a:t>
            </a:r>
          </a:p>
        </p:txBody>
      </p:sp>
      <p:grpSp>
        <p:nvGrpSpPr>
          <p:cNvPr id="227" name="Group 226"/>
          <p:cNvGrpSpPr/>
          <p:nvPr/>
        </p:nvGrpSpPr>
        <p:grpSpPr>
          <a:xfrm>
            <a:off x="4886325" y="8983980"/>
            <a:ext cx="977264" cy="480060"/>
            <a:chOff x="4886325" y="8983980"/>
            <a:chExt cx="977264" cy="480060"/>
          </a:xfrm>
        </p:grpSpPr>
        <p:sp>
          <p:nvSpPr>
            <p:cNvPr id="228" name="Rectangle 227"/>
            <p:cNvSpPr/>
            <p:nvPr/>
          </p:nvSpPr>
          <p:spPr>
            <a:xfrm>
              <a:off x="5040630" y="8983980"/>
              <a:ext cx="822959" cy="32575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4963477" y="9061132"/>
              <a:ext cx="822959" cy="32575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4886325" y="9138285"/>
              <a:ext cx="822959" cy="32575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31" name="TextBox 230"/>
          <p:cNvSpPr txBox="1"/>
          <p:nvPr/>
        </p:nvSpPr>
        <p:spPr>
          <a:xfrm>
            <a:off x="4612005" y="8641080"/>
            <a:ext cx="1491614" cy="342900"/>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768-D</a:t>
            </a:r>
          </a:p>
        </p:txBody>
      </p:sp>
      <p:sp>
        <p:nvSpPr>
          <p:cNvPr id="232" name="Trapezoid 231"/>
          <p:cNvSpPr/>
          <p:nvPr/>
        </p:nvSpPr>
        <p:spPr>
          <a:xfrm>
            <a:off x="2537460" y="11795760"/>
            <a:ext cx="1903094" cy="1525905"/>
          </a:xfrm>
          <a:prstGeom prst="trapezoid">
            <a:avLst/>
          </a:prstGeom>
          <a:solidFill>
            <a:srgbClr val="D9F1EE"/>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2588895" y="11881485"/>
            <a:ext cx="1800225" cy="1354455"/>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ResNet-50</a:t>
            </a:r>
          </a:p>
          <a:p>
            <a:pPr algn="ctr">
              <a:spcBef>
                <a:spcPts val="0"/>
              </a:spcBef>
              <a:spcAft>
                <a:spcPts val="0"/>
              </a:spcAft>
              <a:defRPr sz="2112" b="1">
                <a:solidFill>
                  <a:srgbClr val="162D43"/>
                </a:solidFill>
                <a:latin typeface="Arial"/>
              </a:defRPr>
            </a:pPr>
            <a:r>
              <a:t>layer3</a:t>
            </a:r>
          </a:p>
        </p:txBody>
      </p:sp>
      <p:grpSp>
        <p:nvGrpSpPr>
          <p:cNvPr id="234" name="Group 233"/>
          <p:cNvGrpSpPr/>
          <p:nvPr/>
        </p:nvGrpSpPr>
        <p:grpSpPr>
          <a:xfrm>
            <a:off x="4886325" y="12138660"/>
            <a:ext cx="949832" cy="829818"/>
            <a:chOff x="4886325" y="12138660"/>
            <a:chExt cx="949832" cy="829818"/>
          </a:xfrm>
        </p:grpSpPr>
        <p:sp>
          <p:nvSpPr>
            <p:cNvPr id="235" name="Rectangle 234"/>
            <p:cNvSpPr/>
            <p:nvPr/>
          </p:nvSpPr>
          <p:spPr>
            <a:xfrm>
              <a:off x="4886325" y="12138660"/>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5078349" y="12138660"/>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5270372" y="12138660"/>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5462397" y="12138660"/>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5654421" y="12138660"/>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4886325" y="12306680"/>
              <a:ext cx="181736" cy="15773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5078349" y="12306680"/>
              <a:ext cx="181736" cy="15773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5270372" y="12306680"/>
              <a:ext cx="181736" cy="15773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5462397" y="12306680"/>
              <a:ext cx="181736" cy="15773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5654421" y="12306680"/>
              <a:ext cx="181736" cy="15773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4886325" y="12474702"/>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5078349" y="12474702"/>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5270372" y="12474702"/>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5462397" y="12474702"/>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5654421" y="12474702"/>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4886325" y="12642723"/>
              <a:ext cx="181736" cy="15773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5078349" y="12642723"/>
              <a:ext cx="181736" cy="15773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5270372" y="12642723"/>
              <a:ext cx="181736" cy="15773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5462397" y="12642723"/>
              <a:ext cx="181736" cy="157734"/>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5654421" y="12642723"/>
              <a:ext cx="181736" cy="157734"/>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4886325" y="12810744"/>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5078349" y="12810744"/>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5270372" y="12810744"/>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5462397" y="12810744"/>
              <a:ext cx="181736" cy="157734"/>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5654421" y="12810744"/>
              <a:ext cx="181736" cy="157734"/>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60" name="TextBox 259"/>
          <p:cNvSpPr txBox="1"/>
          <p:nvPr/>
        </p:nvSpPr>
        <p:spPr>
          <a:xfrm>
            <a:off x="4440555" y="13253084"/>
            <a:ext cx="2143125" cy="394334"/>
          </a:xfrm>
          <a:prstGeom prst="rect">
            <a:avLst/>
          </a:prstGeom>
          <a:noFill/>
        </p:spPr>
        <p:txBody>
          <a:bodyPr wrap="square" lIns="34290" rIns="34290" tIns="0" bIns="0" anchor="ctr">
            <a:spAutoFit/>
          </a:bodyPr>
          <a:lstStyle/>
          <a:p>
            <a:pPr algn="ctr">
              <a:spcBef>
                <a:spcPts val="0"/>
              </a:spcBef>
              <a:spcAft>
                <a:spcPts val="0"/>
              </a:spcAft>
              <a:defRPr sz="1452" b="0">
                <a:solidFill>
                  <a:srgbClr val="162D43"/>
                </a:solidFill>
                <a:latin typeface="Arial"/>
              </a:defRPr>
            </a:pPr>
            <a:r>
              <a:t>14 × 14 × 1024</a:t>
            </a:r>
          </a:p>
        </p:txBody>
      </p:sp>
      <p:cxnSp>
        <p:nvCxnSpPr>
          <p:cNvPr id="261" name="E034.1"/>
          <p:cNvCxnSpPr/>
          <p:nvPr/>
        </p:nvCxnSpPr>
        <p:spPr>
          <a:xfrm>
            <a:off x="2040254" y="10475594"/>
            <a:ext cx="240031"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62" name="E034.2"/>
          <p:cNvCxnSpPr/>
          <p:nvPr/>
        </p:nvCxnSpPr>
        <p:spPr>
          <a:xfrm flipV="1">
            <a:off x="2280285" y="9292590"/>
            <a:ext cx="0" cy="1183004"/>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63" name="E034.3"/>
          <p:cNvCxnSpPr/>
          <p:nvPr/>
        </p:nvCxnSpPr>
        <p:spPr>
          <a:xfrm>
            <a:off x="2280285" y="9292590"/>
            <a:ext cx="25717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64" name="E035.1"/>
          <p:cNvCxnSpPr/>
          <p:nvPr/>
        </p:nvCxnSpPr>
        <p:spPr>
          <a:xfrm>
            <a:off x="2280285" y="10475594"/>
            <a:ext cx="0" cy="2074546"/>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265" name="E035.2"/>
          <p:cNvCxnSpPr/>
          <p:nvPr/>
        </p:nvCxnSpPr>
        <p:spPr>
          <a:xfrm>
            <a:off x="2280285" y="12550140"/>
            <a:ext cx="25717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266" name="Rounded Rectangle 265"/>
          <p:cNvSpPr/>
          <p:nvPr/>
        </p:nvSpPr>
        <p:spPr>
          <a:xfrm>
            <a:off x="6257925" y="8932544"/>
            <a:ext cx="1062989" cy="754380"/>
          </a:xfrm>
          <a:prstGeom prst="roundRect">
            <a:avLst>
              <a:gd name="adj" fmla="val 8000"/>
            </a:avLst>
          </a:prstGeom>
          <a:solidFill>
            <a:srgbClr val="C2DCF9"/>
          </a:solidFill>
          <a:ln w="12700">
            <a:solidFill>
              <a:srgbClr val="4B8F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6309359" y="8966835"/>
            <a:ext cx="960120" cy="685800"/>
          </a:xfrm>
          <a:prstGeom prst="rect">
            <a:avLst/>
          </a:prstGeom>
          <a:noFill/>
        </p:spPr>
        <p:txBody>
          <a:bodyPr wrap="square" lIns="34290" rIns="34290" tIns="0" bIns="0" anchor="ctr">
            <a:spAutoFit/>
          </a:bodyPr>
          <a:lstStyle/>
          <a:p>
            <a:pPr algn="ctr">
              <a:spcBef>
                <a:spcPts val="0"/>
              </a:spcBef>
              <a:spcAft>
                <a:spcPts val="0"/>
              </a:spcAft>
              <a:defRPr sz="1452" b="0">
                <a:solidFill>
                  <a:srgbClr val="162D43"/>
                </a:solidFill>
                <a:latin typeface="Arial"/>
              </a:defRPr>
            </a:pPr>
            <a:r>
              <a:t>768→256</a:t>
            </a:r>
          </a:p>
        </p:txBody>
      </p:sp>
      <p:cxnSp>
        <p:nvCxnSpPr>
          <p:cNvPr id="268" name="E036.1"/>
          <p:cNvCxnSpPr/>
          <p:nvPr/>
        </p:nvCxnSpPr>
        <p:spPr>
          <a:xfrm>
            <a:off x="5743575" y="9292590"/>
            <a:ext cx="51435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269" name="Rounded Rectangle 268"/>
          <p:cNvSpPr/>
          <p:nvPr/>
        </p:nvSpPr>
        <p:spPr>
          <a:xfrm>
            <a:off x="6257925" y="12172950"/>
            <a:ext cx="1062989" cy="754380"/>
          </a:xfrm>
          <a:prstGeom prst="roundRect">
            <a:avLst>
              <a:gd name="adj" fmla="val 8000"/>
            </a:avLst>
          </a:prstGeom>
          <a:solidFill>
            <a:srgbClr val="D9F1EE"/>
          </a:solidFill>
          <a:ln w="1270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6309359" y="12207240"/>
            <a:ext cx="960120" cy="685800"/>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1024→256</a:t>
            </a:r>
          </a:p>
        </p:txBody>
      </p:sp>
      <p:cxnSp>
        <p:nvCxnSpPr>
          <p:cNvPr id="271" name="E037.1"/>
          <p:cNvCxnSpPr/>
          <p:nvPr/>
        </p:nvCxnSpPr>
        <p:spPr>
          <a:xfrm>
            <a:off x="5897880" y="12550140"/>
            <a:ext cx="36004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272" name="Rounded Rectangle 271"/>
          <p:cNvSpPr/>
          <p:nvPr/>
        </p:nvSpPr>
        <p:spPr>
          <a:xfrm>
            <a:off x="7783829" y="8503919"/>
            <a:ext cx="3720464" cy="5537834"/>
          </a:xfrm>
          <a:prstGeom prst="roundRect">
            <a:avLst>
              <a:gd name="adj" fmla="val 8000"/>
            </a:avLst>
          </a:prstGeom>
          <a:solidFill>
            <a:srgbClr val="FFFFFF"/>
          </a:solidFill>
          <a:ln w="1397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7955279" y="8555355"/>
            <a:ext cx="3377564" cy="445770"/>
          </a:xfrm>
          <a:prstGeom prst="rect">
            <a:avLst/>
          </a:prstGeom>
          <a:noFill/>
        </p:spPr>
        <p:txBody>
          <a:bodyPr wrap="square" lIns="34290" rIns="34290" tIns="0" bIns="0" anchor="ctr">
            <a:spAutoFit/>
          </a:bodyPr>
          <a:lstStyle/>
          <a:p>
            <a:pPr algn="l">
              <a:spcBef>
                <a:spcPts val="0"/>
              </a:spcBef>
              <a:spcAft>
                <a:spcPts val="0"/>
              </a:spcAft>
              <a:defRPr sz="2508" b="1">
                <a:solidFill>
                  <a:srgbClr val="41566A"/>
                </a:solidFill>
                <a:latin typeface="Georgia"/>
              </a:defRPr>
            </a:pPr>
            <a:r>
              <a:t>Semantic–Structure Fusion</a:t>
            </a:r>
          </a:p>
        </p:txBody>
      </p:sp>
      <p:grpSp>
        <p:nvGrpSpPr>
          <p:cNvPr id="274" name="Group 273"/>
          <p:cNvGrpSpPr/>
          <p:nvPr/>
        </p:nvGrpSpPr>
        <p:grpSpPr>
          <a:xfrm>
            <a:off x="8161019" y="9292590"/>
            <a:ext cx="1354456" cy="462913"/>
            <a:chOff x="8161019" y="9292590"/>
            <a:chExt cx="1354456" cy="462913"/>
          </a:xfrm>
        </p:grpSpPr>
        <p:sp>
          <p:nvSpPr>
            <p:cNvPr id="275" name="Rectangle 274"/>
            <p:cNvSpPr/>
            <p:nvPr/>
          </p:nvSpPr>
          <p:spPr>
            <a:xfrm>
              <a:off x="8315325" y="9292590"/>
              <a:ext cx="1200150" cy="308609"/>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8238172" y="9369742"/>
              <a:ext cx="1200150" cy="308609"/>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8161019" y="9446894"/>
              <a:ext cx="1200150" cy="308609"/>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78" name="TextBox 277"/>
          <p:cNvSpPr txBox="1"/>
          <p:nvPr/>
        </p:nvSpPr>
        <p:spPr>
          <a:xfrm>
            <a:off x="8075294" y="9018269"/>
            <a:ext cx="1954529" cy="394334"/>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Global query Q</a:t>
            </a:r>
          </a:p>
        </p:txBody>
      </p:sp>
      <p:grpSp>
        <p:nvGrpSpPr>
          <p:cNvPr id="279" name="Group 278"/>
          <p:cNvGrpSpPr/>
          <p:nvPr/>
        </p:nvGrpSpPr>
        <p:grpSpPr>
          <a:xfrm>
            <a:off x="8161019" y="11950065"/>
            <a:ext cx="1104139" cy="1018413"/>
            <a:chOff x="8161019" y="11950065"/>
            <a:chExt cx="1104139" cy="1018413"/>
          </a:xfrm>
        </p:grpSpPr>
        <p:sp>
          <p:nvSpPr>
            <p:cNvPr id="280" name="Rectangle 279"/>
            <p:cNvSpPr/>
            <p:nvPr/>
          </p:nvSpPr>
          <p:spPr>
            <a:xfrm>
              <a:off x="8161019" y="1195006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8383904" y="1195006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8606790" y="1195006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8829675" y="1195006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9052560" y="1195006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8161019" y="1215580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8383904" y="1215580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606790" y="1215580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8829675" y="1215580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9052560" y="1215580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8161019" y="12361544"/>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8383904" y="12361544"/>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8606790" y="12361544"/>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8829675" y="12361544"/>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9052560" y="12361544"/>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8161019" y="1256728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383904" y="1256728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8606790" y="1256728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8829675" y="1256728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9052560" y="1256728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8161019" y="1277302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8383904" y="1277302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8606790" y="1277302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8829675" y="1277302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052560" y="1277302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05" name="Group 304"/>
          <p:cNvGrpSpPr/>
          <p:nvPr/>
        </p:nvGrpSpPr>
        <p:grpSpPr>
          <a:xfrm>
            <a:off x="9738360" y="11950065"/>
            <a:ext cx="1104138" cy="1018413"/>
            <a:chOff x="9738360" y="11950065"/>
            <a:chExt cx="1104138" cy="1018413"/>
          </a:xfrm>
        </p:grpSpPr>
        <p:sp>
          <p:nvSpPr>
            <p:cNvPr id="306" name="Rectangle 305"/>
            <p:cNvSpPr/>
            <p:nvPr/>
          </p:nvSpPr>
          <p:spPr>
            <a:xfrm>
              <a:off x="9738360" y="1195006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961244" y="1195006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184130" y="1195006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0407015" y="1195006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0629900" y="1195006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9738360" y="1215580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9961244" y="1215580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0184130" y="1215580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0407015" y="1215580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0629900" y="1215580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9738360" y="12361544"/>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9961244" y="12361544"/>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10184130" y="12361544"/>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0407015" y="12361544"/>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0629900" y="12361544"/>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9738360" y="1256728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9961244" y="1256728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0184130" y="1256728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10407015" y="12567285"/>
              <a:ext cx="212598" cy="195453"/>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10629900" y="12567285"/>
              <a:ext cx="212598" cy="195453"/>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9738360" y="1277302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9961244" y="1277302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10184130" y="1277302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10407015" y="12773025"/>
              <a:ext cx="212598" cy="195453"/>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10629900" y="12773025"/>
              <a:ext cx="212598" cy="195453"/>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31" name="TextBox 330"/>
          <p:cNvSpPr txBox="1"/>
          <p:nvPr/>
        </p:nvSpPr>
        <p:spPr>
          <a:xfrm>
            <a:off x="8126729" y="12961619"/>
            <a:ext cx="2760345" cy="240030"/>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K                         V</a:t>
            </a:r>
          </a:p>
        </p:txBody>
      </p:sp>
      <p:grpSp>
        <p:nvGrpSpPr>
          <p:cNvPr id="332" name="Group 331"/>
          <p:cNvGrpSpPr/>
          <p:nvPr/>
        </p:nvGrpSpPr>
        <p:grpSpPr>
          <a:xfrm>
            <a:off x="9069705" y="10269855"/>
            <a:ext cx="1584197" cy="1172717"/>
            <a:chOff x="9069705" y="10269855"/>
            <a:chExt cx="1584197" cy="1172717"/>
          </a:xfrm>
        </p:grpSpPr>
        <p:sp>
          <p:nvSpPr>
            <p:cNvPr id="333" name="Rectangle 332"/>
            <p:cNvSpPr/>
            <p:nvPr/>
          </p:nvSpPr>
          <p:spPr>
            <a:xfrm>
              <a:off x="9069705" y="10269855"/>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9335452" y="10269855"/>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9601200" y="10269855"/>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9866947" y="10269855"/>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0132694" y="10269855"/>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0398442" y="10269855"/>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9069705" y="10467022"/>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9335452" y="10467022"/>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9601200" y="10467022"/>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9866947" y="10467022"/>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0132694" y="10467022"/>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0398442" y="10467022"/>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9069705" y="10664190"/>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9335452" y="10664190"/>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9601200" y="10664190"/>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9866947" y="10664190"/>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0132694" y="10664190"/>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0398442" y="10664190"/>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9069705" y="10861357"/>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9335452" y="10861357"/>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9601200" y="10861357"/>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9866947" y="10861357"/>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0132694" y="10861357"/>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0398442" y="10861357"/>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9069705" y="11058525"/>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9335452" y="11058525"/>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9601200" y="11058525"/>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9866947" y="11058525"/>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0132694" y="11058525"/>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0398442" y="11058525"/>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9069705" y="11255692"/>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9335452" y="11255692"/>
              <a:ext cx="255460" cy="186880"/>
            </a:xfrm>
            <a:prstGeom prst="rect">
              <a:avLst/>
            </a:prstGeom>
            <a:solidFill>
              <a:srgbClr val="8EAD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9601200" y="11255692"/>
              <a:ext cx="255460" cy="186880"/>
            </a:xfrm>
            <a:prstGeom prst="rect">
              <a:avLst/>
            </a:prstGeom>
            <a:solidFill>
              <a:srgbClr val="E7CA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9866947" y="11255692"/>
              <a:ext cx="255460" cy="186880"/>
            </a:xfrm>
            <a:prstGeom prst="rect">
              <a:avLst/>
            </a:prstGeom>
            <a:solidFill>
              <a:srgbClr val="AAC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10132694" y="11255692"/>
              <a:ext cx="255460" cy="186880"/>
            </a:xfrm>
            <a:prstGeom prst="rect">
              <a:avLst/>
            </a:prstGeom>
            <a:solidFill>
              <a:srgbClr val="DDD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10398442" y="11255692"/>
              <a:ext cx="255460" cy="186880"/>
            </a:xfrm>
            <a:prstGeom prst="rect">
              <a:avLst/>
            </a:prstGeom>
            <a:solidFill>
              <a:srgbClr val="E5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369" name="E038.1"/>
          <p:cNvCxnSpPr/>
          <p:nvPr/>
        </p:nvCxnSpPr>
        <p:spPr>
          <a:xfrm>
            <a:off x="9361169" y="9601200"/>
            <a:ext cx="17145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70" name="E038.2"/>
          <p:cNvCxnSpPr/>
          <p:nvPr/>
        </p:nvCxnSpPr>
        <p:spPr>
          <a:xfrm>
            <a:off x="9532619" y="9601200"/>
            <a:ext cx="0" cy="58293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1" name="E039.1"/>
          <p:cNvCxnSpPr/>
          <p:nvPr/>
        </p:nvCxnSpPr>
        <p:spPr>
          <a:xfrm flipV="1">
            <a:off x="8675369" y="10904219"/>
            <a:ext cx="0" cy="1045846"/>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72" name="E039.2"/>
          <p:cNvCxnSpPr/>
          <p:nvPr/>
        </p:nvCxnSpPr>
        <p:spPr>
          <a:xfrm>
            <a:off x="8675369" y="10904219"/>
            <a:ext cx="32575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3" name="E040.1"/>
          <p:cNvCxnSpPr/>
          <p:nvPr/>
        </p:nvCxnSpPr>
        <p:spPr>
          <a:xfrm flipV="1">
            <a:off x="10287000" y="11538585"/>
            <a:ext cx="0" cy="41148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4" name="E041.1"/>
          <p:cNvCxnSpPr/>
          <p:nvPr/>
        </p:nvCxnSpPr>
        <p:spPr>
          <a:xfrm>
            <a:off x="7320915" y="9309735"/>
            <a:ext cx="34290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75" name="E041.2"/>
          <p:cNvCxnSpPr/>
          <p:nvPr/>
        </p:nvCxnSpPr>
        <p:spPr>
          <a:xfrm>
            <a:off x="7663815" y="9309735"/>
            <a:ext cx="0" cy="29146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76" name="E041.3"/>
          <p:cNvCxnSpPr/>
          <p:nvPr/>
        </p:nvCxnSpPr>
        <p:spPr>
          <a:xfrm>
            <a:off x="7663815" y="9601200"/>
            <a:ext cx="42862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377" name="Rounded Rectangle 376"/>
          <p:cNvSpPr/>
          <p:nvPr/>
        </p:nvSpPr>
        <p:spPr>
          <a:xfrm>
            <a:off x="8126729" y="11504294"/>
            <a:ext cx="2726054" cy="377190"/>
          </a:xfrm>
          <a:prstGeom prst="roundRect">
            <a:avLst>
              <a:gd name="adj" fmla="val 8000"/>
            </a:avLst>
          </a:prstGeom>
          <a:solidFill>
            <a:srgbClr val="D9F1EE"/>
          </a:solidFill>
          <a:ln w="1270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TextBox 377"/>
          <p:cNvSpPr txBox="1"/>
          <p:nvPr/>
        </p:nvSpPr>
        <p:spPr>
          <a:xfrm>
            <a:off x="8178165" y="11538585"/>
            <a:ext cx="2623185" cy="308609"/>
          </a:xfrm>
          <a:prstGeom prst="rect">
            <a:avLst/>
          </a:prstGeom>
          <a:noFill/>
        </p:spPr>
        <p:txBody>
          <a:bodyPr wrap="square" lIns="34290" rIns="34290" tIns="0" bIns="0" anchor="ctr">
            <a:spAutoFit/>
          </a:bodyPr>
          <a:lstStyle/>
          <a:p>
            <a:pPr algn="ctr">
              <a:spcBef>
                <a:spcPts val="0"/>
              </a:spcBef>
              <a:spcAft>
                <a:spcPts val="0"/>
              </a:spcAft>
              <a:defRPr sz="1188" b="0">
                <a:solidFill>
                  <a:srgbClr val="162D43"/>
                </a:solidFill>
                <a:latin typeface="Arial"/>
              </a:defRPr>
            </a:pPr>
            <a:r>
              <a:t>Fusion.local_proj: 1×1</a:t>
            </a:r>
          </a:p>
        </p:txBody>
      </p:sp>
      <p:cxnSp>
        <p:nvCxnSpPr>
          <p:cNvPr id="379" name="E042.1"/>
          <p:cNvCxnSpPr/>
          <p:nvPr/>
        </p:nvCxnSpPr>
        <p:spPr>
          <a:xfrm>
            <a:off x="7320915" y="12550140"/>
            <a:ext cx="377189"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80" name="E042.2"/>
          <p:cNvCxnSpPr/>
          <p:nvPr/>
        </p:nvCxnSpPr>
        <p:spPr>
          <a:xfrm flipV="1">
            <a:off x="7698104" y="11692890"/>
            <a:ext cx="0" cy="85725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81" name="E042.3"/>
          <p:cNvCxnSpPr/>
          <p:nvPr/>
        </p:nvCxnSpPr>
        <p:spPr>
          <a:xfrm>
            <a:off x="7698104" y="11692890"/>
            <a:ext cx="42862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2" name="E043.1"/>
          <p:cNvCxnSpPr/>
          <p:nvPr/>
        </p:nvCxnSpPr>
        <p:spPr>
          <a:xfrm>
            <a:off x="8846819" y="11881485"/>
            <a:ext cx="0" cy="6858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83" name="E044.1"/>
          <p:cNvCxnSpPr/>
          <p:nvPr/>
        </p:nvCxnSpPr>
        <p:spPr>
          <a:xfrm>
            <a:off x="10166985" y="11881485"/>
            <a:ext cx="0" cy="6858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384" name="TextBox 383"/>
          <p:cNvSpPr txBox="1"/>
          <p:nvPr/>
        </p:nvSpPr>
        <p:spPr>
          <a:xfrm>
            <a:off x="8041004" y="13270230"/>
            <a:ext cx="3257550" cy="257175"/>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Residual + LayerNorm + FFN</a:t>
            </a:r>
          </a:p>
        </p:txBody>
      </p:sp>
      <p:sp>
        <p:nvSpPr>
          <p:cNvPr id="385" name="TextBox 384"/>
          <p:cNvSpPr txBox="1"/>
          <p:nvPr/>
        </p:nvSpPr>
        <p:spPr>
          <a:xfrm>
            <a:off x="8126729" y="13630275"/>
            <a:ext cx="3034665" cy="308609"/>
          </a:xfrm>
          <a:prstGeom prst="rect">
            <a:avLst/>
          </a:prstGeom>
          <a:noFill/>
        </p:spPr>
        <p:txBody>
          <a:bodyPr wrap="square" lIns="34290" rIns="34290" tIns="0" bIns="0" anchor="ctr">
            <a:spAutoFit/>
          </a:bodyPr>
          <a:lstStyle/>
          <a:p>
            <a:pPr algn="ctr">
              <a:spcBef>
                <a:spcPts val="0"/>
              </a:spcBef>
              <a:spcAft>
                <a:spcPts val="0"/>
              </a:spcAft>
              <a:defRPr sz="1320" b="1">
                <a:solidFill>
                  <a:srgbClr val="162D43"/>
                </a:solidFill>
                <a:latin typeface="Arial"/>
              </a:defRPr>
            </a:pPr>
            <a:r>
              <a:t>z: 256-D · shared by Q / A</a:t>
            </a:r>
          </a:p>
        </p:txBody>
      </p:sp>
      <p:sp>
        <p:nvSpPr>
          <p:cNvPr id="386" name="Rounded Rectangle 385"/>
          <p:cNvSpPr/>
          <p:nvPr/>
        </p:nvSpPr>
        <p:spPr>
          <a:xfrm>
            <a:off x="4817745" y="14281784"/>
            <a:ext cx="2554604" cy="857250"/>
          </a:xfrm>
          <a:prstGeom prst="roundRect">
            <a:avLst>
              <a:gd name="adj" fmla="val 8000"/>
            </a:avLst>
          </a:prstGeom>
          <a:solidFill>
            <a:srgbClr val="D9F1EE"/>
          </a:solidFill>
          <a:ln w="1270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TextBox 386"/>
          <p:cNvSpPr txBox="1"/>
          <p:nvPr/>
        </p:nvSpPr>
        <p:spPr>
          <a:xfrm>
            <a:off x="4869180" y="14316075"/>
            <a:ext cx="2451735" cy="788669"/>
          </a:xfrm>
          <a:prstGeom prst="rect">
            <a:avLst/>
          </a:prstGeom>
          <a:noFill/>
        </p:spPr>
        <p:txBody>
          <a:bodyPr wrap="square" lIns="34290" rIns="34290" tIns="0" bIns="0" anchor="ctr">
            <a:spAutoFit/>
          </a:bodyPr>
          <a:lstStyle/>
          <a:p>
            <a:pPr algn="ctr">
              <a:spcBef>
                <a:spcPts val="0"/>
              </a:spcBef>
              <a:spcAft>
                <a:spcPts val="0"/>
              </a:spcAft>
              <a:defRPr sz="1452" b="0">
                <a:solidFill>
                  <a:srgbClr val="162D43"/>
                </a:solidFill>
                <a:latin typeface="Arial"/>
              </a:defRPr>
            </a:pPr>
            <a:r>
              <a:t>Shared local projection L</a:t>
            </a:r>
          </a:p>
          <a:p>
            <a:pPr algn="ctr">
              <a:spcBef>
                <a:spcPts val="0"/>
              </a:spcBef>
              <a:spcAft>
                <a:spcPts val="0"/>
              </a:spcAft>
              <a:defRPr sz="1452" b="0">
                <a:solidFill>
                  <a:srgbClr val="162D43"/>
                </a:solidFill>
                <a:latin typeface="Arial"/>
              </a:defRPr>
            </a:pPr>
            <a:r>
              <a:t>P₀: 196 × 256</a:t>
            </a:r>
          </a:p>
        </p:txBody>
      </p:sp>
      <p:cxnSp>
        <p:nvCxnSpPr>
          <p:cNvPr id="388" name="E045.1"/>
          <p:cNvCxnSpPr/>
          <p:nvPr/>
        </p:nvCxnSpPr>
        <p:spPr>
          <a:xfrm>
            <a:off x="6789420" y="12927330"/>
            <a:ext cx="0" cy="104584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89" name="E045.2"/>
          <p:cNvCxnSpPr/>
          <p:nvPr/>
        </p:nvCxnSpPr>
        <p:spPr>
          <a:xfrm flipH="1">
            <a:off x="6103620" y="13973175"/>
            <a:ext cx="68580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390" name="E045.3"/>
          <p:cNvCxnSpPr/>
          <p:nvPr/>
        </p:nvCxnSpPr>
        <p:spPr>
          <a:xfrm>
            <a:off x="6103620" y="13973175"/>
            <a:ext cx="0" cy="308609"/>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391" name="Rounded Rectangle 390"/>
          <p:cNvSpPr/>
          <p:nvPr/>
        </p:nvSpPr>
        <p:spPr>
          <a:xfrm>
            <a:off x="11984355" y="8452485"/>
            <a:ext cx="15036164" cy="4817745"/>
          </a:xfrm>
          <a:prstGeom prst="roundRect">
            <a:avLst>
              <a:gd name="adj" fmla="val 8000"/>
            </a:avLst>
          </a:prstGeom>
          <a:solidFill>
            <a:srgbClr val="F1FAF8"/>
          </a:solidFill>
          <a:ln w="1397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TextBox 391"/>
          <p:cNvSpPr txBox="1"/>
          <p:nvPr/>
        </p:nvSpPr>
        <p:spPr>
          <a:xfrm>
            <a:off x="12155805" y="8503919"/>
            <a:ext cx="14693264" cy="445770"/>
          </a:xfrm>
          <a:prstGeom prst="rect">
            <a:avLst/>
          </a:prstGeom>
          <a:noFill/>
        </p:spPr>
        <p:txBody>
          <a:bodyPr wrap="square" lIns="34290" rIns="34290" tIns="0" bIns="0" anchor="ctr">
            <a:spAutoFit/>
          </a:bodyPr>
          <a:lstStyle/>
          <a:p>
            <a:pPr algn="l">
              <a:spcBef>
                <a:spcPts val="0"/>
              </a:spcBef>
              <a:spcAft>
                <a:spcPts val="0"/>
              </a:spcAft>
              <a:defRPr sz="2508" b="1">
                <a:solidFill>
                  <a:srgbClr val="2DADAE"/>
                </a:solidFill>
                <a:latin typeface="Georgia"/>
              </a:defRPr>
            </a:pPr>
            <a:r>
              <a:t>Quality branch (Q)</a:t>
            </a:r>
          </a:p>
        </p:txBody>
      </p:sp>
      <p:grpSp>
        <p:nvGrpSpPr>
          <p:cNvPr id="393" name="Group 392"/>
          <p:cNvGrpSpPr/>
          <p:nvPr/>
        </p:nvGrpSpPr>
        <p:grpSpPr>
          <a:xfrm>
            <a:off x="12258675" y="9326880"/>
            <a:ext cx="428625" cy="754380"/>
            <a:chOff x="12258675" y="9326880"/>
            <a:chExt cx="428625" cy="754380"/>
          </a:xfrm>
        </p:grpSpPr>
        <p:sp>
          <p:nvSpPr>
            <p:cNvPr id="394" name="Rectangle 393"/>
            <p:cNvSpPr/>
            <p:nvPr/>
          </p:nvSpPr>
          <p:spPr>
            <a:xfrm>
              <a:off x="12412980" y="9326880"/>
              <a:ext cx="274320" cy="6000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Rectangle 394"/>
            <p:cNvSpPr/>
            <p:nvPr/>
          </p:nvSpPr>
          <p:spPr>
            <a:xfrm>
              <a:off x="12335827" y="9404032"/>
              <a:ext cx="274320" cy="6000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Rectangle 395"/>
            <p:cNvSpPr/>
            <p:nvPr/>
          </p:nvSpPr>
          <p:spPr>
            <a:xfrm>
              <a:off x="12258675" y="9481185"/>
              <a:ext cx="274320" cy="60007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397" name="TextBox 396"/>
          <p:cNvSpPr txBox="1"/>
          <p:nvPr/>
        </p:nvSpPr>
        <p:spPr>
          <a:xfrm>
            <a:off x="12087225" y="9001125"/>
            <a:ext cx="617219"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z</a:t>
            </a:r>
          </a:p>
        </p:txBody>
      </p:sp>
      <p:sp>
        <p:nvSpPr>
          <p:cNvPr id="398" name="Rounded Rectangle 397"/>
          <p:cNvSpPr/>
          <p:nvPr/>
        </p:nvSpPr>
        <p:spPr>
          <a:xfrm>
            <a:off x="12995910" y="9138285"/>
            <a:ext cx="3154679" cy="1200150"/>
          </a:xfrm>
          <a:prstGeom prst="roundRect">
            <a:avLst>
              <a:gd name="adj" fmla="val 8000"/>
            </a:avLst>
          </a:prstGeom>
          <a:solidFill>
            <a:srgbClr val="FFFFFF"/>
          </a:solidFill>
          <a:ln w="1397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TextBox 398"/>
          <p:cNvSpPr txBox="1"/>
          <p:nvPr/>
        </p:nvSpPr>
        <p:spPr>
          <a:xfrm>
            <a:off x="13167359" y="9189719"/>
            <a:ext cx="2811779" cy="445770"/>
          </a:xfrm>
          <a:prstGeom prst="rect">
            <a:avLst/>
          </a:prstGeom>
          <a:noFill/>
        </p:spPr>
        <p:txBody>
          <a:bodyPr wrap="square" lIns="34290" rIns="34290" tIns="0" bIns="0" anchor="ctr">
            <a:spAutoFit/>
          </a:bodyPr>
          <a:lstStyle/>
          <a:p>
            <a:pPr algn="l">
              <a:spcBef>
                <a:spcPts val="0"/>
              </a:spcBef>
              <a:spcAft>
                <a:spcPts val="0"/>
              </a:spcAft>
              <a:defRPr sz="2508" b="1">
                <a:solidFill>
                  <a:srgbClr val="2DADAE"/>
                </a:solidFill>
                <a:latin typeface="Georgia"/>
              </a:defRPr>
            </a:pPr>
            <a:r>
              <a:t>Quality Adapter</a:t>
            </a:r>
          </a:p>
        </p:txBody>
      </p:sp>
      <p:sp>
        <p:nvSpPr>
          <p:cNvPr id="400" name="Trapezoid 399"/>
          <p:cNvSpPr/>
          <p:nvPr/>
        </p:nvSpPr>
        <p:spPr>
          <a:xfrm>
            <a:off x="13287375" y="9704069"/>
            <a:ext cx="582930" cy="411479"/>
          </a:xfrm>
          <a:prstGeom prst="trapezoid">
            <a:avLst/>
          </a:prstGeom>
          <a:solidFill>
            <a:srgbClr val="D9F1EE"/>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TextBox 400"/>
          <p:cNvSpPr txBox="1"/>
          <p:nvPr/>
        </p:nvSpPr>
        <p:spPr>
          <a:xfrm>
            <a:off x="13235940" y="9738360"/>
            <a:ext cx="685800" cy="34290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FC</a:t>
            </a:r>
          </a:p>
        </p:txBody>
      </p:sp>
      <p:sp>
        <p:nvSpPr>
          <p:cNvPr id="402" name="Trapezoid 401"/>
          <p:cNvSpPr/>
          <p:nvPr/>
        </p:nvSpPr>
        <p:spPr>
          <a:xfrm>
            <a:off x="14230350" y="9704069"/>
            <a:ext cx="582930" cy="411479"/>
          </a:xfrm>
          <a:prstGeom prst="trapezoid">
            <a:avLst/>
          </a:prstGeom>
          <a:solidFill>
            <a:srgbClr val="D9F1EE"/>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TextBox 402"/>
          <p:cNvSpPr txBox="1"/>
          <p:nvPr/>
        </p:nvSpPr>
        <p:spPr>
          <a:xfrm>
            <a:off x="14178915" y="9738360"/>
            <a:ext cx="685800" cy="34290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FC</a:t>
            </a:r>
          </a:p>
        </p:txBody>
      </p:sp>
      <p:sp>
        <p:nvSpPr>
          <p:cNvPr id="404" name="Trapezoid 403"/>
          <p:cNvSpPr/>
          <p:nvPr/>
        </p:nvSpPr>
        <p:spPr>
          <a:xfrm>
            <a:off x="15173325" y="9704069"/>
            <a:ext cx="582930" cy="411479"/>
          </a:xfrm>
          <a:prstGeom prst="trapezoid">
            <a:avLst/>
          </a:prstGeom>
          <a:solidFill>
            <a:srgbClr val="D9F1EE"/>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TextBox 404"/>
          <p:cNvSpPr txBox="1"/>
          <p:nvPr/>
        </p:nvSpPr>
        <p:spPr>
          <a:xfrm>
            <a:off x="15121889" y="9738360"/>
            <a:ext cx="685800" cy="34290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FC</a:t>
            </a:r>
          </a:p>
        </p:txBody>
      </p:sp>
      <p:cxnSp>
        <p:nvCxnSpPr>
          <p:cNvPr id="406" name="E046.1"/>
          <p:cNvCxnSpPr/>
          <p:nvPr/>
        </p:nvCxnSpPr>
        <p:spPr>
          <a:xfrm>
            <a:off x="12601575" y="9789794"/>
            <a:ext cx="39433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07" name="E047.1"/>
          <p:cNvCxnSpPr/>
          <p:nvPr/>
        </p:nvCxnSpPr>
        <p:spPr>
          <a:xfrm>
            <a:off x="13853159" y="9909810"/>
            <a:ext cx="34290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08" name="E048.1"/>
          <p:cNvCxnSpPr/>
          <p:nvPr/>
        </p:nvCxnSpPr>
        <p:spPr>
          <a:xfrm>
            <a:off x="14813280" y="9909810"/>
            <a:ext cx="34290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409" name="Group 408"/>
          <p:cNvGrpSpPr/>
          <p:nvPr/>
        </p:nvGrpSpPr>
        <p:grpSpPr>
          <a:xfrm>
            <a:off x="16373475" y="9446894"/>
            <a:ext cx="565784" cy="411481"/>
            <a:chOff x="16373475" y="9446894"/>
            <a:chExt cx="565784" cy="411481"/>
          </a:xfrm>
        </p:grpSpPr>
        <p:sp>
          <p:nvSpPr>
            <p:cNvPr id="410" name="Rectangle 409"/>
            <p:cNvSpPr/>
            <p:nvPr/>
          </p:nvSpPr>
          <p:spPr>
            <a:xfrm>
              <a:off x="16527780" y="9446894"/>
              <a:ext cx="411479" cy="257175"/>
            </a:xfrm>
            <a:prstGeom prst="rect">
              <a:avLst/>
            </a:prstGeom>
            <a:solidFill>
              <a:srgbClr val="D9F1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Rectangle 410"/>
            <p:cNvSpPr/>
            <p:nvPr/>
          </p:nvSpPr>
          <p:spPr>
            <a:xfrm>
              <a:off x="16450627" y="9524047"/>
              <a:ext cx="411479" cy="257175"/>
            </a:xfrm>
            <a:prstGeom prst="rect">
              <a:avLst/>
            </a:prstGeom>
            <a:solidFill>
              <a:srgbClr val="D9F1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Rectangle 411"/>
            <p:cNvSpPr/>
            <p:nvPr/>
          </p:nvSpPr>
          <p:spPr>
            <a:xfrm>
              <a:off x="16373475" y="9601200"/>
              <a:ext cx="411479" cy="257175"/>
            </a:xfrm>
            <a:prstGeom prst="rect">
              <a:avLst/>
            </a:prstGeom>
            <a:solidFill>
              <a:srgbClr val="2DADA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13" name="TextBox 412"/>
          <p:cNvSpPr txBox="1"/>
          <p:nvPr/>
        </p:nvSpPr>
        <p:spPr>
          <a:xfrm>
            <a:off x="16304895" y="9172575"/>
            <a:ext cx="582930" cy="342900"/>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a</a:t>
            </a:r>
          </a:p>
        </p:txBody>
      </p:sp>
      <p:cxnSp>
        <p:nvCxnSpPr>
          <p:cNvPr id="414" name="E049.1"/>
          <p:cNvCxnSpPr/>
          <p:nvPr/>
        </p:nvCxnSpPr>
        <p:spPr>
          <a:xfrm>
            <a:off x="16150589" y="9909810"/>
            <a:ext cx="18859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415" name="Oval 414"/>
          <p:cNvSpPr/>
          <p:nvPr/>
        </p:nvSpPr>
        <p:spPr>
          <a:xfrm>
            <a:off x="17162145" y="9978390"/>
            <a:ext cx="428625" cy="428625"/>
          </a:xfrm>
          <a:prstGeom prst="ellipse">
            <a:avLst/>
          </a:prstGeom>
          <a:solidFill>
            <a:srgbClr val="FFFFFF"/>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TextBox 415"/>
          <p:cNvSpPr txBox="1"/>
          <p:nvPr/>
        </p:nvSpPr>
        <p:spPr>
          <a:xfrm>
            <a:off x="17162145" y="9978390"/>
            <a:ext cx="428625" cy="428625"/>
          </a:xfrm>
          <a:prstGeom prst="rect">
            <a:avLst/>
          </a:prstGeom>
          <a:noFill/>
        </p:spPr>
        <p:txBody>
          <a:bodyPr wrap="square" lIns="34290" rIns="34290" tIns="0" bIns="0" anchor="ctr">
            <a:spAutoFit/>
          </a:bodyPr>
          <a:lstStyle/>
          <a:p>
            <a:pPr algn="ctr">
              <a:spcBef>
                <a:spcPts val="0"/>
              </a:spcBef>
              <a:spcAft>
                <a:spcPts val="0"/>
              </a:spcAft>
              <a:defRPr sz="2244" b="1">
                <a:solidFill>
                  <a:srgbClr val="162D43"/>
                </a:solidFill>
                <a:latin typeface="Arial"/>
              </a:defRPr>
            </a:pPr>
            <a:r>
              <a:t>+</a:t>
            </a:r>
          </a:p>
        </p:txBody>
      </p:sp>
      <p:cxnSp>
        <p:nvCxnSpPr>
          <p:cNvPr id="417" name="E050.1"/>
          <p:cNvCxnSpPr/>
          <p:nvPr/>
        </p:nvCxnSpPr>
        <p:spPr>
          <a:xfrm>
            <a:off x="16784955" y="9738360"/>
            <a:ext cx="58293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18" name="E050.2"/>
          <p:cNvCxnSpPr/>
          <p:nvPr/>
        </p:nvCxnSpPr>
        <p:spPr>
          <a:xfrm>
            <a:off x="17367885" y="9738360"/>
            <a:ext cx="0" cy="24003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419" name="Group 418"/>
          <p:cNvGrpSpPr/>
          <p:nvPr/>
        </p:nvGrpSpPr>
        <p:grpSpPr>
          <a:xfrm>
            <a:off x="13081635" y="10475594"/>
            <a:ext cx="514350" cy="411481"/>
            <a:chOff x="13081635" y="10475594"/>
            <a:chExt cx="514350" cy="411481"/>
          </a:xfrm>
        </p:grpSpPr>
        <p:sp>
          <p:nvSpPr>
            <p:cNvPr id="420" name="Rectangle 419"/>
            <p:cNvSpPr/>
            <p:nvPr/>
          </p:nvSpPr>
          <p:spPr>
            <a:xfrm>
              <a:off x="13235940" y="10475594"/>
              <a:ext cx="360045"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Rectangle 420"/>
            <p:cNvSpPr/>
            <p:nvPr/>
          </p:nvSpPr>
          <p:spPr>
            <a:xfrm>
              <a:off x="13158787" y="10552747"/>
              <a:ext cx="360045" cy="25717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Rectangle 421"/>
            <p:cNvSpPr/>
            <p:nvPr/>
          </p:nvSpPr>
          <p:spPr>
            <a:xfrm>
              <a:off x="13081635" y="10629900"/>
              <a:ext cx="360045" cy="25717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23" name="TextBox 422"/>
          <p:cNvSpPr txBox="1"/>
          <p:nvPr/>
        </p:nvSpPr>
        <p:spPr>
          <a:xfrm>
            <a:off x="12755880" y="10938510"/>
            <a:ext cx="1165860" cy="377190"/>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z bypass</a:t>
            </a:r>
          </a:p>
        </p:txBody>
      </p:sp>
      <p:cxnSp>
        <p:nvCxnSpPr>
          <p:cNvPr id="424" name="E051.1"/>
          <p:cNvCxnSpPr/>
          <p:nvPr/>
        </p:nvCxnSpPr>
        <p:spPr>
          <a:xfrm>
            <a:off x="13441680" y="10749915"/>
            <a:ext cx="342900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25" name="E051.2"/>
          <p:cNvCxnSpPr/>
          <p:nvPr/>
        </p:nvCxnSpPr>
        <p:spPr>
          <a:xfrm flipV="1">
            <a:off x="16870680" y="10201275"/>
            <a:ext cx="0" cy="54864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26" name="E051.3"/>
          <p:cNvCxnSpPr/>
          <p:nvPr/>
        </p:nvCxnSpPr>
        <p:spPr>
          <a:xfrm>
            <a:off x="16870680" y="10201275"/>
            <a:ext cx="29146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427" name="Rounded Rectangle 426"/>
          <p:cNvSpPr/>
          <p:nvPr/>
        </p:nvSpPr>
        <p:spPr>
          <a:xfrm>
            <a:off x="18087975" y="9395460"/>
            <a:ext cx="2194560" cy="822959"/>
          </a:xfrm>
          <a:prstGeom prst="roundRect">
            <a:avLst>
              <a:gd name="adj" fmla="val 8000"/>
            </a:avLst>
          </a:prstGeom>
          <a:solidFill>
            <a:srgbClr val="F3F6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TextBox 427"/>
          <p:cNvSpPr txBox="1"/>
          <p:nvPr/>
        </p:nvSpPr>
        <p:spPr>
          <a:xfrm>
            <a:off x="18139410" y="9429750"/>
            <a:ext cx="2091690" cy="754380"/>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Global head</a:t>
            </a:r>
          </a:p>
        </p:txBody>
      </p:sp>
      <p:cxnSp>
        <p:nvCxnSpPr>
          <p:cNvPr id="429" name="E052.1"/>
          <p:cNvCxnSpPr/>
          <p:nvPr/>
        </p:nvCxnSpPr>
        <p:spPr>
          <a:xfrm>
            <a:off x="17590770" y="10201275"/>
            <a:ext cx="274319"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30" name="E052.2"/>
          <p:cNvCxnSpPr/>
          <p:nvPr/>
        </p:nvCxnSpPr>
        <p:spPr>
          <a:xfrm flipV="1">
            <a:off x="17865089" y="9806940"/>
            <a:ext cx="0" cy="39433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31" name="E052.3"/>
          <p:cNvCxnSpPr/>
          <p:nvPr/>
        </p:nvCxnSpPr>
        <p:spPr>
          <a:xfrm>
            <a:off x="17865089" y="9806940"/>
            <a:ext cx="22288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432" name="Group 431"/>
          <p:cNvGrpSpPr/>
          <p:nvPr/>
        </p:nvGrpSpPr>
        <p:grpSpPr>
          <a:xfrm>
            <a:off x="20642580" y="9446894"/>
            <a:ext cx="428625" cy="651510"/>
            <a:chOff x="20642580" y="9446894"/>
            <a:chExt cx="428625" cy="651510"/>
          </a:xfrm>
        </p:grpSpPr>
        <p:sp>
          <p:nvSpPr>
            <p:cNvPr id="433" name="Rectangle 432"/>
            <p:cNvSpPr/>
            <p:nvPr/>
          </p:nvSpPr>
          <p:spPr>
            <a:xfrm>
              <a:off x="20796885" y="9446894"/>
              <a:ext cx="274320" cy="497204"/>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Rectangle 433"/>
            <p:cNvSpPr/>
            <p:nvPr/>
          </p:nvSpPr>
          <p:spPr>
            <a:xfrm>
              <a:off x="20719732" y="9524047"/>
              <a:ext cx="274320" cy="497204"/>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Rectangle 434"/>
            <p:cNvSpPr/>
            <p:nvPr/>
          </p:nvSpPr>
          <p:spPr>
            <a:xfrm>
              <a:off x="20642580" y="9601200"/>
              <a:ext cx="274320" cy="497204"/>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36" name="TextBox 435"/>
          <p:cNvSpPr txBox="1"/>
          <p:nvPr/>
        </p:nvSpPr>
        <p:spPr>
          <a:xfrm>
            <a:off x="20368260" y="9103994"/>
            <a:ext cx="977264" cy="411479"/>
          </a:xfrm>
          <a:prstGeom prst="rect">
            <a:avLst/>
          </a:prstGeom>
          <a:noFill/>
        </p:spPr>
        <p:txBody>
          <a:bodyPr wrap="square" lIns="34290" rIns="34290" tIns="0" bIns="0" anchor="ctr">
            <a:spAutoFit/>
          </a:bodyPr>
          <a:lstStyle/>
          <a:p>
            <a:pPr algn="ctr">
              <a:spcBef>
                <a:spcPts val="0"/>
              </a:spcBef>
              <a:spcAft>
                <a:spcPts val="0"/>
              </a:spcAft>
              <a:defRPr sz="1848" b="1">
                <a:solidFill>
                  <a:srgbClr val="162D43"/>
                </a:solidFill>
                <a:latin typeface="Arial"/>
              </a:defRPr>
            </a:pPr>
            <a:r>
              <a:t>Q_g</a:t>
            </a:r>
          </a:p>
        </p:txBody>
      </p:sp>
      <p:cxnSp>
        <p:nvCxnSpPr>
          <p:cNvPr id="437" name="E053.1"/>
          <p:cNvCxnSpPr/>
          <p:nvPr/>
        </p:nvCxnSpPr>
        <p:spPr>
          <a:xfrm>
            <a:off x="20282535" y="9806940"/>
            <a:ext cx="34290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438" name="TextBox 437"/>
          <p:cNvSpPr txBox="1"/>
          <p:nvPr/>
        </p:nvSpPr>
        <p:spPr>
          <a:xfrm>
            <a:off x="13681709" y="11298555"/>
            <a:ext cx="7303770" cy="497204"/>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Cambria"/>
              </a:defRPr>
            </a:pPr>
            <a:r>
              <a:t>r = z + α · sg(‖z‖) · normalize(a)</a:t>
            </a:r>
          </a:p>
        </p:txBody>
      </p:sp>
      <p:grpSp>
        <p:nvGrpSpPr>
          <p:cNvPr id="439" name="Group 438"/>
          <p:cNvGrpSpPr/>
          <p:nvPr/>
        </p:nvGrpSpPr>
        <p:grpSpPr>
          <a:xfrm>
            <a:off x="12344400" y="11915775"/>
            <a:ext cx="634365" cy="617220"/>
            <a:chOff x="12344400" y="11915775"/>
            <a:chExt cx="634365" cy="617220"/>
          </a:xfrm>
        </p:grpSpPr>
        <p:sp>
          <p:nvSpPr>
            <p:cNvPr id="440" name="Rectangle 439"/>
            <p:cNvSpPr/>
            <p:nvPr/>
          </p:nvSpPr>
          <p:spPr>
            <a:xfrm>
              <a:off x="12498705" y="11915775"/>
              <a:ext cx="480060" cy="462915"/>
            </a:xfrm>
            <a:prstGeom prst="rect">
              <a:avLst/>
            </a:prstGeom>
            <a:solidFill>
              <a:srgbClr val="D9F1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Rectangle 440"/>
            <p:cNvSpPr/>
            <p:nvPr/>
          </p:nvSpPr>
          <p:spPr>
            <a:xfrm>
              <a:off x="12421552" y="11992927"/>
              <a:ext cx="480060" cy="462915"/>
            </a:xfrm>
            <a:prstGeom prst="rect">
              <a:avLst/>
            </a:prstGeom>
            <a:solidFill>
              <a:srgbClr val="D9F1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Rectangle 441"/>
            <p:cNvSpPr/>
            <p:nvPr/>
          </p:nvSpPr>
          <p:spPr>
            <a:xfrm>
              <a:off x="12344400" y="12070080"/>
              <a:ext cx="480060" cy="462915"/>
            </a:xfrm>
            <a:prstGeom prst="rect">
              <a:avLst/>
            </a:prstGeom>
            <a:solidFill>
              <a:srgbClr val="2DADA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43" name="TextBox 442"/>
          <p:cNvSpPr txBox="1"/>
          <p:nvPr/>
        </p:nvSpPr>
        <p:spPr>
          <a:xfrm>
            <a:off x="12138660" y="11675744"/>
            <a:ext cx="857250" cy="360045"/>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P₀</a:t>
            </a:r>
          </a:p>
        </p:txBody>
      </p:sp>
      <p:sp>
        <p:nvSpPr>
          <p:cNvPr id="444" name="Rounded Rectangle 443"/>
          <p:cNvSpPr/>
          <p:nvPr/>
        </p:nvSpPr>
        <p:spPr>
          <a:xfrm>
            <a:off x="13270230" y="11744325"/>
            <a:ext cx="7715250" cy="1371600"/>
          </a:xfrm>
          <a:prstGeom prst="roundRect">
            <a:avLst>
              <a:gd name="adj" fmla="val 8000"/>
            </a:avLst>
          </a:prstGeom>
          <a:solidFill>
            <a:srgbClr val="FFFFFF"/>
          </a:solidFill>
          <a:ln w="1397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TextBox 444"/>
          <p:cNvSpPr txBox="1"/>
          <p:nvPr/>
        </p:nvSpPr>
        <p:spPr>
          <a:xfrm>
            <a:off x="13441680" y="11795760"/>
            <a:ext cx="7372350" cy="445770"/>
          </a:xfrm>
          <a:prstGeom prst="rect">
            <a:avLst/>
          </a:prstGeom>
          <a:noFill/>
        </p:spPr>
        <p:txBody>
          <a:bodyPr wrap="square" lIns="34290" rIns="34290" tIns="0" bIns="0" anchor="ctr">
            <a:spAutoFit/>
          </a:bodyPr>
          <a:lstStyle/>
          <a:p>
            <a:pPr algn="l">
              <a:spcBef>
                <a:spcPts val="0"/>
              </a:spcBef>
              <a:spcAft>
                <a:spcPts val="0"/>
              </a:spcAft>
              <a:defRPr sz="2508" b="1">
                <a:solidFill>
                  <a:srgbClr val="2DADAE"/>
                </a:solidFill>
                <a:latin typeface="Georgia"/>
              </a:defRPr>
            </a:pPr>
            <a:r>
              <a:t>NSS-guided local quality</a:t>
            </a:r>
          </a:p>
        </p:txBody>
      </p:sp>
      <p:sp>
        <p:nvSpPr>
          <p:cNvPr id="446" name="Rounded Rectangle 445"/>
          <p:cNvSpPr/>
          <p:nvPr/>
        </p:nvSpPr>
        <p:spPr>
          <a:xfrm>
            <a:off x="13510259" y="12481560"/>
            <a:ext cx="1937385" cy="411479"/>
          </a:xfrm>
          <a:prstGeom prst="roundRect">
            <a:avLst>
              <a:gd name="adj" fmla="val 8000"/>
            </a:avLst>
          </a:prstGeom>
          <a:solidFill>
            <a:srgbClr val="D9F1EE"/>
          </a:solidFill>
          <a:ln w="1270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TextBox 446"/>
          <p:cNvSpPr txBox="1"/>
          <p:nvPr/>
        </p:nvSpPr>
        <p:spPr>
          <a:xfrm>
            <a:off x="13561694" y="12515850"/>
            <a:ext cx="1834515" cy="342900"/>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Pq = P₀ + N(n)</a:t>
            </a:r>
          </a:p>
        </p:txBody>
      </p:sp>
      <p:sp>
        <p:nvSpPr>
          <p:cNvPr id="448" name="Rounded Rectangle 447"/>
          <p:cNvSpPr/>
          <p:nvPr/>
        </p:nvSpPr>
        <p:spPr>
          <a:xfrm>
            <a:off x="13510259" y="12207240"/>
            <a:ext cx="1937385" cy="257175"/>
          </a:xfrm>
          <a:prstGeom prst="roundRect">
            <a:avLst>
              <a:gd name="adj" fmla="val 8000"/>
            </a:avLst>
          </a:prstGeom>
          <a:solidFill>
            <a:srgbClr val="F3F6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TextBox 448"/>
          <p:cNvSpPr txBox="1"/>
          <p:nvPr/>
        </p:nvSpPr>
        <p:spPr>
          <a:xfrm>
            <a:off x="13561694" y="12241530"/>
            <a:ext cx="1834515" cy="188595"/>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n = NSS(image)</a:t>
            </a:r>
          </a:p>
        </p:txBody>
      </p:sp>
      <p:cxnSp>
        <p:nvCxnSpPr>
          <p:cNvPr id="450" name="E054.1"/>
          <p:cNvCxnSpPr/>
          <p:nvPr/>
        </p:nvCxnSpPr>
        <p:spPr>
          <a:xfrm>
            <a:off x="14470380" y="12464415"/>
            <a:ext cx="0" cy="17145"/>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1" name="E055.1"/>
          <p:cNvCxnSpPr/>
          <p:nvPr/>
        </p:nvCxnSpPr>
        <p:spPr>
          <a:xfrm>
            <a:off x="12824460" y="12310110"/>
            <a:ext cx="291465"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52" name="E055.2"/>
          <p:cNvCxnSpPr/>
          <p:nvPr/>
        </p:nvCxnSpPr>
        <p:spPr>
          <a:xfrm>
            <a:off x="13115925" y="12310110"/>
            <a:ext cx="0" cy="37719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53" name="E055.3"/>
          <p:cNvCxnSpPr/>
          <p:nvPr/>
        </p:nvCxnSpPr>
        <p:spPr>
          <a:xfrm>
            <a:off x="13115925" y="12687300"/>
            <a:ext cx="394334"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454" name="Group 453"/>
          <p:cNvGrpSpPr/>
          <p:nvPr/>
        </p:nvGrpSpPr>
        <p:grpSpPr>
          <a:xfrm>
            <a:off x="16493489" y="12327255"/>
            <a:ext cx="1447038" cy="229743"/>
            <a:chOff x="16493489" y="12327255"/>
            <a:chExt cx="1447038" cy="229743"/>
          </a:xfrm>
        </p:grpSpPr>
        <p:sp>
          <p:nvSpPr>
            <p:cNvPr id="455" name="Rectangle 454"/>
            <p:cNvSpPr/>
            <p:nvPr/>
          </p:nvSpPr>
          <p:spPr>
            <a:xfrm>
              <a:off x="16493489" y="1232725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Rectangle 455"/>
            <p:cNvSpPr/>
            <p:nvPr/>
          </p:nvSpPr>
          <p:spPr>
            <a:xfrm>
              <a:off x="16736377" y="1232725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Rectangle 456"/>
            <p:cNvSpPr/>
            <p:nvPr/>
          </p:nvSpPr>
          <p:spPr>
            <a:xfrm>
              <a:off x="16979265" y="1232725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Rectangle 457"/>
            <p:cNvSpPr/>
            <p:nvPr/>
          </p:nvSpPr>
          <p:spPr>
            <a:xfrm>
              <a:off x="17222152" y="1232725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Rectangle 458"/>
            <p:cNvSpPr/>
            <p:nvPr/>
          </p:nvSpPr>
          <p:spPr>
            <a:xfrm>
              <a:off x="17465039" y="1232725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Rectangle 459"/>
            <p:cNvSpPr/>
            <p:nvPr/>
          </p:nvSpPr>
          <p:spPr>
            <a:xfrm>
              <a:off x="17707927" y="1232725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Rectangle 460"/>
            <p:cNvSpPr/>
            <p:nvPr/>
          </p:nvSpPr>
          <p:spPr>
            <a:xfrm>
              <a:off x="16493489" y="12367260"/>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Rectangle 461"/>
            <p:cNvSpPr/>
            <p:nvPr/>
          </p:nvSpPr>
          <p:spPr>
            <a:xfrm>
              <a:off x="16736377" y="12367260"/>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Rectangle 462"/>
            <p:cNvSpPr/>
            <p:nvPr/>
          </p:nvSpPr>
          <p:spPr>
            <a:xfrm>
              <a:off x="16979265" y="12367260"/>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Rectangle 463"/>
            <p:cNvSpPr/>
            <p:nvPr/>
          </p:nvSpPr>
          <p:spPr>
            <a:xfrm>
              <a:off x="17222152" y="12367260"/>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Rectangle 464"/>
            <p:cNvSpPr/>
            <p:nvPr/>
          </p:nvSpPr>
          <p:spPr>
            <a:xfrm>
              <a:off x="17465039" y="12367260"/>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Rectangle 465"/>
            <p:cNvSpPr/>
            <p:nvPr/>
          </p:nvSpPr>
          <p:spPr>
            <a:xfrm>
              <a:off x="17707927" y="12367260"/>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Rectangle 466"/>
            <p:cNvSpPr/>
            <p:nvPr/>
          </p:nvSpPr>
          <p:spPr>
            <a:xfrm>
              <a:off x="16493489" y="1240726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Rectangle 467"/>
            <p:cNvSpPr/>
            <p:nvPr/>
          </p:nvSpPr>
          <p:spPr>
            <a:xfrm>
              <a:off x="16736377" y="1240726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Rectangle 468"/>
            <p:cNvSpPr/>
            <p:nvPr/>
          </p:nvSpPr>
          <p:spPr>
            <a:xfrm>
              <a:off x="16979265" y="1240726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Rectangle 469"/>
            <p:cNvSpPr/>
            <p:nvPr/>
          </p:nvSpPr>
          <p:spPr>
            <a:xfrm>
              <a:off x="17222152" y="1240726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Rectangle 470"/>
            <p:cNvSpPr/>
            <p:nvPr/>
          </p:nvSpPr>
          <p:spPr>
            <a:xfrm>
              <a:off x="17465039" y="1240726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Rectangle 471"/>
            <p:cNvSpPr/>
            <p:nvPr/>
          </p:nvSpPr>
          <p:spPr>
            <a:xfrm>
              <a:off x="17707927" y="1240726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Rectangle 472"/>
            <p:cNvSpPr/>
            <p:nvPr/>
          </p:nvSpPr>
          <p:spPr>
            <a:xfrm>
              <a:off x="16493489" y="12447269"/>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Rectangle 473"/>
            <p:cNvSpPr/>
            <p:nvPr/>
          </p:nvSpPr>
          <p:spPr>
            <a:xfrm>
              <a:off x="16736377" y="12447269"/>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Rectangle 474"/>
            <p:cNvSpPr/>
            <p:nvPr/>
          </p:nvSpPr>
          <p:spPr>
            <a:xfrm>
              <a:off x="16979265" y="12447269"/>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Rectangle 475"/>
            <p:cNvSpPr/>
            <p:nvPr/>
          </p:nvSpPr>
          <p:spPr>
            <a:xfrm>
              <a:off x="17222152" y="12447269"/>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Rectangle 476"/>
            <p:cNvSpPr/>
            <p:nvPr/>
          </p:nvSpPr>
          <p:spPr>
            <a:xfrm>
              <a:off x="17465039" y="12447269"/>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Rectangle 477"/>
            <p:cNvSpPr/>
            <p:nvPr/>
          </p:nvSpPr>
          <p:spPr>
            <a:xfrm>
              <a:off x="17707927" y="12447269"/>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Rectangle 478"/>
            <p:cNvSpPr/>
            <p:nvPr/>
          </p:nvSpPr>
          <p:spPr>
            <a:xfrm>
              <a:off x="16493489" y="1248727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Rectangle 479"/>
            <p:cNvSpPr/>
            <p:nvPr/>
          </p:nvSpPr>
          <p:spPr>
            <a:xfrm>
              <a:off x="16736377" y="1248727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Rectangle 480"/>
            <p:cNvSpPr/>
            <p:nvPr/>
          </p:nvSpPr>
          <p:spPr>
            <a:xfrm>
              <a:off x="16979265" y="1248727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Rectangle 481"/>
            <p:cNvSpPr/>
            <p:nvPr/>
          </p:nvSpPr>
          <p:spPr>
            <a:xfrm>
              <a:off x="17222152" y="1248727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Rectangle 482"/>
            <p:cNvSpPr/>
            <p:nvPr/>
          </p:nvSpPr>
          <p:spPr>
            <a:xfrm>
              <a:off x="17465039" y="12487275"/>
              <a:ext cx="232600" cy="29718"/>
            </a:xfrm>
            <a:prstGeom prst="rect">
              <a:avLst/>
            </a:prstGeom>
            <a:solidFill>
              <a:srgbClr val="F7D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Rectangle 483"/>
            <p:cNvSpPr/>
            <p:nvPr/>
          </p:nvSpPr>
          <p:spPr>
            <a:xfrm>
              <a:off x="17707927" y="12487275"/>
              <a:ext cx="232600" cy="29718"/>
            </a:xfrm>
            <a:prstGeom prst="rect">
              <a:avLst/>
            </a:prstGeom>
            <a:solidFill>
              <a:srgbClr val="9FC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Rectangle 484"/>
            <p:cNvSpPr/>
            <p:nvPr/>
          </p:nvSpPr>
          <p:spPr>
            <a:xfrm>
              <a:off x="16493489" y="12527280"/>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Rectangle 485"/>
            <p:cNvSpPr/>
            <p:nvPr/>
          </p:nvSpPr>
          <p:spPr>
            <a:xfrm>
              <a:off x="16736377" y="12527280"/>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Rectangle 486"/>
            <p:cNvSpPr/>
            <p:nvPr/>
          </p:nvSpPr>
          <p:spPr>
            <a:xfrm>
              <a:off x="16979265" y="12527280"/>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Rectangle 487"/>
            <p:cNvSpPr/>
            <p:nvPr/>
          </p:nvSpPr>
          <p:spPr>
            <a:xfrm>
              <a:off x="17222152" y="12527280"/>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Rectangle 488"/>
            <p:cNvSpPr/>
            <p:nvPr/>
          </p:nvSpPr>
          <p:spPr>
            <a:xfrm>
              <a:off x="17465039" y="12527280"/>
              <a:ext cx="232600" cy="29718"/>
            </a:xfrm>
            <a:prstGeom prst="rect">
              <a:avLst/>
            </a:prstGeom>
            <a:solidFill>
              <a:srgbClr val="D0B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Rectangle 489"/>
            <p:cNvSpPr/>
            <p:nvPr/>
          </p:nvSpPr>
          <p:spPr>
            <a:xfrm>
              <a:off x="17707927" y="12527280"/>
              <a:ext cx="232600" cy="29718"/>
            </a:xfrm>
            <a:prstGeom prst="rect">
              <a:avLst/>
            </a:prstGeom>
            <a:solidFill>
              <a:srgbClr val="C7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491" name="TextBox 490"/>
          <p:cNvSpPr txBox="1"/>
          <p:nvPr/>
        </p:nvSpPr>
        <p:spPr>
          <a:xfrm>
            <a:off x="15893414" y="12070080"/>
            <a:ext cx="2640329" cy="257175"/>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sᵢ = sigmoid(Hp(Pqᵢ))</a:t>
            </a:r>
          </a:p>
        </p:txBody>
      </p:sp>
      <p:sp>
        <p:nvSpPr>
          <p:cNvPr id="492" name="Rounded Rectangle 491"/>
          <p:cNvSpPr/>
          <p:nvPr/>
        </p:nvSpPr>
        <p:spPr>
          <a:xfrm>
            <a:off x="15893414" y="12704444"/>
            <a:ext cx="2657475" cy="325755"/>
          </a:xfrm>
          <a:prstGeom prst="roundRect">
            <a:avLst>
              <a:gd name="adj" fmla="val 8000"/>
            </a:avLst>
          </a:prstGeom>
          <a:solidFill>
            <a:srgbClr val="F3F6F9"/>
          </a:solidFill>
          <a:ln w="1270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TextBox 492"/>
          <p:cNvSpPr txBox="1"/>
          <p:nvPr/>
        </p:nvSpPr>
        <p:spPr>
          <a:xfrm>
            <a:off x="15944850" y="12738735"/>
            <a:ext cx="2554604" cy="257175"/>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wᵢ = softmax(G[Pqᵢ,nᵢ])</a:t>
            </a:r>
          </a:p>
        </p:txBody>
      </p:sp>
      <p:cxnSp>
        <p:nvCxnSpPr>
          <p:cNvPr id="494" name="E056.1"/>
          <p:cNvCxnSpPr/>
          <p:nvPr/>
        </p:nvCxnSpPr>
        <p:spPr>
          <a:xfrm>
            <a:off x="15447645" y="12618719"/>
            <a:ext cx="24003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95" name="E056.2"/>
          <p:cNvCxnSpPr/>
          <p:nvPr/>
        </p:nvCxnSpPr>
        <p:spPr>
          <a:xfrm flipV="1">
            <a:off x="15687675" y="12447269"/>
            <a:ext cx="0" cy="17145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96" name="E056.3"/>
          <p:cNvCxnSpPr/>
          <p:nvPr/>
        </p:nvCxnSpPr>
        <p:spPr>
          <a:xfrm>
            <a:off x="15687675" y="12447269"/>
            <a:ext cx="77152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7" name="E057.1"/>
          <p:cNvCxnSpPr/>
          <p:nvPr/>
        </p:nvCxnSpPr>
        <p:spPr>
          <a:xfrm>
            <a:off x="15447645" y="12773025"/>
            <a:ext cx="445769" cy="85725"/>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8" name="E058.1"/>
          <p:cNvCxnSpPr/>
          <p:nvPr/>
        </p:nvCxnSpPr>
        <p:spPr>
          <a:xfrm>
            <a:off x="15447645" y="12344400"/>
            <a:ext cx="325755"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499" name="E058.2"/>
          <p:cNvCxnSpPr/>
          <p:nvPr/>
        </p:nvCxnSpPr>
        <p:spPr>
          <a:xfrm>
            <a:off x="15773400" y="12344400"/>
            <a:ext cx="0" cy="65151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00" name="E058.3"/>
          <p:cNvCxnSpPr/>
          <p:nvPr/>
        </p:nvCxnSpPr>
        <p:spPr>
          <a:xfrm>
            <a:off x="15773400" y="12995910"/>
            <a:ext cx="120014"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01" name="Oval 500"/>
          <p:cNvSpPr/>
          <p:nvPr/>
        </p:nvSpPr>
        <p:spPr>
          <a:xfrm>
            <a:off x="19253835" y="12550140"/>
            <a:ext cx="411479" cy="411479"/>
          </a:xfrm>
          <a:prstGeom prst="ellipse">
            <a:avLst/>
          </a:prstGeom>
          <a:solidFill>
            <a:srgbClr val="FFFFFF"/>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TextBox 501"/>
          <p:cNvSpPr txBox="1"/>
          <p:nvPr/>
        </p:nvSpPr>
        <p:spPr>
          <a:xfrm>
            <a:off x="19253835" y="12550140"/>
            <a:ext cx="411479" cy="411479"/>
          </a:xfrm>
          <a:prstGeom prst="rect">
            <a:avLst/>
          </a:prstGeom>
          <a:noFill/>
        </p:spPr>
        <p:txBody>
          <a:bodyPr wrap="square" lIns="34290" rIns="34290" tIns="0" bIns="0" anchor="ctr">
            <a:spAutoFit/>
          </a:bodyPr>
          <a:lstStyle/>
          <a:p>
            <a:pPr algn="ctr">
              <a:spcBef>
                <a:spcPts val="0"/>
              </a:spcBef>
              <a:spcAft>
                <a:spcPts val="0"/>
              </a:spcAft>
              <a:defRPr sz="2244" b="1">
                <a:solidFill>
                  <a:srgbClr val="162D43"/>
                </a:solidFill>
                <a:latin typeface="Arial"/>
              </a:defRPr>
            </a:pPr>
            <a:r>
              <a:t>Σ</a:t>
            </a:r>
          </a:p>
        </p:txBody>
      </p:sp>
      <p:cxnSp>
        <p:nvCxnSpPr>
          <p:cNvPr id="503" name="E059.1"/>
          <p:cNvCxnSpPr/>
          <p:nvPr/>
        </p:nvCxnSpPr>
        <p:spPr>
          <a:xfrm>
            <a:off x="17950814" y="12447269"/>
            <a:ext cx="1062991"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04" name="E059.2"/>
          <p:cNvCxnSpPr/>
          <p:nvPr/>
        </p:nvCxnSpPr>
        <p:spPr>
          <a:xfrm>
            <a:off x="19013805" y="12447269"/>
            <a:ext cx="0" cy="222886"/>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05" name="E059.3"/>
          <p:cNvCxnSpPr/>
          <p:nvPr/>
        </p:nvCxnSpPr>
        <p:spPr>
          <a:xfrm>
            <a:off x="19013805" y="12670155"/>
            <a:ext cx="24003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06" name="E060.1"/>
          <p:cNvCxnSpPr/>
          <p:nvPr/>
        </p:nvCxnSpPr>
        <p:spPr>
          <a:xfrm>
            <a:off x="18550889" y="12875894"/>
            <a:ext cx="480061"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07" name="E060.2"/>
          <p:cNvCxnSpPr/>
          <p:nvPr/>
        </p:nvCxnSpPr>
        <p:spPr>
          <a:xfrm flipV="1">
            <a:off x="19030950" y="12858750"/>
            <a:ext cx="0" cy="17144"/>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08" name="E060.3"/>
          <p:cNvCxnSpPr/>
          <p:nvPr/>
        </p:nvCxnSpPr>
        <p:spPr>
          <a:xfrm>
            <a:off x="19030950" y="12858750"/>
            <a:ext cx="22288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09" name="TextBox 508"/>
          <p:cNvSpPr txBox="1"/>
          <p:nvPr/>
        </p:nvSpPr>
        <p:spPr>
          <a:xfrm>
            <a:off x="19699605" y="12532994"/>
            <a:ext cx="1011555" cy="428625"/>
          </a:xfrm>
          <a:prstGeom prst="rect">
            <a:avLst/>
          </a:prstGeom>
          <a:noFill/>
        </p:spPr>
        <p:txBody>
          <a:bodyPr wrap="square" lIns="34290" rIns="34290" tIns="0" bIns="0" anchor="ctr">
            <a:spAutoFit/>
          </a:bodyPr>
          <a:lstStyle/>
          <a:p>
            <a:pPr algn="ctr">
              <a:spcBef>
                <a:spcPts val="0"/>
              </a:spcBef>
              <a:spcAft>
                <a:spcPts val="0"/>
              </a:spcAft>
              <a:defRPr sz="1716" b="1">
                <a:solidFill>
                  <a:srgbClr val="162D43"/>
                </a:solidFill>
                <a:latin typeface="Arial"/>
              </a:defRPr>
            </a:pPr>
            <a:r>
              <a:t>Q_l</a:t>
            </a:r>
          </a:p>
        </p:txBody>
      </p:sp>
      <p:cxnSp>
        <p:nvCxnSpPr>
          <p:cNvPr id="510" name="E061.1"/>
          <p:cNvCxnSpPr/>
          <p:nvPr/>
        </p:nvCxnSpPr>
        <p:spPr>
          <a:xfrm>
            <a:off x="19665314" y="12755880"/>
            <a:ext cx="5143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11" name="Oval 510"/>
          <p:cNvSpPr/>
          <p:nvPr/>
        </p:nvSpPr>
        <p:spPr>
          <a:xfrm>
            <a:off x="22699980" y="10869930"/>
            <a:ext cx="497204" cy="497204"/>
          </a:xfrm>
          <a:prstGeom prst="ellipse">
            <a:avLst/>
          </a:prstGeom>
          <a:solidFill>
            <a:srgbClr val="FFFFFF"/>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TextBox 511"/>
          <p:cNvSpPr txBox="1"/>
          <p:nvPr/>
        </p:nvSpPr>
        <p:spPr>
          <a:xfrm>
            <a:off x="22699980" y="10869930"/>
            <a:ext cx="497204" cy="497204"/>
          </a:xfrm>
          <a:prstGeom prst="rect">
            <a:avLst/>
          </a:prstGeom>
          <a:noFill/>
        </p:spPr>
        <p:txBody>
          <a:bodyPr wrap="square" lIns="34290" rIns="34290" tIns="0" bIns="0" anchor="ctr">
            <a:spAutoFit/>
          </a:bodyPr>
          <a:lstStyle/>
          <a:p>
            <a:pPr algn="ctr">
              <a:spcBef>
                <a:spcPts val="0"/>
              </a:spcBef>
              <a:spcAft>
                <a:spcPts val="0"/>
              </a:spcAft>
              <a:defRPr sz="2244" b="1">
                <a:solidFill>
                  <a:srgbClr val="162D43"/>
                </a:solidFill>
                <a:latin typeface="Arial"/>
              </a:defRPr>
            </a:pPr>
            <a:r>
              <a:t>β</a:t>
            </a:r>
          </a:p>
        </p:txBody>
      </p:sp>
      <p:cxnSp>
        <p:nvCxnSpPr>
          <p:cNvPr id="513" name="E062.1"/>
          <p:cNvCxnSpPr/>
          <p:nvPr/>
        </p:nvCxnSpPr>
        <p:spPr>
          <a:xfrm>
            <a:off x="20916900" y="9858375"/>
            <a:ext cx="96012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14" name="E062.2"/>
          <p:cNvCxnSpPr/>
          <p:nvPr/>
        </p:nvCxnSpPr>
        <p:spPr>
          <a:xfrm>
            <a:off x="21877020" y="9858375"/>
            <a:ext cx="0" cy="114871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15" name="E062.3"/>
          <p:cNvCxnSpPr/>
          <p:nvPr/>
        </p:nvCxnSpPr>
        <p:spPr>
          <a:xfrm>
            <a:off x="21877020" y="11007090"/>
            <a:ext cx="82296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16" name="E063.1"/>
          <p:cNvCxnSpPr/>
          <p:nvPr/>
        </p:nvCxnSpPr>
        <p:spPr>
          <a:xfrm>
            <a:off x="20711160" y="12755880"/>
            <a:ext cx="1165860"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17" name="E063.2"/>
          <p:cNvCxnSpPr/>
          <p:nvPr/>
        </p:nvCxnSpPr>
        <p:spPr>
          <a:xfrm flipV="1">
            <a:off x="21877020" y="11247119"/>
            <a:ext cx="0" cy="1508761"/>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18" name="E063.3"/>
          <p:cNvCxnSpPr/>
          <p:nvPr/>
        </p:nvCxnSpPr>
        <p:spPr>
          <a:xfrm>
            <a:off x="21877020" y="11247119"/>
            <a:ext cx="82296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19" name="Rounded Rectangle 518"/>
          <p:cNvSpPr/>
          <p:nvPr/>
        </p:nvSpPr>
        <p:spPr>
          <a:xfrm>
            <a:off x="24088725" y="10749915"/>
            <a:ext cx="2520315" cy="1028700"/>
          </a:xfrm>
          <a:prstGeom prst="roundRect">
            <a:avLst>
              <a:gd name="adj" fmla="val 8000"/>
            </a:avLst>
          </a:prstGeom>
          <a:solidFill>
            <a:srgbClr val="D9F1EE"/>
          </a:solidFill>
          <a:ln w="12700">
            <a:solidFill>
              <a:srgbClr val="2DA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TextBox 519"/>
          <p:cNvSpPr txBox="1"/>
          <p:nvPr/>
        </p:nvSpPr>
        <p:spPr>
          <a:xfrm>
            <a:off x="24140160" y="10784205"/>
            <a:ext cx="2417445" cy="960120"/>
          </a:xfrm>
          <a:prstGeom prst="rect">
            <a:avLst/>
          </a:prstGeom>
          <a:noFill/>
        </p:spPr>
        <p:txBody>
          <a:bodyPr wrap="square" lIns="34290" rIns="34290" tIns="0" bIns="0" anchor="ctr">
            <a:spAutoFit/>
          </a:bodyPr>
          <a:lstStyle/>
          <a:p>
            <a:pPr algn="ctr">
              <a:spcBef>
                <a:spcPts val="0"/>
              </a:spcBef>
              <a:spcAft>
                <a:spcPts val="0"/>
              </a:spcAft>
              <a:defRPr sz="2244" b="1">
                <a:solidFill>
                  <a:srgbClr val="162D43"/>
                </a:solidFill>
                <a:latin typeface="Arial"/>
              </a:defRPr>
            </a:pPr>
            <a:r>
              <a:t>Perceptual</a:t>
            </a:r>
          </a:p>
          <a:p>
            <a:pPr algn="ctr">
              <a:spcBef>
                <a:spcPts val="0"/>
              </a:spcBef>
              <a:spcAft>
                <a:spcPts val="0"/>
              </a:spcAft>
              <a:defRPr sz="2244" b="1">
                <a:solidFill>
                  <a:srgbClr val="162D43"/>
                </a:solidFill>
                <a:latin typeface="Arial"/>
              </a:defRPr>
            </a:pPr>
            <a:r>
              <a:t>Quality Q</a:t>
            </a:r>
          </a:p>
        </p:txBody>
      </p:sp>
      <p:cxnSp>
        <p:nvCxnSpPr>
          <p:cNvPr id="521" name="E064.1"/>
          <p:cNvCxnSpPr/>
          <p:nvPr/>
        </p:nvCxnSpPr>
        <p:spPr>
          <a:xfrm>
            <a:off x="23197185" y="11109960"/>
            <a:ext cx="89154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22" name="TextBox 521"/>
          <p:cNvSpPr txBox="1"/>
          <p:nvPr/>
        </p:nvSpPr>
        <p:spPr>
          <a:xfrm>
            <a:off x="21928455" y="11812905"/>
            <a:ext cx="4886325" cy="480060"/>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Cambria"/>
              </a:defRPr>
            </a:pPr>
            <a:r>
              <a:t>Q = (1−β)Q_g + βQ_l</a:t>
            </a:r>
          </a:p>
        </p:txBody>
      </p:sp>
      <p:sp>
        <p:nvSpPr>
          <p:cNvPr id="523" name="TextBox 522"/>
          <p:cNvSpPr txBox="1"/>
          <p:nvPr/>
        </p:nvSpPr>
        <p:spPr>
          <a:xfrm>
            <a:off x="22425660" y="12327255"/>
            <a:ext cx="3874770" cy="377190"/>
          </a:xfrm>
          <a:prstGeom prst="rect">
            <a:avLst/>
          </a:prstGeom>
          <a:noFill/>
        </p:spPr>
        <p:txBody>
          <a:bodyPr wrap="square" lIns="34290" rIns="34290" tIns="0" bIns="0" anchor="ctr">
            <a:spAutoFit/>
          </a:bodyPr>
          <a:lstStyle/>
          <a:p>
            <a:pPr algn="ctr">
              <a:spcBef>
                <a:spcPts val="0"/>
              </a:spcBef>
              <a:spcAft>
                <a:spcPts val="0"/>
              </a:spcAft>
              <a:defRPr sz="1452" b="0">
                <a:solidFill>
                  <a:srgbClr val="162D43"/>
                </a:solidFill>
                <a:latin typeface="Arial"/>
              </a:defRPr>
            </a:pPr>
            <a:r>
              <a:t>β: learned scalar</a:t>
            </a:r>
          </a:p>
        </p:txBody>
      </p:sp>
      <p:sp>
        <p:nvSpPr>
          <p:cNvPr id="524" name="Rounded Rectangle 523"/>
          <p:cNvSpPr/>
          <p:nvPr/>
        </p:nvSpPr>
        <p:spPr>
          <a:xfrm>
            <a:off x="18876645" y="8401050"/>
            <a:ext cx="3857625" cy="66865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18928080" y="8435340"/>
            <a:ext cx="3754755" cy="600075"/>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Five-level text CE · auxiliary</a:t>
            </a:r>
          </a:p>
          <a:p>
            <a:pPr algn="ctr">
              <a:spcBef>
                <a:spcPts val="0"/>
              </a:spcBef>
              <a:spcAft>
                <a:spcPts val="0"/>
              </a:spcAft>
              <a:defRPr sz="1320" b="0">
                <a:solidFill>
                  <a:srgbClr val="162D43"/>
                </a:solidFill>
                <a:latin typeface="Arial"/>
              </a:defRPr>
            </a:pPr>
            <a:r>
              <a:t>λ=0.005 · score blend=0</a:t>
            </a:r>
          </a:p>
        </p:txBody>
      </p:sp>
      <p:cxnSp>
        <p:nvCxnSpPr>
          <p:cNvPr id="526" name="E065.1"/>
          <p:cNvCxnSpPr/>
          <p:nvPr/>
        </p:nvCxnSpPr>
        <p:spPr>
          <a:xfrm flipV="1">
            <a:off x="16562070" y="8846819"/>
            <a:ext cx="0" cy="720091"/>
          </a:xfrm>
          <a:prstGeom prst="line">
            <a:avLst/>
          </a:prstGeom>
          <a:ln w="16510">
            <a:solidFill>
              <a:srgbClr val="9262C9"/>
            </a:solidFill>
            <a:prstDash val="dash"/>
          </a:ln>
        </p:spPr>
        <p:style>
          <a:lnRef idx="2">
            <a:schemeClr val="accent1"/>
          </a:lnRef>
          <a:fillRef idx="0">
            <a:schemeClr val="accent1"/>
          </a:fillRef>
          <a:effectRef idx="1">
            <a:schemeClr val="accent1"/>
          </a:effectRef>
          <a:fontRef idx="minor">
            <a:schemeClr val="tx1"/>
          </a:fontRef>
        </p:style>
      </p:cxnSp>
      <p:cxnSp>
        <p:nvCxnSpPr>
          <p:cNvPr id="527" name="E065.2"/>
          <p:cNvCxnSpPr/>
          <p:nvPr/>
        </p:nvCxnSpPr>
        <p:spPr>
          <a:xfrm>
            <a:off x="16562070" y="8846819"/>
            <a:ext cx="2314575" cy="0"/>
          </a:xfrm>
          <a:prstGeom prst="line">
            <a:avLst/>
          </a:prstGeom>
          <a:ln w="16510">
            <a:solidFill>
              <a:srgbClr val="9262C9"/>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28" name="Rounded Rectangle 527"/>
          <p:cNvSpPr/>
          <p:nvPr/>
        </p:nvSpPr>
        <p:spPr>
          <a:xfrm>
            <a:off x="11984355" y="13647419"/>
            <a:ext cx="15036164" cy="4080509"/>
          </a:xfrm>
          <a:prstGeom prst="roundRect">
            <a:avLst>
              <a:gd name="adj" fmla="val 8000"/>
            </a:avLst>
          </a:prstGeom>
          <a:solidFill>
            <a:srgbClr val="FFFAF3"/>
          </a:solidFill>
          <a:ln w="13970">
            <a:solidFill>
              <a:srgbClr val="E99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12155805" y="13698855"/>
            <a:ext cx="14693264" cy="445770"/>
          </a:xfrm>
          <a:prstGeom prst="rect">
            <a:avLst/>
          </a:prstGeom>
          <a:noFill/>
        </p:spPr>
        <p:txBody>
          <a:bodyPr wrap="square" lIns="34290" rIns="34290" tIns="0" bIns="0" anchor="ctr">
            <a:spAutoFit/>
          </a:bodyPr>
          <a:lstStyle/>
          <a:p>
            <a:pPr algn="l">
              <a:spcBef>
                <a:spcPts val="0"/>
              </a:spcBef>
              <a:spcAft>
                <a:spcPts val="0"/>
              </a:spcAft>
              <a:defRPr sz="2508" b="1">
                <a:solidFill>
                  <a:srgbClr val="E99A48"/>
                </a:solidFill>
                <a:latin typeface="Georgia"/>
              </a:defRPr>
            </a:pPr>
            <a:r>
              <a:t>Alignment branch (A)</a:t>
            </a:r>
          </a:p>
        </p:txBody>
      </p:sp>
      <p:grpSp>
        <p:nvGrpSpPr>
          <p:cNvPr id="530" name="Group 529"/>
          <p:cNvGrpSpPr/>
          <p:nvPr/>
        </p:nvGrpSpPr>
        <p:grpSpPr>
          <a:xfrm>
            <a:off x="12258675" y="14470380"/>
            <a:ext cx="428625" cy="651508"/>
            <a:chOff x="12258675" y="14470380"/>
            <a:chExt cx="428625" cy="651508"/>
          </a:xfrm>
        </p:grpSpPr>
        <p:sp>
          <p:nvSpPr>
            <p:cNvPr id="531" name="Rectangle 530"/>
            <p:cNvSpPr/>
            <p:nvPr/>
          </p:nvSpPr>
          <p:spPr>
            <a:xfrm>
              <a:off x="12412980" y="14470380"/>
              <a:ext cx="274320" cy="497204"/>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Rectangle 531"/>
            <p:cNvSpPr/>
            <p:nvPr/>
          </p:nvSpPr>
          <p:spPr>
            <a:xfrm>
              <a:off x="12335827" y="14547532"/>
              <a:ext cx="274320" cy="497204"/>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Rectangle 532"/>
            <p:cNvSpPr/>
            <p:nvPr/>
          </p:nvSpPr>
          <p:spPr>
            <a:xfrm>
              <a:off x="12258675" y="14624684"/>
              <a:ext cx="274320" cy="497204"/>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34" name="TextBox 533"/>
          <p:cNvSpPr txBox="1"/>
          <p:nvPr/>
        </p:nvSpPr>
        <p:spPr>
          <a:xfrm>
            <a:off x="12087225" y="14247494"/>
            <a:ext cx="617219"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z</a:t>
            </a:r>
          </a:p>
        </p:txBody>
      </p:sp>
      <p:sp>
        <p:nvSpPr>
          <p:cNvPr id="535" name="Rounded Rectangle 534"/>
          <p:cNvSpPr/>
          <p:nvPr/>
        </p:nvSpPr>
        <p:spPr>
          <a:xfrm>
            <a:off x="12995910" y="14504669"/>
            <a:ext cx="2366010" cy="788669"/>
          </a:xfrm>
          <a:prstGeom prst="roundRect">
            <a:avLst>
              <a:gd name="adj" fmla="val 8000"/>
            </a:avLst>
          </a:prstGeom>
          <a:solidFill>
            <a:srgbClr val="FFF0DD"/>
          </a:solidFill>
          <a:ln w="12700">
            <a:solidFill>
              <a:srgbClr val="E99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TextBox 535"/>
          <p:cNvSpPr txBox="1"/>
          <p:nvPr/>
        </p:nvSpPr>
        <p:spPr>
          <a:xfrm>
            <a:off x="13047344" y="14538959"/>
            <a:ext cx="2263140" cy="720090"/>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Image adapter A_G</a:t>
            </a:r>
          </a:p>
        </p:txBody>
      </p:sp>
      <p:cxnSp>
        <p:nvCxnSpPr>
          <p:cNvPr id="537" name="E066.1"/>
          <p:cNvCxnSpPr/>
          <p:nvPr/>
        </p:nvCxnSpPr>
        <p:spPr>
          <a:xfrm>
            <a:off x="12584430" y="14847570"/>
            <a:ext cx="41148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538" name="Group 537"/>
          <p:cNvGrpSpPr/>
          <p:nvPr/>
        </p:nvGrpSpPr>
        <p:grpSpPr>
          <a:xfrm>
            <a:off x="15739109" y="14556105"/>
            <a:ext cx="428625" cy="514349"/>
            <a:chOff x="15739109" y="14556105"/>
            <a:chExt cx="428625" cy="514349"/>
          </a:xfrm>
        </p:grpSpPr>
        <p:sp>
          <p:nvSpPr>
            <p:cNvPr id="539" name="Rectangle 538"/>
            <p:cNvSpPr/>
            <p:nvPr/>
          </p:nvSpPr>
          <p:spPr>
            <a:xfrm>
              <a:off x="15893414" y="14556105"/>
              <a:ext cx="274320" cy="36004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Rectangle 539"/>
            <p:cNvSpPr/>
            <p:nvPr/>
          </p:nvSpPr>
          <p:spPr>
            <a:xfrm>
              <a:off x="15816262" y="14633257"/>
              <a:ext cx="274320" cy="36004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Rectangle 540"/>
            <p:cNvSpPr/>
            <p:nvPr/>
          </p:nvSpPr>
          <p:spPr>
            <a:xfrm>
              <a:off x="15739109" y="14710409"/>
              <a:ext cx="274320" cy="36004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42" name="TextBox 541"/>
          <p:cNvSpPr txBox="1"/>
          <p:nvPr/>
        </p:nvSpPr>
        <p:spPr>
          <a:xfrm>
            <a:off x="15670530" y="14350365"/>
            <a:ext cx="514350"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v</a:t>
            </a:r>
          </a:p>
        </p:txBody>
      </p:sp>
      <p:cxnSp>
        <p:nvCxnSpPr>
          <p:cNvPr id="543" name="E067.1"/>
          <p:cNvCxnSpPr/>
          <p:nvPr/>
        </p:nvCxnSpPr>
        <p:spPr>
          <a:xfrm>
            <a:off x="15361920" y="14899005"/>
            <a:ext cx="377189"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44" name="Rounded Rectangle 543"/>
          <p:cNvSpPr/>
          <p:nvPr/>
        </p:nvSpPr>
        <p:spPr>
          <a:xfrm>
            <a:off x="17487900" y="14298930"/>
            <a:ext cx="3000375" cy="891540"/>
          </a:xfrm>
          <a:prstGeom prst="roundRect">
            <a:avLst>
              <a:gd name="adj" fmla="val 8000"/>
            </a:avLst>
          </a:prstGeom>
          <a:solidFill>
            <a:srgbClr val="F3F6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TextBox 544"/>
          <p:cNvSpPr txBox="1"/>
          <p:nvPr/>
        </p:nvSpPr>
        <p:spPr>
          <a:xfrm>
            <a:off x="17539335" y="14333219"/>
            <a:ext cx="2897504" cy="822959"/>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Global pair head</a:t>
            </a:r>
          </a:p>
          <a:p>
            <a:pPr algn="ctr">
              <a:spcBef>
                <a:spcPts val="0"/>
              </a:spcBef>
              <a:spcAft>
                <a:spcPts val="0"/>
              </a:spcAft>
              <a:defRPr sz="1584" b="0">
                <a:solidFill>
                  <a:srgbClr val="162D43"/>
                </a:solidFill>
                <a:latin typeface="Arial"/>
              </a:defRPr>
            </a:pPr>
            <a:r>
              <a:t>[v, u, |v−u|]</a:t>
            </a:r>
          </a:p>
        </p:txBody>
      </p:sp>
      <p:cxnSp>
        <p:nvCxnSpPr>
          <p:cNvPr id="546" name="E068.1"/>
          <p:cNvCxnSpPr/>
          <p:nvPr/>
        </p:nvCxnSpPr>
        <p:spPr>
          <a:xfrm>
            <a:off x="16047720" y="14899005"/>
            <a:ext cx="668655"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47" name="E068.2"/>
          <p:cNvCxnSpPr/>
          <p:nvPr/>
        </p:nvCxnSpPr>
        <p:spPr>
          <a:xfrm flipV="1">
            <a:off x="16716375" y="14573250"/>
            <a:ext cx="0" cy="32575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48" name="E068.3"/>
          <p:cNvCxnSpPr/>
          <p:nvPr/>
        </p:nvCxnSpPr>
        <p:spPr>
          <a:xfrm>
            <a:off x="16716375" y="14573250"/>
            <a:ext cx="77152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49" name="Rounded Rectangle 548"/>
          <p:cNvSpPr/>
          <p:nvPr/>
        </p:nvSpPr>
        <p:spPr>
          <a:xfrm>
            <a:off x="274320" y="16030575"/>
            <a:ext cx="2537460" cy="994409"/>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325755" y="16064864"/>
            <a:ext cx="2434590" cy="925830"/>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Prompt + learnable</a:t>
            </a:r>
          </a:p>
          <a:p>
            <a:pPr algn="ctr">
              <a:spcBef>
                <a:spcPts val="0"/>
              </a:spcBef>
              <a:spcAft>
                <a:spcPts val="0"/>
              </a:spcAft>
              <a:defRPr sz="1584" b="0">
                <a:solidFill>
                  <a:srgbClr val="162D43"/>
                </a:solidFill>
                <a:latin typeface="Arial"/>
              </a:defRPr>
            </a:pPr>
            <a:r>
              <a:t>context tokens</a:t>
            </a:r>
          </a:p>
        </p:txBody>
      </p:sp>
      <p:sp>
        <p:nvSpPr>
          <p:cNvPr id="551" name="Rounded Rectangle 550"/>
          <p:cNvSpPr/>
          <p:nvPr/>
        </p:nvSpPr>
        <p:spPr>
          <a:xfrm>
            <a:off x="3137535" y="16390620"/>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Rounded Rectangle 551"/>
          <p:cNvSpPr/>
          <p:nvPr/>
        </p:nvSpPr>
        <p:spPr>
          <a:xfrm>
            <a:off x="3411854" y="16390620"/>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Rounded Rectangle 552"/>
          <p:cNvSpPr/>
          <p:nvPr/>
        </p:nvSpPr>
        <p:spPr>
          <a:xfrm>
            <a:off x="3686175" y="16390620"/>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Rounded Rectangle 553"/>
          <p:cNvSpPr/>
          <p:nvPr/>
        </p:nvSpPr>
        <p:spPr>
          <a:xfrm>
            <a:off x="3960495" y="16390620"/>
            <a:ext cx="188595" cy="2914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Trapezoid 554"/>
          <p:cNvSpPr/>
          <p:nvPr/>
        </p:nvSpPr>
        <p:spPr>
          <a:xfrm>
            <a:off x="4560570" y="15893414"/>
            <a:ext cx="1988819" cy="1114425"/>
          </a:xfrm>
          <a:prstGeom prst="trapezoid">
            <a:avLst/>
          </a:prstGeom>
          <a:solidFill>
            <a:srgbClr val="F0E9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4612005" y="15979139"/>
            <a:ext cx="1885950" cy="942975"/>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Frozen CLIP</a:t>
            </a:r>
          </a:p>
          <a:p>
            <a:pPr algn="ctr">
              <a:spcBef>
                <a:spcPts val="0"/>
              </a:spcBef>
              <a:spcAft>
                <a:spcPts val="0"/>
              </a:spcAft>
              <a:defRPr sz="2112" b="1">
                <a:solidFill>
                  <a:srgbClr val="162D43"/>
                </a:solidFill>
                <a:latin typeface="Arial"/>
              </a:defRPr>
            </a:pPr>
            <a:r>
              <a:t>text encoder</a:t>
            </a:r>
          </a:p>
        </p:txBody>
      </p:sp>
      <p:cxnSp>
        <p:nvCxnSpPr>
          <p:cNvPr id="557" name="E069.1"/>
          <p:cNvCxnSpPr/>
          <p:nvPr/>
        </p:nvCxnSpPr>
        <p:spPr>
          <a:xfrm>
            <a:off x="2811779" y="16527780"/>
            <a:ext cx="274321"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8" name="E070.1"/>
          <p:cNvCxnSpPr/>
          <p:nvPr/>
        </p:nvCxnSpPr>
        <p:spPr>
          <a:xfrm>
            <a:off x="4217670" y="16527780"/>
            <a:ext cx="34290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59" name="Rounded Rectangle 558"/>
          <p:cNvSpPr/>
          <p:nvPr/>
        </p:nvSpPr>
        <p:spPr>
          <a:xfrm>
            <a:off x="6960870" y="16167734"/>
            <a:ext cx="925830" cy="6343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7012304" y="16202025"/>
            <a:ext cx="822959" cy="565785"/>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Arial"/>
              </a:defRPr>
            </a:pPr>
            <a:r>
              <a:t>U</a:t>
            </a:r>
          </a:p>
        </p:txBody>
      </p:sp>
      <p:cxnSp>
        <p:nvCxnSpPr>
          <p:cNvPr id="561" name="E071.1"/>
          <p:cNvCxnSpPr/>
          <p:nvPr/>
        </p:nvCxnSpPr>
        <p:spPr>
          <a:xfrm>
            <a:off x="6549390" y="16476345"/>
            <a:ext cx="41148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562" name="Rounded Rectangle 561"/>
          <p:cNvSpPr/>
          <p:nvPr/>
        </p:nvSpPr>
        <p:spPr>
          <a:xfrm>
            <a:off x="8418194" y="16167734"/>
            <a:ext cx="2503170" cy="634365"/>
          </a:xfrm>
          <a:prstGeom prst="roundRect">
            <a:avLst>
              <a:gd name="adj" fmla="val 8000"/>
            </a:avLst>
          </a:prstGeom>
          <a:solidFill>
            <a:srgbClr val="F0E9F9"/>
          </a:solidFill>
          <a:ln w="12700">
            <a:solidFill>
              <a:srgbClr val="9262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TextBox 562"/>
          <p:cNvSpPr txBox="1"/>
          <p:nvPr/>
        </p:nvSpPr>
        <p:spPr>
          <a:xfrm>
            <a:off x="8469630" y="16202025"/>
            <a:ext cx="2400300" cy="565785"/>
          </a:xfrm>
          <a:prstGeom prst="rect">
            <a:avLst/>
          </a:prstGeom>
          <a:noFill/>
        </p:spPr>
        <p:txBody>
          <a:bodyPr wrap="square" lIns="34290" rIns="34290" tIns="0" bIns="0" anchor="ctr">
            <a:spAutoFit/>
          </a:bodyPr>
          <a:lstStyle/>
          <a:p>
            <a:pPr algn="ctr">
              <a:spcBef>
                <a:spcPts val="0"/>
              </a:spcBef>
              <a:spcAft>
                <a:spcPts val="0"/>
              </a:spcAft>
              <a:defRPr sz="1584" b="0">
                <a:solidFill>
                  <a:srgbClr val="162D43"/>
                </a:solidFill>
                <a:latin typeface="Arial"/>
              </a:defRPr>
            </a:pPr>
            <a:r>
              <a:t>Text adapter A_T</a:t>
            </a:r>
          </a:p>
        </p:txBody>
      </p:sp>
      <p:cxnSp>
        <p:nvCxnSpPr>
          <p:cNvPr id="564" name="E072.1"/>
          <p:cNvCxnSpPr/>
          <p:nvPr/>
        </p:nvCxnSpPr>
        <p:spPr>
          <a:xfrm>
            <a:off x="7886700" y="16476345"/>
            <a:ext cx="531494"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565" name="Group 564"/>
          <p:cNvGrpSpPr/>
          <p:nvPr/>
        </p:nvGrpSpPr>
        <p:grpSpPr>
          <a:xfrm>
            <a:off x="11349990" y="16150589"/>
            <a:ext cx="445769" cy="582931"/>
            <a:chOff x="11349990" y="16150589"/>
            <a:chExt cx="445769" cy="582931"/>
          </a:xfrm>
        </p:grpSpPr>
        <p:sp>
          <p:nvSpPr>
            <p:cNvPr id="566" name="Rectangle 565"/>
            <p:cNvSpPr/>
            <p:nvPr/>
          </p:nvSpPr>
          <p:spPr>
            <a:xfrm>
              <a:off x="11504294" y="16150589"/>
              <a:ext cx="291465" cy="42862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Rectangle 566"/>
            <p:cNvSpPr/>
            <p:nvPr/>
          </p:nvSpPr>
          <p:spPr>
            <a:xfrm>
              <a:off x="11427142" y="16227742"/>
              <a:ext cx="291465" cy="428625"/>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Rectangle 567"/>
            <p:cNvSpPr/>
            <p:nvPr/>
          </p:nvSpPr>
          <p:spPr>
            <a:xfrm>
              <a:off x="11349990" y="16304895"/>
              <a:ext cx="291465" cy="428625"/>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69" name="TextBox 568"/>
          <p:cNvSpPr txBox="1"/>
          <p:nvPr/>
        </p:nvSpPr>
        <p:spPr>
          <a:xfrm>
            <a:off x="11161394" y="16784955"/>
            <a:ext cx="617219"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u</a:t>
            </a:r>
          </a:p>
        </p:txBody>
      </p:sp>
      <p:cxnSp>
        <p:nvCxnSpPr>
          <p:cNvPr id="570" name="E073.1"/>
          <p:cNvCxnSpPr/>
          <p:nvPr/>
        </p:nvCxnSpPr>
        <p:spPr>
          <a:xfrm>
            <a:off x="10921365" y="16476345"/>
            <a:ext cx="42862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571" name="Group 570"/>
          <p:cNvGrpSpPr/>
          <p:nvPr/>
        </p:nvGrpSpPr>
        <p:grpSpPr>
          <a:xfrm>
            <a:off x="16647795" y="15156180"/>
            <a:ext cx="445770" cy="462913"/>
            <a:chOff x="16647795" y="15156180"/>
            <a:chExt cx="445770" cy="462913"/>
          </a:xfrm>
        </p:grpSpPr>
        <p:sp>
          <p:nvSpPr>
            <p:cNvPr id="572" name="Rectangle 571"/>
            <p:cNvSpPr/>
            <p:nvPr/>
          </p:nvSpPr>
          <p:spPr>
            <a:xfrm>
              <a:off x="16802100" y="15156180"/>
              <a:ext cx="291465" cy="308609"/>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Rectangle 572"/>
            <p:cNvSpPr/>
            <p:nvPr/>
          </p:nvSpPr>
          <p:spPr>
            <a:xfrm>
              <a:off x="16724947" y="15233332"/>
              <a:ext cx="291465" cy="308609"/>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Rectangle 573"/>
            <p:cNvSpPr/>
            <p:nvPr/>
          </p:nvSpPr>
          <p:spPr>
            <a:xfrm>
              <a:off x="16647795" y="15310484"/>
              <a:ext cx="291465" cy="308609"/>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75" name="TextBox 574"/>
          <p:cNvSpPr txBox="1"/>
          <p:nvPr/>
        </p:nvSpPr>
        <p:spPr>
          <a:xfrm>
            <a:off x="16322039" y="15550514"/>
            <a:ext cx="908684" cy="342900"/>
          </a:xfrm>
          <a:prstGeom prst="rect">
            <a:avLst/>
          </a:prstGeom>
          <a:noFill/>
        </p:spPr>
        <p:txBody>
          <a:bodyPr wrap="square" lIns="34290" rIns="34290" tIns="0" bIns="0" anchor="ctr">
            <a:spAutoFit/>
          </a:bodyPr>
          <a:lstStyle/>
          <a:p>
            <a:pPr algn="ctr">
              <a:spcBef>
                <a:spcPts val="0"/>
              </a:spcBef>
              <a:spcAft>
                <a:spcPts val="0"/>
              </a:spcAft>
              <a:defRPr sz="1452" b="1">
                <a:solidFill>
                  <a:srgbClr val="162D43"/>
                </a:solidFill>
                <a:latin typeface="Arial"/>
              </a:defRPr>
            </a:pPr>
            <a:r>
              <a:t>u</a:t>
            </a:r>
          </a:p>
        </p:txBody>
      </p:sp>
      <p:cxnSp>
        <p:nvCxnSpPr>
          <p:cNvPr id="576" name="E074.1"/>
          <p:cNvCxnSpPr/>
          <p:nvPr/>
        </p:nvCxnSpPr>
        <p:spPr>
          <a:xfrm>
            <a:off x="16939260" y="15447645"/>
            <a:ext cx="291465"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77" name="E074.2"/>
          <p:cNvCxnSpPr/>
          <p:nvPr/>
        </p:nvCxnSpPr>
        <p:spPr>
          <a:xfrm flipV="1">
            <a:off x="17230725" y="14967584"/>
            <a:ext cx="0" cy="480061"/>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578" name="E074.3"/>
          <p:cNvCxnSpPr/>
          <p:nvPr/>
        </p:nvCxnSpPr>
        <p:spPr>
          <a:xfrm>
            <a:off x="17230725" y="14967584"/>
            <a:ext cx="25717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579" name="Group 578"/>
          <p:cNvGrpSpPr/>
          <p:nvPr/>
        </p:nvGrpSpPr>
        <p:grpSpPr>
          <a:xfrm>
            <a:off x="12310110" y="16270605"/>
            <a:ext cx="548639" cy="582929"/>
            <a:chOff x="12310110" y="16270605"/>
            <a:chExt cx="548639" cy="582929"/>
          </a:xfrm>
        </p:grpSpPr>
        <p:sp>
          <p:nvSpPr>
            <p:cNvPr id="580" name="Rectangle 579"/>
            <p:cNvSpPr/>
            <p:nvPr/>
          </p:nvSpPr>
          <p:spPr>
            <a:xfrm>
              <a:off x="12464415" y="16270605"/>
              <a:ext cx="394334" cy="428625"/>
            </a:xfrm>
            <a:prstGeom prst="rect">
              <a:avLst/>
            </a:prstGeom>
            <a:solidFill>
              <a:srgbClr val="D9F1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Rectangle 580"/>
            <p:cNvSpPr/>
            <p:nvPr/>
          </p:nvSpPr>
          <p:spPr>
            <a:xfrm>
              <a:off x="12387262" y="16347757"/>
              <a:ext cx="394334" cy="428625"/>
            </a:xfrm>
            <a:prstGeom prst="rect">
              <a:avLst/>
            </a:prstGeom>
            <a:solidFill>
              <a:srgbClr val="D9F1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Rectangle 581"/>
            <p:cNvSpPr/>
            <p:nvPr/>
          </p:nvSpPr>
          <p:spPr>
            <a:xfrm>
              <a:off x="12310110" y="16424909"/>
              <a:ext cx="394334" cy="428625"/>
            </a:xfrm>
            <a:prstGeom prst="rect">
              <a:avLst/>
            </a:prstGeom>
            <a:solidFill>
              <a:srgbClr val="2DADA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583" name="TextBox 582"/>
          <p:cNvSpPr txBox="1"/>
          <p:nvPr/>
        </p:nvSpPr>
        <p:spPr>
          <a:xfrm>
            <a:off x="12121515" y="16030575"/>
            <a:ext cx="857250"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P₀</a:t>
            </a:r>
          </a:p>
        </p:txBody>
      </p:sp>
      <p:sp>
        <p:nvSpPr>
          <p:cNvPr id="584" name="Rounded Rectangle 583"/>
          <p:cNvSpPr/>
          <p:nvPr/>
        </p:nvSpPr>
        <p:spPr>
          <a:xfrm>
            <a:off x="13253084" y="15841980"/>
            <a:ext cx="7269479" cy="1560195"/>
          </a:xfrm>
          <a:prstGeom prst="roundRect">
            <a:avLst>
              <a:gd name="adj" fmla="val 8000"/>
            </a:avLst>
          </a:prstGeom>
          <a:solidFill>
            <a:srgbClr val="FFFFFF"/>
          </a:solidFill>
          <a:ln w="13970">
            <a:solidFill>
              <a:srgbClr val="E99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TextBox 584"/>
          <p:cNvSpPr txBox="1"/>
          <p:nvPr/>
        </p:nvSpPr>
        <p:spPr>
          <a:xfrm>
            <a:off x="13424534" y="15893414"/>
            <a:ext cx="6926579" cy="445770"/>
          </a:xfrm>
          <a:prstGeom prst="rect">
            <a:avLst/>
          </a:prstGeom>
          <a:noFill/>
        </p:spPr>
        <p:txBody>
          <a:bodyPr wrap="square" lIns="34290" rIns="34290" tIns="0" bIns="0" anchor="ctr">
            <a:spAutoFit/>
          </a:bodyPr>
          <a:lstStyle/>
          <a:p>
            <a:pPr algn="l">
              <a:spcBef>
                <a:spcPts val="0"/>
              </a:spcBef>
              <a:spcAft>
                <a:spcPts val="0"/>
              </a:spcAft>
              <a:defRPr sz="2508" b="1">
                <a:solidFill>
                  <a:srgbClr val="E99A48"/>
                </a:solidFill>
                <a:latin typeface="Georgia"/>
              </a:defRPr>
            </a:pPr>
            <a:r>
              <a:t>Local–text matching</a:t>
            </a:r>
          </a:p>
        </p:txBody>
      </p:sp>
      <p:grpSp>
        <p:nvGrpSpPr>
          <p:cNvPr id="586" name="Group 585"/>
          <p:cNvGrpSpPr/>
          <p:nvPr/>
        </p:nvGrpSpPr>
        <p:grpSpPr>
          <a:xfrm>
            <a:off x="13561694" y="16459200"/>
            <a:ext cx="915544" cy="641223"/>
            <a:chOff x="13561694" y="16459200"/>
            <a:chExt cx="915544" cy="641223"/>
          </a:xfrm>
        </p:grpSpPr>
        <p:sp>
          <p:nvSpPr>
            <p:cNvPr id="587" name="Rectangle 586"/>
            <p:cNvSpPr/>
            <p:nvPr/>
          </p:nvSpPr>
          <p:spPr>
            <a:xfrm>
              <a:off x="13561694" y="16459200"/>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Rectangle 587"/>
            <p:cNvSpPr/>
            <p:nvPr/>
          </p:nvSpPr>
          <p:spPr>
            <a:xfrm>
              <a:off x="13746860" y="16459200"/>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Rectangle 588"/>
            <p:cNvSpPr/>
            <p:nvPr/>
          </p:nvSpPr>
          <p:spPr>
            <a:xfrm>
              <a:off x="13932027" y="16459200"/>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Rectangle 589"/>
            <p:cNvSpPr/>
            <p:nvPr/>
          </p:nvSpPr>
          <p:spPr>
            <a:xfrm>
              <a:off x="14117192" y="16459200"/>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Rectangle 590"/>
            <p:cNvSpPr/>
            <p:nvPr/>
          </p:nvSpPr>
          <p:spPr>
            <a:xfrm>
              <a:off x="14302359" y="16459200"/>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Rectangle 591"/>
            <p:cNvSpPr/>
            <p:nvPr/>
          </p:nvSpPr>
          <p:spPr>
            <a:xfrm>
              <a:off x="13561694" y="16589501"/>
              <a:ext cx="174879" cy="120015"/>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Rectangle 592"/>
            <p:cNvSpPr/>
            <p:nvPr/>
          </p:nvSpPr>
          <p:spPr>
            <a:xfrm>
              <a:off x="13746860" y="16589501"/>
              <a:ext cx="174879" cy="120015"/>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Rectangle 593"/>
            <p:cNvSpPr/>
            <p:nvPr/>
          </p:nvSpPr>
          <p:spPr>
            <a:xfrm>
              <a:off x="13932027" y="16589501"/>
              <a:ext cx="174879" cy="120015"/>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Rectangle 594"/>
            <p:cNvSpPr/>
            <p:nvPr/>
          </p:nvSpPr>
          <p:spPr>
            <a:xfrm>
              <a:off x="14117192" y="16589501"/>
              <a:ext cx="174879" cy="120015"/>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Rectangle 595"/>
            <p:cNvSpPr/>
            <p:nvPr/>
          </p:nvSpPr>
          <p:spPr>
            <a:xfrm>
              <a:off x="14302359" y="16589501"/>
              <a:ext cx="174879" cy="120015"/>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Rectangle 596"/>
            <p:cNvSpPr/>
            <p:nvPr/>
          </p:nvSpPr>
          <p:spPr>
            <a:xfrm>
              <a:off x="13561694" y="16719804"/>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Rectangle 597"/>
            <p:cNvSpPr/>
            <p:nvPr/>
          </p:nvSpPr>
          <p:spPr>
            <a:xfrm>
              <a:off x="13746860" y="16719804"/>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Rectangle 598"/>
            <p:cNvSpPr/>
            <p:nvPr/>
          </p:nvSpPr>
          <p:spPr>
            <a:xfrm>
              <a:off x="13932027" y="16719804"/>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Rectangle 599"/>
            <p:cNvSpPr/>
            <p:nvPr/>
          </p:nvSpPr>
          <p:spPr>
            <a:xfrm>
              <a:off x="14117192" y="16719804"/>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Rectangle 600"/>
            <p:cNvSpPr/>
            <p:nvPr/>
          </p:nvSpPr>
          <p:spPr>
            <a:xfrm>
              <a:off x="14302359" y="16719804"/>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Rectangle 601"/>
            <p:cNvSpPr/>
            <p:nvPr/>
          </p:nvSpPr>
          <p:spPr>
            <a:xfrm>
              <a:off x="13561694" y="16850106"/>
              <a:ext cx="174879" cy="120015"/>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Rectangle 602"/>
            <p:cNvSpPr/>
            <p:nvPr/>
          </p:nvSpPr>
          <p:spPr>
            <a:xfrm>
              <a:off x="13746860" y="16850106"/>
              <a:ext cx="174879" cy="120015"/>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Rectangle 603"/>
            <p:cNvSpPr/>
            <p:nvPr/>
          </p:nvSpPr>
          <p:spPr>
            <a:xfrm>
              <a:off x="13932027" y="16850106"/>
              <a:ext cx="174879" cy="120015"/>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Rectangle 604"/>
            <p:cNvSpPr/>
            <p:nvPr/>
          </p:nvSpPr>
          <p:spPr>
            <a:xfrm>
              <a:off x="14117192" y="16850106"/>
              <a:ext cx="174879" cy="120015"/>
            </a:xfrm>
            <a:prstGeom prst="rect">
              <a:avLst/>
            </a:prstGeom>
            <a:solidFill>
              <a:srgbClr val="2D9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Rectangle 605"/>
            <p:cNvSpPr/>
            <p:nvPr/>
          </p:nvSpPr>
          <p:spPr>
            <a:xfrm>
              <a:off x="14302359" y="16850106"/>
              <a:ext cx="174879" cy="120015"/>
            </a:xfrm>
            <a:prstGeom prst="rect">
              <a:avLst/>
            </a:prstGeom>
            <a:solidFill>
              <a:srgbClr val="8BD3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Rectangle 606"/>
            <p:cNvSpPr/>
            <p:nvPr/>
          </p:nvSpPr>
          <p:spPr>
            <a:xfrm>
              <a:off x="13561694" y="16980408"/>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Rectangle 607"/>
            <p:cNvSpPr/>
            <p:nvPr/>
          </p:nvSpPr>
          <p:spPr>
            <a:xfrm>
              <a:off x="13746860" y="16980408"/>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Rectangle 608"/>
            <p:cNvSpPr/>
            <p:nvPr/>
          </p:nvSpPr>
          <p:spPr>
            <a:xfrm>
              <a:off x="13932027" y="16980408"/>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Rectangle 609"/>
            <p:cNvSpPr/>
            <p:nvPr/>
          </p:nvSpPr>
          <p:spPr>
            <a:xfrm>
              <a:off x="14117192" y="16980408"/>
              <a:ext cx="174879" cy="120015"/>
            </a:xfrm>
            <a:prstGeom prst="rect">
              <a:avLst/>
            </a:prstGeom>
            <a:solidFill>
              <a:srgbClr val="48B5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Rectangle 610"/>
            <p:cNvSpPr/>
            <p:nvPr/>
          </p:nvSpPr>
          <p:spPr>
            <a:xfrm>
              <a:off x="14302359" y="16980408"/>
              <a:ext cx="174879" cy="120015"/>
            </a:xfrm>
            <a:prstGeom prst="rect">
              <a:avLst/>
            </a:prstGeom>
            <a:solidFill>
              <a:srgbClr val="D5F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612" name="Group 611"/>
          <p:cNvGrpSpPr/>
          <p:nvPr/>
        </p:nvGrpSpPr>
        <p:grpSpPr>
          <a:xfrm>
            <a:off x="14710409" y="16853535"/>
            <a:ext cx="445770" cy="428624"/>
            <a:chOff x="14710409" y="16853535"/>
            <a:chExt cx="445770" cy="428624"/>
          </a:xfrm>
        </p:grpSpPr>
        <p:sp>
          <p:nvSpPr>
            <p:cNvPr id="613" name="Rectangle 612"/>
            <p:cNvSpPr/>
            <p:nvPr/>
          </p:nvSpPr>
          <p:spPr>
            <a:xfrm>
              <a:off x="14864714" y="16853535"/>
              <a:ext cx="291465" cy="274320"/>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Rectangle 613"/>
            <p:cNvSpPr/>
            <p:nvPr/>
          </p:nvSpPr>
          <p:spPr>
            <a:xfrm>
              <a:off x="14787562" y="16930687"/>
              <a:ext cx="291465" cy="274320"/>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Rectangle 614"/>
            <p:cNvSpPr/>
            <p:nvPr/>
          </p:nvSpPr>
          <p:spPr>
            <a:xfrm>
              <a:off x="14710409" y="17007839"/>
              <a:ext cx="291465" cy="274320"/>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616" name="TextBox 615"/>
          <p:cNvSpPr txBox="1"/>
          <p:nvPr/>
        </p:nvSpPr>
        <p:spPr>
          <a:xfrm>
            <a:off x="14590394" y="17316450"/>
            <a:ext cx="428625" cy="240030"/>
          </a:xfrm>
          <a:prstGeom prst="rect">
            <a:avLst/>
          </a:prstGeom>
          <a:noFill/>
        </p:spPr>
        <p:txBody>
          <a:bodyPr wrap="square" lIns="34290" rIns="34290" tIns="0" bIns="0" anchor="ctr">
            <a:spAutoFit/>
          </a:bodyPr>
          <a:lstStyle/>
          <a:p>
            <a:pPr algn="ctr">
              <a:spcBef>
                <a:spcPts val="0"/>
              </a:spcBef>
              <a:spcAft>
                <a:spcPts val="0"/>
              </a:spcAft>
              <a:defRPr sz="1188" b="0">
                <a:solidFill>
                  <a:srgbClr val="162D43"/>
                </a:solidFill>
                <a:latin typeface="Arial"/>
              </a:defRPr>
            </a:pPr>
            <a:r>
              <a:t>u</a:t>
            </a:r>
          </a:p>
        </p:txBody>
      </p:sp>
      <p:grpSp>
        <p:nvGrpSpPr>
          <p:cNvPr id="617" name="Group 616"/>
          <p:cNvGrpSpPr/>
          <p:nvPr/>
        </p:nvGrpSpPr>
        <p:grpSpPr>
          <a:xfrm>
            <a:off x="15516225" y="16459200"/>
            <a:ext cx="1104137" cy="641223"/>
            <a:chOff x="15516225" y="16459200"/>
            <a:chExt cx="1104137" cy="641223"/>
          </a:xfrm>
        </p:grpSpPr>
        <p:sp>
          <p:nvSpPr>
            <p:cNvPr id="618" name="Rectangle 617"/>
            <p:cNvSpPr/>
            <p:nvPr/>
          </p:nvSpPr>
          <p:spPr>
            <a:xfrm>
              <a:off x="15516225" y="16459200"/>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Rectangle 618"/>
            <p:cNvSpPr/>
            <p:nvPr/>
          </p:nvSpPr>
          <p:spPr>
            <a:xfrm>
              <a:off x="15739109" y="16459200"/>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Rectangle 619"/>
            <p:cNvSpPr/>
            <p:nvPr/>
          </p:nvSpPr>
          <p:spPr>
            <a:xfrm>
              <a:off x="15961995" y="16459200"/>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Rectangle 620"/>
            <p:cNvSpPr/>
            <p:nvPr/>
          </p:nvSpPr>
          <p:spPr>
            <a:xfrm>
              <a:off x="16184880" y="16459200"/>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Rectangle 621"/>
            <p:cNvSpPr/>
            <p:nvPr/>
          </p:nvSpPr>
          <p:spPr>
            <a:xfrm>
              <a:off x="16407764" y="16459200"/>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Rectangle 622"/>
            <p:cNvSpPr/>
            <p:nvPr/>
          </p:nvSpPr>
          <p:spPr>
            <a:xfrm>
              <a:off x="15516225" y="16589501"/>
              <a:ext cx="212598" cy="120015"/>
            </a:xfrm>
            <a:prstGeom prst="rect">
              <a:avLst/>
            </a:prstGeom>
            <a:solidFill>
              <a:srgbClr val="ECD0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Rectangle 623"/>
            <p:cNvSpPr/>
            <p:nvPr/>
          </p:nvSpPr>
          <p:spPr>
            <a:xfrm>
              <a:off x="15739109" y="16589501"/>
              <a:ext cx="212598" cy="120015"/>
            </a:xfrm>
            <a:prstGeom prst="rect">
              <a:avLst/>
            </a:prstGeom>
            <a:solidFill>
              <a:srgbClr val="CBB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Rectangle 624"/>
            <p:cNvSpPr/>
            <p:nvPr/>
          </p:nvSpPr>
          <p:spPr>
            <a:xfrm>
              <a:off x="15961995" y="16589501"/>
              <a:ext cx="212598" cy="120015"/>
            </a:xfrm>
            <a:prstGeom prst="rect">
              <a:avLst/>
            </a:prstGeom>
            <a:solidFill>
              <a:srgbClr val="ECD0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Rectangle 625"/>
            <p:cNvSpPr/>
            <p:nvPr/>
          </p:nvSpPr>
          <p:spPr>
            <a:xfrm>
              <a:off x="16184880" y="16589501"/>
              <a:ext cx="212598" cy="120015"/>
            </a:xfrm>
            <a:prstGeom prst="rect">
              <a:avLst/>
            </a:prstGeom>
            <a:solidFill>
              <a:srgbClr val="CBB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Rectangle 626"/>
            <p:cNvSpPr/>
            <p:nvPr/>
          </p:nvSpPr>
          <p:spPr>
            <a:xfrm>
              <a:off x="16407764" y="16589501"/>
              <a:ext cx="212598" cy="120015"/>
            </a:xfrm>
            <a:prstGeom prst="rect">
              <a:avLst/>
            </a:prstGeom>
            <a:solidFill>
              <a:srgbClr val="ECD0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Rectangle 627"/>
            <p:cNvSpPr/>
            <p:nvPr/>
          </p:nvSpPr>
          <p:spPr>
            <a:xfrm>
              <a:off x="15516225" y="16719804"/>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Rectangle 628"/>
            <p:cNvSpPr/>
            <p:nvPr/>
          </p:nvSpPr>
          <p:spPr>
            <a:xfrm>
              <a:off x="15739109" y="16719804"/>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Rectangle 629"/>
            <p:cNvSpPr/>
            <p:nvPr/>
          </p:nvSpPr>
          <p:spPr>
            <a:xfrm>
              <a:off x="15961995" y="16719804"/>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Rectangle 630"/>
            <p:cNvSpPr/>
            <p:nvPr/>
          </p:nvSpPr>
          <p:spPr>
            <a:xfrm>
              <a:off x="16184880" y="16719804"/>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Rectangle 631"/>
            <p:cNvSpPr/>
            <p:nvPr/>
          </p:nvSpPr>
          <p:spPr>
            <a:xfrm>
              <a:off x="16407764" y="16719804"/>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Rectangle 632"/>
            <p:cNvSpPr/>
            <p:nvPr/>
          </p:nvSpPr>
          <p:spPr>
            <a:xfrm>
              <a:off x="15516225" y="16850106"/>
              <a:ext cx="212598" cy="120015"/>
            </a:xfrm>
            <a:prstGeom prst="rect">
              <a:avLst/>
            </a:prstGeom>
            <a:solidFill>
              <a:srgbClr val="CBB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Rectangle 633"/>
            <p:cNvSpPr/>
            <p:nvPr/>
          </p:nvSpPr>
          <p:spPr>
            <a:xfrm>
              <a:off x="15739109" y="16850106"/>
              <a:ext cx="212598" cy="120015"/>
            </a:xfrm>
            <a:prstGeom prst="rect">
              <a:avLst/>
            </a:prstGeom>
            <a:solidFill>
              <a:srgbClr val="ECD0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Rectangle 634"/>
            <p:cNvSpPr/>
            <p:nvPr/>
          </p:nvSpPr>
          <p:spPr>
            <a:xfrm>
              <a:off x="15961995" y="16850106"/>
              <a:ext cx="212598" cy="120015"/>
            </a:xfrm>
            <a:prstGeom prst="rect">
              <a:avLst/>
            </a:prstGeom>
            <a:solidFill>
              <a:srgbClr val="CBB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Rectangle 635"/>
            <p:cNvSpPr/>
            <p:nvPr/>
          </p:nvSpPr>
          <p:spPr>
            <a:xfrm>
              <a:off x="16184880" y="16850106"/>
              <a:ext cx="212598" cy="120015"/>
            </a:xfrm>
            <a:prstGeom prst="rect">
              <a:avLst/>
            </a:prstGeom>
            <a:solidFill>
              <a:srgbClr val="ECD0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Rectangle 636"/>
            <p:cNvSpPr/>
            <p:nvPr/>
          </p:nvSpPr>
          <p:spPr>
            <a:xfrm>
              <a:off x="16407764" y="16850106"/>
              <a:ext cx="212598" cy="120015"/>
            </a:xfrm>
            <a:prstGeom prst="rect">
              <a:avLst/>
            </a:prstGeom>
            <a:solidFill>
              <a:srgbClr val="CBB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Rectangle 637"/>
            <p:cNvSpPr/>
            <p:nvPr/>
          </p:nvSpPr>
          <p:spPr>
            <a:xfrm>
              <a:off x="15516225" y="16980408"/>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Rectangle 638"/>
            <p:cNvSpPr/>
            <p:nvPr/>
          </p:nvSpPr>
          <p:spPr>
            <a:xfrm>
              <a:off x="15739109" y="16980408"/>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Rectangle 639"/>
            <p:cNvSpPr/>
            <p:nvPr/>
          </p:nvSpPr>
          <p:spPr>
            <a:xfrm>
              <a:off x="15961995" y="16980408"/>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Rectangle 640"/>
            <p:cNvSpPr/>
            <p:nvPr/>
          </p:nvSpPr>
          <p:spPr>
            <a:xfrm>
              <a:off x="16184880" y="16980408"/>
              <a:ext cx="212598" cy="120015"/>
            </a:xfrm>
            <a:prstGeom prst="rect">
              <a:avLst/>
            </a:prstGeom>
            <a:solidFill>
              <a:srgbClr val="93B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Rectangle 641"/>
            <p:cNvSpPr/>
            <p:nvPr/>
          </p:nvSpPr>
          <p:spPr>
            <a:xfrm>
              <a:off x="16407764" y="16980408"/>
              <a:ext cx="212598" cy="120015"/>
            </a:xfrm>
            <a:prstGeom prst="rect">
              <a:avLst/>
            </a:prstGeom>
            <a:solidFill>
              <a:srgbClr val="E8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643" name="E075.1"/>
          <p:cNvCxnSpPr/>
          <p:nvPr/>
        </p:nvCxnSpPr>
        <p:spPr>
          <a:xfrm>
            <a:off x="14487525" y="16682084"/>
            <a:ext cx="96012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4" name="E076.1"/>
          <p:cNvCxnSpPr/>
          <p:nvPr/>
        </p:nvCxnSpPr>
        <p:spPr>
          <a:xfrm>
            <a:off x="15019020" y="17145000"/>
            <a:ext cx="274319"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45" name="E076.2"/>
          <p:cNvCxnSpPr/>
          <p:nvPr/>
        </p:nvCxnSpPr>
        <p:spPr>
          <a:xfrm flipV="1">
            <a:off x="15293339" y="16887825"/>
            <a:ext cx="0" cy="257175"/>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46" name="E076.3"/>
          <p:cNvCxnSpPr/>
          <p:nvPr/>
        </p:nvCxnSpPr>
        <p:spPr>
          <a:xfrm>
            <a:off x="15293339" y="16887825"/>
            <a:ext cx="15430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647" name="Rounded Rectangle 646"/>
          <p:cNvSpPr/>
          <p:nvPr/>
        </p:nvSpPr>
        <p:spPr>
          <a:xfrm>
            <a:off x="17127855" y="16424909"/>
            <a:ext cx="1131570" cy="702944"/>
          </a:xfrm>
          <a:prstGeom prst="roundRect">
            <a:avLst>
              <a:gd name="adj" fmla="val 8000"/>
            </a:avLst>
          </a:prstGeom>
          <a:solidFill>
            <a:srgbClr val="FFF0DD"/>
          </a:solidFill>
          <a:ln w="12700">
            <a:solidFill>
              <a:srgbClr val="E99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TextBox 647"/>
          <p:cNvSpPr txBox="1"/>
          <p:nvPr/>
        </p:nvSpPr>
        <p:spPr>
          <a:xfrm>
            <a:off x="17179289" y="16459200"/>
            <a:ext cx="1028700" cy="634365"/>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Attention</a:t>
            </a:r>
          </a:p>
          <a:p>
            <a:pPr algn="ctr">
              <a:spcBef>
                <a:spcPts val="0"/>
              </a:spcBef>
              <a:spcAft>
                <a:spcPts val="0"/>
              </a:spcAft>
              <a:defRPr sz="1320" b="0">
                <a:solidFill>
                  <a:srgbClr val="162D43"/>
                </a:solidFill>
                <a:latin typeface="Arial"/>
              </a:defRPr>
            </a:pPr>
            <a:r>
              <a:t>pooling</a:t>
            </a:r>
          </a:p>
        </p:txBody>
      </p:sp>
      <p:cxnSp>
        <p:nvCxnSpPr>
          <p:cNvPr id="649" name="E077.1"/>
          <p:cNvCxnSpPr/>
          <p:nvPr/>
        </p:nvCxnSpPr>
        <p:spPr>
          <a:xfrm>
            <a:off x="16664939" y="16767809"/>
            <a:ext cx="462916"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650" name="Rounded Rectangle 649"/>
          <p:cNvSpPr/>
          <p:nvPr/>
        </p:nvSpPr>
        <p:spPr>
          <a:xfrm>
            <a:off x="18722339" y="16424909"/>
            <a:ext cx="1560195" cy="702944"/>
          </a:xfrm>
          <a:prstGeom prst="roundRect">
            <a:avLst>
              <a:gd name="adj" fmla="val 8000"/>
            </a:avLst>
          </a:prstGeom>
          <a:solidFill>
            <a:srgbClr val="F3F6F9"/>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TextBox 650"/>
          <p:cNvSpPr txBox="1"/>
          <p:nvPr/>
        </p:nvSpPr>
        <p:spPr>
          <a:xfrm>
            <a:off x="18773775" y="16459200"/>
            <a:ext cx="1457325" cy="634365"/>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Local pair head</a:t>
            </a:r>
          </a:p>
        </p:txBody>
      </p:sp>
      <p:cxnSp>
        <p:nvCxnSpPr>
          <p:cNvPr id="652" name="E078.1"/>
          <p:cNvCxnSpPr/>
          <p:nvPr/>
        </p:nvCxnSpPr>
        <p:spPr>
          <a:xfrm>
            <a:off x="18259425" y="16767809"/>
            <a:ext cx="462914"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3" name="E079.1"/>
          <p:cNvCxnSpPr/>
          <p:nvPr/>
        </p:nvCxnSpPr>
        <p:spPr>
          <a:xfrm>
            <a:off x="12721590" y="16647795"/>
            <a:ext cx="531494"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654" name="TextBox 653"/>
          <p:cNvSpPr txBox="1"/>
          <p:nvPr/>
        </p:nvSpPr>
        <p:spPr>
          <a:xfrm>
            <a:off x="15670530" y="17145000"/>
            <a:ext cx="4714875" cy="240030"/>
          </a:xfrm>
          <a:prstGeom prst="rect">
            <a:avLst/>
          </a:prstGeom>
          <a:noFill/>
        </p:spPr>
        <p:txBody>
          <a:bodyPr wrap="square" lIns="34290" rIns="34290" tIns="0" bIns="0" anchor="ctr">
            <a:spAutoFit/>
          </a:bodyPr>
          <a:lstStyle/>
          <a:p>
            <a:pPr algn="ctr">
              <a:spcBef>
                <a:spcPts val="0"/>
              </a:spcBef>
              <a:spcAft>
                <a:spcPts val="0"/>
              </a:spcAft>
              <a:defRPr sz="1056" b="0">
                <a:solidFill>
                  <a:srgbClr val="162D43"/>
                </a:solidFill>
                <a:latin typeface="Arial"/>
              </a:defRPr>
            </a:pPr>
            <a:r>
              <a:t>A_P · X_I / X_T · [e, u, |e−u|]</a:t>
            </a:r>
          </a:p>
        </p:txBody>
      </p:sp>
      <p:cxnSp>
        <p:nvCxnSpPr>
          <p:cNvPr id="655" name="E080.1"/>
          <p:cNvCxnSpPr/>
          <p:nvPr/>
        </p:nvCxnSpPr>
        <p:spPr>
          <a:xfrm>
            <a:off x="11658600" y="16510634"/>
            <a:ext cx="205740" cy="0"/>
          </a:xfrm>
          <a:prstGeom prst="line">
            <a:avLst/>
          </a:prstGeom>
          <a:ln w="16510">
            <a:solidFill>
              <a:srgbClr val="9262C9"/>
            </a:solidFill>
          </a:ln>
        </p:spPr>
        <p:style>
          <a:lnRef idx="2">
            <a:schemeClr val="accent1"/>
          </a:lnRef>
          <a:fillRef idx="0">
            <a:schemeClr val="accent1"/>
          </a:fillRef>
          <a:effectRef idx="1">
            <a:schemeClr val="accent1"/>
          </a:effectRef>
          <a:fontRef idx="minor">
            <a:schemeClr val="tx1"/>
          </a:fontRef>
        </p:style>
      </p:cxnSp>
      <p:cxnSp>
        <p:nvCxnSpPr>
          <p:cNvPr id="656" name="E080.2"/>
          <p:cNvCxnSpPr/>
          <p:nvPr/>
        </p:nvCxnSpPr>
        <p:spPr>
          <a:xfrm>
            <a:off x="11864340" y="16510634"/>
            <a:ext cx="0" cy="1045846"/>
          </a:xfrm>
          <a:prstGeom prst="line">
            <a:avLst/>
          </a:prstGeom>
          <a:ln w="16510">
            <a:solidFill>
              <a:srgbClr val="9262C9"/>
            </a:solidFill>
          </a:ln>
        </p:spPr>
        <p:style>
          <a:lnRef idx="2">
            <a:schemeClr val="accent1"/>
          </a:lnRef>
          <a:fillRef idx="0">
            <a:schemeClr val="accent1"/>
          </a:fillRef>
          <a:effectRef idx="1">
            <a:schemeClr val="accent1"/>
          </a:effectRef>
          <a:fontRef idx="minor">
            <a:schemeClr val="tx1"/>
          </a:fontRef>
        </p:style>
      </p:cxnSp>
      <p:cxnSp>
        <p:nvCxnSpPr>
          <p:cNvPr id="657" name="E080.3"/>
          <p:cNvCxnSpPr/>
          <p:nvPr/>
        </p:nvCxnSpPr>
        <p:spPr>
          <a:xfrm>
            <a:off x="11864340" y="17556480"/>
            <a:ext cx="3103244" cy="0"/>
          </a:xfrm>
          <a:prstGeom prst="line">
            <a:avLst/>
          </a:prstGeom>
          <a:ln w="16510">
            <a:solidFill>
              <a:srgbClr val="9262C9"/>
            </a:solidFill>
          </a:ln>
        </p:spPr>
        <p:style>
          <a:lnRef idx="2">
            <a:schemeClr val="accent1"/>
          </a:lnRef>
          <a:fillRef idx="0">
            <a:schemeClr val="accent1"/>
          </a:fillRef>
          <a:effectRef idx="1">
            <a:schemeClr val="accent1"/>
          </a:effectRef>
          <a:fontRef idx="minor">
            <a:schemeClr val="tx1"/>
          </a:fontRef>
        </p:style>
      </p:cxnSp>
      <p:cxnSp>
        <p:nvCxnSpPr>
          <p:cNvPr id="658" name="E080.4"/>
          <p:cNvCxnSpPr/>
          <p:nvPr/>
        </p:nvCxnSpPr>
        <p:spPr>
          <a:xfrm flipV="1">
            <a:off x="14967584" y="17282160"/>
            <a:ext cx="0" cy="274320"/>
          </a:xfrm>
          <a:prstGeom prst="line">
            <a:avLst/>
          </a:prstGeom>
          <a:ln w="16510">
            <a:solidFill>
              <a:srgbClr val="9262C9"/>
            </a:solidFill>
            <a:tailEnd type="triangle" w="sm" len="sm"/>
          </a:ln>
        </p:spPr>
        <p:style>
          <a:lnRef idx="2">
            <a:schemeClr val="accent1"/>
          </a:lnRef>
          <a:fillRef idx="0">
            <a:schemeClr val="accent1"/>
          </a:fillRef>
          <a:effectRef idx="1">
            <a:schemeClr val="accent1"/>
          </a:effectRef>
          <a:fontRef idx="minor">
            <a:schemeClr val="tx1"/>
          </a:fontRef>
        </p:style>
      </p:cxnSp>
      <p:grpSp>
        <p:nvGrpSpPr>
          <p:cNvPr id="659" name="Group 658"/>
          <p:cNvGrpSpPr/>
          <p:nvPr/>
        </p:nvGrpSpPr>
        <p:grpSpPr>
          <a:xfrm>
            <a:off x="22254210" y="14984730"/>
            <a:ext cx="445769" cy="462913"/>
            <a:chOff x="22254210" y="14984730"/>
            <a:chExt cx="445769" cy="462913"/>
          </a:xfrm>
        </p:grpSpPr>
        <p:sp>
          <p:nvSpPr>
            <p:cNvPr id="660" name="Rectangle 659"/>
            <p:cNvSpPr/>
            <p:nvPr/>
          </p:nvSpPr>
          <p:spPr>
            <a:xfrm>
              <a:off x="22408514" y="14984730"/>
              <a:ext cx="291465" cy="308609"/>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Rectangle 660"/>
            <p:cNvSpPr/>
            <p:nvPr/>
          </p:nvSpPr>
          <p:spPr>
            <a:xfrm>
              <a:off x="22331362" y="15061882"/>
              <a:ext cx="291465" cy="308609"/>
            </a:xfrm>
            <a:prstGeom prst="rect">
              <a:avLst/>
            </a:prstGeom>
            <a:solidFill>
              <a:srgbClr val="C2DCF9"/>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Rectangle 661"/>
            <p:cNvSpPr/>
            <p:nvPr/>
          </p:nvSpPr>
          <p:spPr>
            <a:xfrm>
              <a:off x="22254210" y="15139034"/>
              <a:ext cx="291465" cy="308609"/>
            </a:xfrm>
            <a:prstGeom prst="rect">
              <a:avLst/>
            </a:prstGeom>
            <a:solidFill>
              <a:srgbClr val="4B8FDA"/>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663" name="TextBox 662"/>
          <p:cNvSpPr txBox="1"/>
          <p:nvPr/>
        </p:nvSpPr>
        <p:spPr>
          <a:xfrm>
            <a:off x="22048470" y="14796134"/>
            <a:ext cx="788669" cy="308609"/>
          </a:xfrm>
          <a:prstGeom prst="rect">
            <a:avLst/>
          </a:prstGeom>
          <a:noFill/>
        </p:spPr>
        <p:txBody>
          <a:bodyPr wrap="square" lIns="34290" rIns="34290" tIns="0" bIns="0" anchor="ctr">
            <a:spAutoFit/>
          </a:bodyPr>
          <a:lstStyle/>
          <a:p>
            <a:pPr algn="ctr">
              <a:spcBef>
                <a:spcPts val="0"/>
              </a:spcBef>
              <a:spcAft>
                <a:spcPts val="0"/>
              </a:spcAft>
              <a:defRPr sz="1320" b="1">
                <a:solidFill>
                  <a:srgbClr val="162D43"/>
                </a:solidFill>
                <a:latin typeface="Arial"/>
              </a:defRPr>
            </a:pPr>
            <a:r>
              <a:t>v, u</a:t>
            </a:r>
          </a:p>
        </p:txBody>
      </p:sp>
      <p:cxnSp>
        <p:nvCxnSpPr>
          <p:cNvPr id="664" name="E081.1"/>
          <p:cNvCxnSpPr/>
          <p:nvPr/>
        </p:nvCxnSpPr>
        <p:spPr>
          <a:xfrm>
            <a:off x="22579964" y="15293339"/>
            <a:ext cx="480061"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65" name="E081.2"/>
          <p:cNvCxnSpPr/>
          <p:nvPr/>
        </p:nvCxnSpPr>
        <p:spPr>
          <a:xfrm>
            <a:off x="23060025" y="15293339"/>
            <a:ext cx="0" cy="428625"/>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666" name="Oval 665"/>
          <p:cNvSpPr/>
          <p:nvPr/>
        </p:nvSpPr>
        <p:spPr>
          <a:xfrm>
            <a:off x="22802850" y="15721964"/>
            <a:ext cx="514350" cy="514350"/>
          </a:xfrm>
          <a:prstGeom prst="ellipse">
            <a:avLst/>
          </a:prstGeom>
          <a:solidFill>
            <a:srgbClr val="FFFFFF"/>
          </a:solidFill>
          <a:ln w="12700">
            <a:solidFill>
              <a:srgbClr val="4156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TextBox 666"/>
          <p:cNvSpPr txBox="1"/>
          <p:nvPr/>
        </p:nvSpPr>
        <p:spPr>
          <a:xfrm>
            <a:off x="22802850" y="15721964"/>
            <a:ext cx="514350" cy="514350"/>
          </a:xfrm>
          <a:prstGeom prst="rect">
            <a:avLst/>
          </a:prstGeom>
          <a:noFill/>
        </p:spPr>
        <p:txBody>
          <a:bodyPr wrap="square" lIns="34290" rIns="34290" tIns="0" bIns="0" anchor="ctr">
            <a:spAutoFit/>
          </a:bodyPr>
          <a:lstStyle/>
          <a:p>
            <a:pPr algn="ctr">
              <a:spcBef>
                <a:spcPts val="0"/>
              </a:spcBef>
              <a:spcAft>
                <a:spcPts val="0"/>
              </a:spcAft>
              <a:defRPr sz="2244" b="1">
                <a:solidFill>
                  <a:srgbClr val="162D43"/>
                </a:solidFill>
                <a:latin typeface="Arial"/>
              </a:defRPr>
            </a:pPr>
            <a:r>
              <a:t>γ</a:t>
            </a:r>
          </a:p>
        </p:txBody>
      </p:sp>
      <p:cxnSp>
        <p:nvCxnSpPr>
          <p:cNvPr id="668" name="E082.1"/>
          <p:cNvCxnSpPr/>
          <p:nvPr/>
        </p:nvCxnSpPr>
        <p:spPr>
          <a:xfrm>
            <a:off x="20488275" y="14727555"/>
            <a:ext cx="1217295"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69" name="E082.2"/>
          <p:cNvCxnSpPr/>
          <p:nvPr/>
        </p:nvCxnSpPr>
        <p:spPr>
          <a:xfrm>
            <a:off x="21705570" y="14727555"/>
            <a:ext cx="0" cy="113157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70" name="E082.3"/>
          <p:cNvCxnSpPr/>
          <p:nvPr/>
        </p:nvCxnSpPr>
        <p:spPr>
          <a:xfrm>
            <a:off x="21705570" y="15859125"/>
            <a:ext cx="109728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71" name="E083.1"/>
          <p:cNvCxnSpPr/>
          <p:nvPr/>
        </p:nvCxnSpPr>
        <p:spPr>
          <a:xfrm>
            <a:off x="20522564" y="16767809"/>
            <a:ext cx="1183006" cy="0"/>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72" name="E083.2"/>
          <p:cNvCxnSpPr/>
          <p:nvPr/>
        </p:nvCxnSpPr>
        <p:spPr>
          <a:xfrm flipV="1">
            <a:off x="21705570" y="16099155"/>
            <a:ext cx="0" cy="668654"/>
          </a:xfrm>
          <a:prstGeom prst="line">
            <a:avLst/>
          </a:prstGeom>
          <a:ln w="16510">
            <a:solidFill>
              <a:srgbClr val="41566A"/>
            </a:solidFill>
          </a:ln>
        </p:spPr>
        <p:style>
          <a:lnRef idx="2">
            <a:schemeClr val="accent1"/>
          </a:lnRef>
          <a:fillRef idx="0">
            <a:schemeClr val="accent1"/>
          </a:fillRef>
          <a:effectRef idx="1">
            <a:schemeClr val="accent1"/>
          </a:effectRef>
          <a:fontRef idx="minor">
            <a:schemeClr val="tx1"/>
          </a:fontRef>
        </p:style>
      </p:cxnSp>
      <p:cxnSp>
        <p:nvCxnSpPr>
          <p:cNvPr id="673" name="E083.3"/>
          <p:cNvCxnSpPr/>
          <p:nvPr/>
        </p:nvCxnSpPr>
        <p:spPr>
          <a:xfrm>
            <a:off x="21705570" y="16099155"/>
            <a:ext cx="1097280"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674" name="TextBox 673"/>
          <p:cNvSpPr txBox="1"/>
          <p:nvPr/>
        </p:nvSpPr>
        <p:spPr>
          <a:xfrm>
            <a:off x="20625435" y="14316075"/>
            <a:ext cx="891540"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A_g</a:t>
            </a:r>
          </a:p>
        </p:txBody>
      </p:sp>
      <p:sp>
        <p:nvSpPr>
          <p:cNvPr id="675" name="TextBox 674"/>
          <p:cNvSpPr txBox="1"/>
          <p:nvPr/>
        </p:nvSpPr>
        <p:spPr>
          <a:xfrm>
            <a:off x="20625435" y="16853535"/>
            <a:ext cx="891540" cy="342900"/>
          </a:xfrm>
          <a:prstGeom prst="rect">
            <a:avLst/>
          </a:prstGeom>
          <a:noFill/>
        </p:spPr>
        <p:txBody>
          <a:bodyPr wrap="square" lIns="34290" rIns="34290" tIns="0" bIns="0" anchor="ctr">
            <a:spAutoFit/>
          </a:bodyPr>
          <a:lstStyle/>
          <a:p>
            <a:pPr algn="ctr">
              <a:spcBef>
                <a:spcPts val="0"/>
              </a:spcBef>
              <a:spcAft>
                <a:spcPts val="0"/>
              </a:spcAft>
              <a:defRPr sz="1584" b="1">
                <a:solidFill>
                  <a:srgbClr val="162D43"/>
                </a:solidFill>
                <a:latin typeface="Arial"/>
              </a:defRPr>
            </a:pPr>
            <a:r>
              <a:t>A_l</a:t>
            </a:r>
          </a:p>
        </p:txBody>
      </p:sp>
      <p:sp>
        <p:nvSpPr>
          <p:cNvPr id="676" name="Rounded Rectangle 675"/>
          <p:cNvSpPr/>
          <p:nvPr/>
        </p:nvSpPr>
        <p:spPr>
          <a:xfrm>
            <a:off x="24088725" y="15499080"/>
            <a:ext cx="2520315" cy="1045845"/>
          </a:xfrm>
          <a:prstGeom prst="roundRect">
            <a:avLst>
              <a:gd name="adj" fmla="val 8000"/>
            </a:avLst>
          </a:prstGeom>
          <a:solidFill>
            <a:srgbClr val="FFF0DD"/>
          </a:solidFill>
          <a:ln w="12700">
            <a:solidFill>
              <a:srgbClr val="E99A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TextBox 676"/>
          <p:cNvSpPr txBox="1"/>
          <p:nvPr/>
        </p:nvSpPr>
        <p:spPr>
          <a:xfrm>
            <a:off x="24140160" y="15533370"/>
            <a:ext cx="2417445" cy="977264"/>
          </a:xfrm>
          <a:prstGeom prst="rect">
            <a:avLst/>
          </a:prstGeom>
          <a:noFill/>
        </p:spPr>
        <p:txBody>
          <a:bodyPr wrap="square" lIns="34290" rIns="34290" tIns="0" bIns="0" anchor="ctr">
            <a:spAutoFit/>
          </a:bodyPr>
          <a:lstStyle/>
          <a:p>
            <a:pPr algn="ctr">
              <a:spcBef>
                <a:spcPts val="0"/>
              </a:spcBef>
              <a:spcAft>
                <a:spcPts val="0"/>
              </a:spcAft>
              <a:defRPr sz="2112" b="1">
                <a:solidFill>
                  <a:srgbClr val="162D43"/>
                </a:solidFill>
                <a:latin typeface="Arial"/>
              </a:defRPr>
            </a:pPr>
            <a:r>
              <a:t>Text–Image</a:t>
            </a:r>
          </a:p>
          <a:p>
            <a:pPr algn="ctr">
              <a:spcBef>
                <a:spcPts val="0"/>
              </a:spcBef>
              <a:spcAft>
                <a:spcPts val="0"/>
              </a:spcAft>
              <a:defRPr sz="2112" b="1">
                <a:solidFill>
                  <a:srgbClr val="162D43"/>
                </a:solidFill>
                <a:latin typeface="Arial"/>
              </a:defRPr>
            </a:pPr>
            <a:r>
              <a:t>Alignment A</a:t>
            </a:r>
          </a:p>
        </p:txBody>
      </p:sp>
      <p:cxnSp>
        <p:nvCxnSpPr>
          <p:cNvPr id="678" name="E084.1"/>
          <p:cNvCxnSpPr/>
          <p:nvPr/>
        </p:nvCxnSpPr>
        <p:spPr>
          <a:xfrm>
            <a:off x="23317200" y="15979139"/>
            <a:ext cx="771525" cy="0"/>
          </a:xfrm>
          <a:prstGeom prst="line">
            <a:avLst/>
          </a:prstGeom>
          <a:ln w="16510">
            <a:solidFill>
              <a:srgbClr val="41566A"/>
            </a:solidFill>
            <a:tailEnd type="triangle" w="sm" len="sm"/>
          </a:ln>
        </p:spPr>
        <p:style>
          <a:lnRef idx="2">
            <a:schemeClr val="accent1"/>
          </a:lnRef>
          <a:fillRef idx="0">
            <a:schemeClr val="accent1"/>
          </a:fillRef>
          <a:effectRef idx="1">
            <a:schemeClr val="accent1"/>
          </a:effectRef>
          <a:fontRef idx="minor">
            <a:schemeClr val="tx1"/>
          </a:fontRef>
        </p:style>
      </p:cxnSp>
      <p:sp>
        <p:nvSpPr>
          <p:cNvPr id="679" name="TextBox 678"/>
          <p:cNvSpPr txBox="1"/>
          <p:nvPr/>
        </p:nvSpPr>
        <p:spPr>
          <a:xfrm>
            <a:off x="22031325" y="16630650"/>
            <a:ext cx="4800600" cy="445770"/>
          </a:xfrm>
          <a:prstGeom prst="rect">
            <a:avLst/>
          </a:prstGeom>
          <a:noFill/>
        </p:spPr>
        <p:txBody>
          <a:bodyPr wrap="square" lIns="34290" rIns="34290" tIns="0" bIns="0" anchor="ctr">
            <a:spAutoFit/>
          </a:bodyPr>
          <a:lstStyle/>
          <a:p>
            <a:pPr algn="ctr">
              <a:spcBef>
                <a:spcPts val="0"/>
              </a:spcBef>
              <a:spcAft>
                <a:spcPts val="0"/>
              </a:spcAft>
              <a:defRPr sz="1848" b="0">
                <a:solidFill>
                  <a:srgbClr val="162D43"/>
                </a:solidFill>
                <a:latin typeface="Cambria"/>
              </a:defRPr>
            </a:pPr>
            <a:r>
              <a:t>A = γ A_g + (1−γ) A_l</a:t>
            </a:r>
          </a:p>
        </p:txBody>
      </p:sp>
      <p:sp>
        <p:nvSpPr>
          <p:cNvPr id="680" name="TextBox 679"/>
          <p:cNvSpPr txBox="1"/>
          <p:nvPr/>
        </p:nvSpPr>
        <p:spPr>
          <a:xfrm>
            <a:off x="22305645" y="17145000"/>
            <a:ext cx="4320540" cy="342900"/>
          </a:xfrm>
          <a:prstGeom prst="rect">
            <a:avLst/>
          </a:prstGeom>
          <a:noFill/>
        </p:spPr>
        <p:txBody>
          <a:bodyPr wrap="square" lIns="34290" rIns="34290" tIns="0" bIns="0" anchor="ctr">
            <a:spAutoFit/>
          </a:bodyPr>
          <a:lstStyle/>
          <a:p>
            <a:pPr algn="ctr">
              <a:spcBef>
                <a:spcPts val="0"/>
              </a:spcBef>
              <a:spcAft>
                <a:spcPts val="0"/>
              </a:spcAft>
              <a:defRPr sz="1320" b="0">
                <a:solidFill>
                  <a:srgbClr val="162D43"/>
                </a:solidFill>
                <a:latin typeface="Arial"/>
              </a:defRPr>
            </a:pPr>
            <a:r>
              <a:t>γ: sample-wise, conditioned on v, u</a:t>
            </a:r>
          </a:p>
        </p:txBody>
      </p:sp>
      <p:sp>
        <p:nvSpPr>
          <p:cNvPr id="681" name="TextBox 680"/>
          <p:cNvSpPr txBox="1"/>
          <p:nvPr/>
        </p:nvSpPr>
        <p:spPr>
          <a:xfrm>
            <a:off x="342900" y="17813655"/>
            <a:ext cx="26574750" cy="394334"/>
          </a:xfrm>
          <a:prstGeom prst="rect">
            <a:avLst/>
          </a:prstGeom>
          <a:noFill/>
        </p:spPr>
        <p:txBody>
          <a:bodyPr wrap="square" lIns="34290" rIns="34290" tIns="0" bIns="0" anchor="ctr">
            <a:spAutoFit/>
          </a:bodyPr>
          <a:lstStyle/>
          <a:p>
            <a:pPr algn="l">
              <a:spcBef>
                <a:spcPts val="0"/>
              </a:spcBef>
              <a:spcAft>
                <a:spcPts val="0"/>
              </a:spcAft>
              <a:defRPr sz="1320" b="0">
                <a:solidFill>
                  <a:srgbClr val="162D43"/>
                </a:solidFill>
                <a:latin typeface="Arial"/>
              </a:defRPr>
            </a:pPr>
            <a:r>
              <a:t>Same z / P₀ / u / v ports denote the same feature tensors.   sg: stop-gradient.   Visual encoders trainable; text backbone frozen.   Source layer4 → downstream layer3: local projection reset.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_framework_v2.png"/>
          <p:cNvPicPr>
            <a:picLocks noChangeAspect="1"/>
          </p:cNvPicPr>
          <p:nvPr/>
        </p:nvPicPr>
        <p:blipFill>
          <a:blip r:embed="rId2"/>
          <a:stretch>
            <a:fillRect/>
          </a:stretch>
        </p:blipFill>
        <p:spPr>
          <a:xfrm>
            <a:off x="0" y="0"/>
            <a:ext cx="27432000" cy="18288000"/>
          </a:xfrm>
          <a:prstGeom prst="rect">
            <a:avLst/>
          </a:prstGeom>
        </p:spPr>
      </p:pic>
      <p:sp>
        <p:nvSpPr>
          <p:cNvPr id="3" name="TextBox 2"/>
          <p:cNvSpPr txBox="1"/>
          <p:nvPr/>
        </p:nvSpPr>
        <p:spPr>
          <a:xfrm>
            <a:off x="428625" y="17625060"/>
            <a:ext cx="26574750" cy="514350"/>
          </a:xfrm>
          <a:prstGeom prst="rect">
            <a:avLst/>
          </a:prstGeom>
          <a:noFill/>
        </p:spPr>
        <p:txBody>
          <a:bodyPr wrap="square" lIns="34290" rIns="34290" tIns="0" bIns="0" anchor="ctr">
            <a:spAutoFit/>
          </a:bodyPr>
          <a:lstStyle/>
          <a:p>
            <a:pPr algn="ctr">
              <a:spcBef>
                <a:spcPts val="0"/>
              </a:spcBef>
              <a:spcAft>
                <a:spcPts val="0"/>
              </a:spcAft>
              <a:defRPr sz="1716" b="1">
                <a:solidFill>
                  <a:srgbClr val="E99A48"/>
                </a:solidFill>
                <a:latin typeface="Arial"/>
              </a:defRPr>
            </a:pPr>
            <a:r>
              <a:t>VISUAL REFERENCE ONLY — known connection errors; use slide 1 for the corrected framework.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00150" y="1028700"/>
            <a:ext cx="24860250" cy="1200150"/>
          </a:xfrm>
          <a:prstGeom prst="rect">
            <a:avLst/>
          </a:prstGeom>
          <a:noFill/>
        </p:spPr>
        <p:txBody>
          <a:bodyPr wrap="square" lIns="34290" rIns="34290" tIns="0" bIns="0" anchor="ctr">
            <a:spAutoFit/>
          </a:bodyPr>
          <a:lstStyle/>
          <a:p>
            <a:pPr algn="l">
              <a:spcBef>
                <a:spcPts val="0"/>
              </a:spcBef>
              <a:spcAft>
                <a:spcPts val="0"/>
              </a:spcAft>
              <a:defRPr sz="4488" b="1">
                <a:solidFill>
                  <a:srgbClr val="162D43"/>
                </a:solidFill>
                <a:latin typeface="Arial"/>
              </a:defRPr>
            </a:pPr>
            <a:r>
              <a:t>编辑说明 / Editing guide</a:t>
            </a:r>
          </a:p>
        </p:txBody>
      </p:sp>
      <p:sp>
        <p:nvSpPr>
          <p:cNvPr id="3" name="TextBox 2"/>
          <p:cNvSpPr txBox="1"/>
          <p:nvPr/>
        </p:nvSpPr>
        <p:spPr>
          <a:xfrm>
            <a:off x="1285875" y="2828925"/>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第 1 页：可编辑重绘版。文字、公式、模块、箭头、特征张量和热图均为原生 PPT 对象。</a:t>
            </a:r>
          </a:p>
        </p:txBody>
      </p:sp>
      <p:sp>
        <p:nvSpPr>
          <p:cNvPr id="4" name="TextBox 3"/>
          <p:cNvSpPr txBox="1"/>
          <p:nvPr/>
        </p:nvSpPr>
        <p:spPr>
          <a:xfrm>
            <a:off x="1285875" y="4131945"/>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第 2 页：原始论文风格图，仅作视觉参考。PNG 本身不能在 PowerPoint 中拆成原生图层。</a:t>
            </a:r>
          </a:p>
        </p:txBody>
      </p:sp>
      <p:sp>
        <p:nvSpPr>
          <p:cNvPr id="5" name="TextBox 4"/>
          <p:cNvSpPr txBox="1"/>
          <p:nvPr/>
        </p:nvSpPr>
        <p:spPr>
          <a:xfrm>
            <a:off x="1285875" y="5434965"/>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在第 1 页直接点击文字修改；选中连接线后可拖动端点。图形填充、线条和字体可直接修改。</a:t>
            </a:r>
          </a:p>
        </p:txBody>
      </p:sp>
      <p:sp>
        <p:nvSpPr>
          <p:cNvPr id="6" name="TextBox 5"/>
          <p:cNvSpPr txBox="1"/>
          <p:nvPr/>
        </p:nvSpPr>
        <p:spPr>
          <a:xfrm>
            <a:off x="1285875" y="6737984"/>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张量与热图以局部组合保存：右键 → 组合 → 取消组合，可编辑每个小格；也可 Ctrl+单击选择组内对象。</a:t>
            </a:r>
          </a:p>
        </p:txBody>
      </p:sp>
      <p:sp>
        <p:nvSpPr>
          <p:cNvPr id="7" name="TextBox 6"/>
          <p:cNvSpPr txBox="1"/>
          <p:nvPr/>
        </p:nvSpPr>
        <p:spPr>
          <a:xfrm>
            <a:off x="1285875" y="8041004"/>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全选多个对象后可组合移动。重复的 z / P₀ / u 是同一个特征的命名端口，用于避免长线交叉。</a:t>
            </a:r>
          </a:p>
        </p:txBody>
      </p:sp>
      <p:sp>
        <p:nvSpPr>
          <p:cNvPr id="8" name="TextBox 7"/>
          <p:cNvSpPr txBox="1"/>
          <p:nvPr/>
        </p:nvSpPr>
        <p:spPr>
          <a:xfrm>
            <a:off x="1285875" y="9344025"/>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已按代码修正关键关系：z→全局 Adapter，P₀→局部匹配；质量标量 β，一致性逐样本 γ。</a:t>
            </a:r>
          </a:p>
        </p:txBody>
      </p:sp>
      <p:sp>
        <p:nvSpPr>
          <p:cNvPr id="9" name="TextBox 8"/>
          <p:cNvSpPr txBox="1"/>
          <p:nvPr/>
        </p:nvSpPr>
        <p:spPr>
          <a:xfrm>
            <a:off x="1285875" y="10647044"/>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保留原图配色和双面板视觉语言，但原生重绘并非与原 PNG 逐像素一致。</a:t>
            </a:r>
          </a:p>
        </p:txBody>
      </p:sp>
      <p:sp>
        <p:nvSpPr>
          <p:cNvPr id="10" name="TextBox 9"/>
          <p:cNvSpPr txBox="1"/>
          <p:nvPr/>
        </p:nvSpPr>
        <p:spPr>
          <a:xfrm>
            <a:off x="1285875" y="11950065"/>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导出论文图：文件 → 导出 → PDF；或另存图片。排版时建议保留矢量 PDF。</a:t>
            </a:r>
          </a:p>
        </p:txBody>
      </p:sp>
      <p:sp>
        <p:nvSpPr>
          <p:cNvPr id="11" name="TextBox 10"/>
          <p:cNvSpPr txBox="1"/>
          <p:nvPr/>
        </p:nvSpPr>
        <p:spPr>
          <a:xfrm>
            <a:off x="1285875" y="13253084"/>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依据：代码 e127834；CLIP Large、下游 layer3、Residual Quality Adapter、CE=0.005、标量质量融合。</a:t>
            </a:r>
          </a:p>
        </p:txBody>
      </p:sp>
      <p:sp>
        <p:nvSpPr>
          <p:cNvPr id="12" name="TextBox 11"/>
          <p:cNvSpPr txBox="1"/>
          <p:nvPr/>
        </p:nvSpPr>
        <p:spPr>
          <a:xfrm>
            <a:off x="1285875" y="14556105"/>
            <a:ext cx="24603075" cy="1114425"/>
          </a:xfrm>
          <a:prstGeom prst="rect">
            <a:avLst/>
          </a:prstGeom>
          <a:noFill/>
        </p:spPr>
        <p:txBody>
          <a:bodyPr wrap="square" lIns="34290" rIns="34290" tIns="0" bIns="0" anchor="ctr">
            <a:spAutoFit/>
          </a:bodyPr>
          <a:lstStyle/>
          <a:p>
            <a:pPr algn="l">
              <a:spcBef>
                <a:spcPts val="0"/>
              </a:spcBef>
              <a:spcAft>
                <a:spcPts val="0"/>
              </a:spcAft>
              <a:defRPr sz="3036" b="0">
                <a:solidFill>
                  <a:srgbClr val="162D43"/>
                </a:solidFill>
                <a:latin typeface="Arial"/>
              </a:defRPr>
            </a:pPr>
            <a:r>
              <a:t>未纳入实验中的逐图质量门控，也未把学习率消融宣称为已确定主方法。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
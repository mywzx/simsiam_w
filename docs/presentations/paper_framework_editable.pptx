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27432000" cy="1828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Editable reconstruction of the paper-style framework. All diagram text, tensors, heatmaps, modules and connectors are native PowerPoint objects. Reused named ports avoid crossed lines. Representation transfer resets task heads and downstream local projection. The matching group is schematic: XI/XT similarities pool AP(P0); u is not a local image token. NSS is computed from the image, not from P0. Detailed source: docs/figures/model_forward_and_sharing.md.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Raster visual reference only. This original generated design has known connectivity errors. Use slide 1 for editable corrections; do not use this raster as the exact implementation diagram.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7175" y="85725"/>
            <a:ext cx="26660475" cy="548640"/>
          </a:xfrm>
          <a:prstGeom prst="rect">
            <a:avLst/>
          </a:prstGeom>
          <a:noFill/>
        </p:spPr>
        <p:txBody>
          <a:bodyPr wrap="square" lIns="34290" rIns="34290" tIns="0" bIns="0" anchor="ctr">
            <a:spAutoFit/>
          </a:bodyPr>
          <a:lstStyle/>
          <a:p>
            <a:pPr algn="l">
              <a:spcBef>
                <a:spcPts val="0"/>
              </a:spcBef>
              <a:spcAft>
                <a:spcPts val="0"/>
              </a:spcAft>
              <a:defRPr sz="3036" b="1">
                <a:solidFill>
                  <a:srgbClr val="162D43"/>
                </a:solidFill>
                <a:latin typeface="Georgia"/>
              </a:defRPr>
            </a:pPr>
            <a:r>
              <a:t>(a) Quality-aware multimodal pretraining</a:t>
            </a:r>
          </a:p>
        </p:txBody>
      </p:sp>
      <p:sp>
        <p:nvSpPr>
          <p:cNvPr id="3" name="TextBox 2"/>
          <p:cNvSpPr txBox="1"/>
          <p:nvPr/>
        </p:nvSpPr>
        <p:spPr>
          <a:xfrm>
            <a:off x="102869" y="1337310"/>
            <a:ext cx="1508760" cy="514350"/>
          </a:xfrm>
          <a:prstGeom prst="rect">
            <a:avLst/>
          </a:prstGeom>
          <a:noFill/>
        </p:spPr>
        <p:txBody>
          <a:bodyPr wrap="square" lIns="34290" rIns="34290" tIns="0" bIns="0" anchor="ctr">
            <a:spAutoFit/>
          </a:bodyPr>
          <a:lstStyle/>
          <a:p>
            <a:pPr algn="ctr">
              <a:spcBef>
                <a:spcPts val="0"/>
              </a:spcBef>
              <a:spcAft>
                <a:spcPts val="0"/>
              </a:spcAft>
              <a:defRPr sz="1848" b="1">
                <a:solidFill>
                  <a:srgbClr val="162D43"/>
                </a:solidFill>
                <a:latin typeface="Arial"/>
              </a:defRPr>
            </a:pPr>
            <a:r>
              <a:t>SafeAug 1</a:t>
            </a:r>
          </a:p>
        </p:txBody>
      </p:sp>
      <p:sp>
        <p:nvSpPr>
          <p:cNvPr id="4" name="Rectangle 3"/>
          <p:cNvSpPr/>
          <p:nvPr/>
        </p:nvSpPr>
        <p:spPr>
          <a:xfrm>
            <a:off x="1748789" y="994409"/>
            <a:ext cx="1371600" cy="1080135"/>
          </a:xfrm>
          <a:prstGeom prst="rect">
            <a:avLst/>
          </a:prstGeom>
          <a:solidFill>
            <a:srgbClr val="C2DCF9"/>
          </a:solidFill>
          <a:ln w="12700">
            <a:solidFill>
              <a:srgbClr val="4B8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783080" y="1594485"/>
            <a:ext cx="1303020" cy="428625"/>
          </a:xfrm>
          <a:prstGeom prst="rect">
            <a:avLst/>
          </a:prstGeom>
          <a:solidFill>
            <a:srgbClr val="D9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a:off x="1937385" y="1268730"/>
            <a:ext cx="462915" cy="462915"/>
          </a:xfrm>
          <a:prstGeom prst="triangle">
            <a:avLst/>
          </a:prstGeom>
          <a:solidFill>
            <a:srgbClr val="4B8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Isosceles Triangle 6"/>
          <p:cNvSpPr/>
          <p:nvPr/>
        </p:nvSpPr>
        <p:spPr>
          <a:xfrm>
            <a:off x="2400300" y="1405889"/>
            <a:ext cx="548640" cy="377190"/>
          </a:xfrm>
          <a:prstGeom prst="triangle">
            <a:avLst/>
          </a:prstGeom>
          <a:solidFill>
            <a:srgbClr val="2DA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rapezoid 7"/>
          <p:cNvSpPr/>
          <p:nvPr/>
        </p:nvSpPr>
        <p:spPr>
          <a:xfrm>
            <a:off x="2160270" y="1800225"/>
            <a:ext cx="445770" cy="120015"/>
          </a:xfrm>
          <a:prstGeom prst="trapezoid">
            <a:avLst/>
          </a:prstGeom>
          <a:solidFill>
            <a:srgbClr val="E99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3120390" y="1525905"/>
            <a:ext cx="291464" cy="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411854" y="1525905"/>
            <a:ext cx="0" cy="157734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411854" y="3103245"/>
            <a:ext cx="274321"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02869" y="2966085"/>
            <a:ext cx="1508760" cy="514350"/>
          </a:xfrm>
          <a:prstGeom prst="rect">
            <a:avLst/>
          </a:prstGeom>
          <a:noFill/>
        </p:spPr>
        <p:txBody>
          <a:bodyPr wrap="square" lIns="34290" rIns="34290" tIns="0" bIns="0" anchor="ctr">
            <a:spAutoFit/>
          </a:bodyPr>
          <a:lstStyle/>
          <a:p>
            <a:pPr algn="ctr">
              <a:spcBef>
                <a:spcPts val="0"/>
              </a:spcBef>
              <a:spcAft>
                <a:spcPts val="0"/>
              </a:spcAft>
              <a:defRPr sz="1848" b="1">
                <a:solidFill>
                  <a:srgbClr val="162D43"/>
                </a:solidFill>
                <a:latin typeface="Arial"/>
              </a:defRPr>
            </a:pPr>
            <a:r>
              <a:t>SafeAug 2</a:t>
            </a:r>
          </a:p>
        </p:txBody>
      </p:sp>
      <p:sp>
        <p:nvSpPr>
          <p:cNvPr id="13" name="Rectangle 12"/>
          <p:cNvSpPr/>
          <p:nvPr/>
        </p:nvSpPr>
        <p:spPr>
          <a:xfrm>
            <a:off x="1748789" y="2623185"/>
            <a:ext cx="1371600" cy="1080135"/>
          </a:xfrm>
          <a:prstGeom prst="rect">
            <a:avLst/>
          </a:prstGeom>
          <a:solidFill>
            <a:srgbClr val="C2DCF9"/>
          </a:solidFill>
          <a:ln w="12700">
            <a:solidFill>
              <a:srgbClr val="4B8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783080" y="3223260"/>
            <a:ext cx="1303020" cy="428625"/>
          </a:xfrm>
          <a:prstGeom prst="rect">
            <a:avLst/>
          </a:prstGeom>
          <a:solidFill>
            <a:srgbClr val="D9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sosceles Triangle 14"/>
          <p:cNvSpPr/>
          <p:nvPr/>
        </p:nvSpPr>
        <p:spPr>
          <a:xfrm>
            <a:off x="1937385" y="2897504"/>
            <a:ext cx="462915" cy="462915"/>
          </a:xfrm>
          <a:prstGeom prst="triangle">
            <a:avLst/>
          </a:prstGeom>
          <a:solidFill>
            <a:srgbClr val="4B8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Isosceles Triangle 15"/>
          <p:cNvSpPr/>
          <p:nvPr/>
        </p:nvSpPr>
        <p:spPr>
          <a:xfrm>
            <a:off x="2400300" y="3034665"/>
            <a:ext cx="548640" cy="377190"/>
          </a:xfrm>
          <a:prstGeom prst="triangle">
            <a:avLst/>
          </a:prstGeom>
          <a:solidFill>
            <a:srgbClr val="2DA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rapezoid 16"/>
          <p:cNvSpPr/>
          <p:nvPr/>
        </p:nvSpPr>
        <p:spPr>
          <a:xfrm>
            <a:off x="2160270" y="3429000"/>
            <a:ext cx="445770" cy="120015"/>
          </a:xfrm>
          <a:prstGeom prst="trapezoid">
            <a:avLst/>
          </a:prstGeom>
          <a:solidFill>
            <a:srgbClr val="E99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3120390" y="3154679"/>
            <a:ext cx="291464" cy="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411854" y="3103245"/>
            <a:ext cx="0" cy="51434"/>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11854" y="3103245"/>
            <a:ext cx="274321"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02869" y="4594859"/>
            <a:ext cx="1508760" cy="514350"/>
          </a:xfrm>
          <a:prstGeom prst="rect">
            <a:avLst/>
          </a:prstGeom>
          <a:noFill/>
        </p:spPr>
        <p:txBody>
          <a:bodyPr wrap="square" lIns="34290" rIns="34290" tIns="0" bIns="0" anchor="ctr">
            <a:spAutoFit/>
          </a:bodyPr>
          <a:lstStyle/>
          <a:p>
            <a:pPr algn="ctr">
              <a:spcBef>
                <a:spcPts val="0"/>
              </a:spcBef>
              <a:spcAft>
                <a:spcPts val="0"/>
              </a:spcAft>
              <a:defRPr sz="1848" b="1">
                <a:solidFill>
                  <a:srgbClr val="162D43"/>
                </a:solidFill>
                <a:latin typeface="Arial"/>
              </a:defRPr>
            </a:pPr>
            <a:r>
              <a:t>Clean</a:t>
            </a:r>
          </a:p>
        </p:txBody>
      </p:sp>
      <p:sp>
        <p:nvSpPr>
          <p:cNvPr id="22" name="Rectangle 21"/>
          <p:cNvSpPr/>
          <p:nvPr/>
        </p:nvSpPr>
        <p:spPr>
          <a:xfrm>
            <a:off x="1748789" y="4251959"/>
            <a:ext cx="1371600" cy="1080135"/>
          </a:xfrm>
          <a:prstGeom prst="rect">
            <a:avLst/>
          </a:prstGeom>
          <a:solidFill>
            <a:srgbClr val="C2DCF9"/>
          </a:solidFill>
          <a:ln w="12700">
            <a:solidFill>
              <a:srgbClr val="4B8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783080" y="4852034"/>
            <a:ext cx="1303020" cy="428625"/>
          </a:xfrm>
          <a:prstGeom prst="rect">
            <a:avLst/>
          </a:prstGeom>
          <a:solidFill>
            <a:srgbClr val="D9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Isosceles Triangle 23"/>
          <p:cNvSpPr/>
          <p:nvPr/>
        </p:nvSpPr>
        <p:spPr>
          <a:xfrm>
            <a:off x="1937385" y="4526280"/>
            <a:ext cx="462915" cy="462915"/>
          </a:xfrm>
          <a:prstGeom prst="triangle">
            <a:avLst/>
          </a:prstGeom>
          <a:solidFill>
            <a:srgbClr val="4B8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Isosceles Triangle 24"/>
          <p:cNvSpPr/>
          <p:nvPr/>
        </p:nvSpPr>
        <p:spPr>
          <a:xfrm>
            <a:off x="2400300" y="4663440"/>
            <a:ext cx="548640" cy="377190"/>
          </a:xfrm>
          <a:prstGeom prst="triangle">
            <a:avLst/>
          </a:prstGeom>
          <a:solidFill>
            <a:srgbClr val="2DA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rapezoid 25"/>
          <p:cNvSpPr/>
          <p:nvPr/>
        </p:nvSpPr>
        <p:spPr>
          <a:xfrm>
            <a:off x="2160270" y="5057775"/>
            <a:ext cx="445770" cy="120015"/>
          </a:xfrm>
          <a:prstGeom prst="trapezoid">
            <a:avLst/>
          </a:prstGeom>
          <a:solidFill>
            <a:srgbClr val="E99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3120390" y="4783455"/>
            <a:ext cx="291464" cy="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411854" y="3103245"/>
            <a:ext cx="0" cy="168021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411854" y="3103245"/>
            <a:ext cx="274321"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686175" y="908684"/>
            <a:ext cx="4543425" cy="4732020"/>
          </a:xfrm>
          <a:prstGeom prst="roundRect">
            <a:avLst>
              <a:gd name="adj" fmla="val 8000"/>
            </a:avLst>
          </a:prstGeom>
          <a:solidFill>
            <a:srgbClr val="FFFFFF"/>
          </a:solidFill>
          <a:ln w="1397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57625" y="960120"/>
            <a:ext cx="4200525" cy="445770"/>
          </a:xfrm>
          <a:prstGeom prst="rect">
            <a:avLst/>
          </a:prstGeom>
          <a:noFill/>
        </p:spPr>
        <p:txBody>
          <a:bodyPr wrap="square" lIns="34290" rIns="34290" tIns="0" bIns="0" anchor="ctr">
            <a:spAutoFit/>
          </a:bodyPr>
          <a:lstStyle/>
          <a:p>
            <a:pPr algn="l">
              <a:spcBef>
                <a:spcPts val="0"/>
              </a:spcBef>
              <a:spcAft>
                <a:spcPts val="0"/>
              </a:spcAft>
              <a:defRPr sz="2508" b="1">
                <a:solidFill>
                  <a:srgbClr val="41566A"/>
                </a:solidFill>
                <a:latin typeface="Georgia"/>
              </a:defRPr>
            </a:pPr>
            <a:r>
              <a:t>Shared visual backbone</a:t>
            </a:r>
          </a:p>
        </p:txBody>
      </p:sp>
      <p:sp>
        <p:nvSpPr>
          <p:cNvPr id="32" name="Trapezoid 31"/>
          <p:cNvSpPr/>
          <p:nvPr/>
        </p:nvSpPr>
        <p:spPr>
          <a:xfrm>
            <a:off x="3994784" y="1680210"/>
            <a:ext cx="1560195" cy="1320164"/>
          </a:xfrm>
          <a:prstGeom prst="trapezoid">
            <a:avLst/>
          </a:prstGeom>
          <a:solidFill>
            <a:srgbClr val="C2DCF9"/>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046220" y="1765935"/>
            <a:ext cx="1457325" cy="1148714"/>
          </a:xfrm>
          <a:prstGeom prst="rect">
            <a:avLst/>
          </a:prstGeom>
          <a:noFill/>
        </p:spPr>
        <p:txBody>
          <a:bodyPr wrap="square" lIns="34290" rIns="34290" tIns="0" bIns="0" anchor="ctr">
            <a:spAutoFit/>
          </a:bodyPr>
          <a:lstStyle/>
          <a:p>
            <a:pPr algn="ctr">
              <a:spcBef>
                <a:spcPts val="0"/>
              </a:spcBef>
              <a:spcAft>
                <a:spcPts val="0"/>
              </a:spcAft>
              <a:defRPr sz="2112" b="1">
                <a:solidFill>
                  <a:srgbClr val="162D43"/>
                </a:solidFill>
                <a:latin typeface="Arial"/>
              </a:defRPr>
            </a:pPr>
            <a:r>
              <a:t>CLIP</a:t>
            </a:r>
          </a:p>
          <a:p>
            <a:pPr algn="ctr">
              <a:spcBef>
                <a:spcPts val="0"/>
              </a:spcBef>
              <a:spcAft>
                <a:spcPts val="0"/>
              </a:spcAft>
              <a:defRPr sz="2112" b="1">
                <a:solidFill>
                  <a:srgbClr val="162D43"/>
                </a:solidFill>
                <a:latin typeface="Arial"/>
              </a:defRPr>
            </a:pPr>
            <a:r>
              <a:t>ViT-L/14</a:t>
            </a:r>
          </a:p>
        </p:txBody>
      </p:sp>
      <p:grpSp>
        <p:nvGrpSpPr>
          <p:cNvPr id="34" name="Group 33"/>
          <p:cNvGrpSpPr/>
          <p:nvPr/>
        </p:nvGrpSpPr>
        <p:grpSpPr>
          <a:xfrm>
            <a:off x="5897880" y="1920240"/>
            <a:ext cx="1148713" cy="497204"/>
            <a:chOff x="5897880" y="1920240"/>
            <a:chExt cx="1148713" cy="497204"/>
          </a:xfrm>
        </p:grpSpPr>
        <p:sp>
          <p:nvSpPr>
            <p:cNvPr id="35" name="Rectangle 34"/>
            <p:cNvSpPr/>
            <p:nvPr/>
          </p:nvSpPr>
          <p:spPr>
            <a:xfrm>
              <a:off x="6052184" y="1920240"/>
              <a:ext cx="994409" cy="342900"/>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975032" y="1997392"/>
              <a:ext cx="994409" cy="342900"/>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897880" y="2074544"/>
              <a:ext cx="994409" cy="342900"/>
            </a:xfrm>
            <a:prstGeom prst="rect">
              <a:avLst/>
            </a:prstGeom>
            <a:solidFill>
              <a:srgbClr val="4B8FDA"/>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38" name="TextBox 37"/>
          <p:cNvSpPr txBox="1"/>
          <p:nvPr/>
        </p:nvSpPr>
        <p:spPr>
          <a:xfrm>
            <a:off x="5589270" y="1560195"/>
            <a:ext cx="2228850" cy="411479"/>
          </a:xfrm>
          <a:prstGeom prst="rect">
            <a:avLst/>
          </a:prstGeom>
          <a:noFill/>
        </p:spPr>
        <p:txBody>
          <a:bodyPr wrap="square" lIns="34290" rIns="34290" tIns="0" bIns="0" anchor="ctr">
            <a:spAutoFit/>
          </a:bodyPr>
          <a:lstStyle/>
          <a:p>
            <a:pPr algn="ctr">
              <a:spcBef>
                <a:spcPts val="0"/>
              </a:spcBef>
              <a:spcAft>
                <a:spcPts val="0"/>
              </a:spcAft>
              <a:defRPr sz="1584" b="0">
                <a:solidFill>
                  <a:srgbClr val="162D43"/>
                </a:solidFill>
                <a:latin typeface="Arial"/>
              </a:defRPr>
            </a:pPr>
            <a:r>
              <a:t>Global · 768-D</a:t>
            </a:r>
          </a:p>
        </p:txBody>
      </p:sp>
      <p:sp>
        <p:nvSpPr>
          <p:cNvPr id="39" name="Trapezoid 38"/>
          <p:cNvSpPr/>
          <p:nvPr/>
        </p:nvSpPr>
        <p:spPr>
          <a:xfrm>
            <a:off x="3994784" y="3549014"/>
            <a:ext cx="1560195" cy="1337310"/>
          </a:xfrm>
          <a:prstGeom prst="trapezoid">
            <a:avLst/>
          </a:prstGeom>
          <a:solidFill>
            <a:srgbClr val="D9F1EE"/>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046220" y="3634739"/>
            <a:ext cx="1457325" cy="1165860"/>
          </a:xfrm>
          <a:prstGeom prst="rect">
            <a:avLst/>
          </a:prstGeom>
          <a:noFill/>
        </p:spPr>
        <p:txBody>
          <a:bodyPr wrap="square" lIns="34290" rIns="34290" tIns="0" bIns="0" anchor="ctr">
            <a:spAutoFit/>
          </a:bodyPr>
          <a:lstStyle/>
          <a:p>
            <a:pPr algn="ctr">
              <a:spcBef>
                <a:spcPts val="0"/>
              </a:spcBef>
              <a:spcAft>
                <a:spcPts val="0"/>
              </a:spcAft>
              <a:defRPr sz="2112" b="1">
                <a:solidFill>
                  <a:srgbClr val="162D43"/>
                </a:solidFill>
                <a:latin typeface="Arial"/>
              </a:defRPr>
            </a:pPr>
            <a:r>
              <a:t>ResNet-50</a:t>
            </a:r>
          </a:p>
          <a:p>
            <a:pPr algn="ctr">
              <a:spcBef>
                <a:spcPts val="0"/>
              </a:spcBef>
              <a:spcAft>
                <a:spcPts val="0"/>
              </a:spcAft>
              <a:defRPr sz="2112" b="1">
                <a:solidFill>
                  <a:srgbClr val="162D43"/>
                </a:solidFill>
                <a:latin typeface="Arial"/>
              </a:defRPr>
            </a:pPr>
            <a:r>
              <a:t>layer4</a:t>
            </a:r>
          </a:p>
        </p:txBody>
      </p:sp>
      <p:grpSp>
        <p:nvGrpSpPr>
          <p:cNvPr id="41" name="Group 40"/>
          <p:cNvGrpSpPr/>
          <p:nvPr/>
        </p:nvGrpSpPr>
        <p:grpSpPr>
          <a:xfrm>
            <a:off x="5915025" y="3823334"/>
            <a:ext cx="898397" cy="812672"/>
            <a:chOff x="5915025" y="3823334"/>
            <a:chExt cx="898397" cy="812672"/>
          </a:xfrm>
        </p:grpSpPr>
        <p:sp>
          <p:nvSpPr>
            <p:cNvPr id="42" name="Rectangle 41"/>
            <p:cNvSpPr/>
            <p:nvPr/>
          </p:nvSpPr>
          <p:spPr>
            <a:xfrm>
              <a:off x="5915025" y="3823334"/>
              <a:ext cx="171450" cy="154304"/>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096762" y="3823334"/>
              <a:ext cx="171450" cy="154304"/>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78499" y="3823334"/>
              <a:ext cx="171450" cy="154304"/>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60236" y="3823334"/>
              <a:ext cx="171450" cy="154304"/>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641972" y="3823334"/>
              <a:ext cx="171450" cy="154304"/>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915025" y="3987927"/>
              <a:ext cx="171450" cy="154304"/>
            </a:xfrm>
            <a:prstGeom prst="rect">
              <a:avLst/>
            </a:prstGeom>
            <a:solidFill>
              <a:srgbClr val="2D9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096762" y="3987927"/>
              <a:ext cx="171450" cy="154304"/>
            </a:xfrm>
            <a:prstGeom prst="rect">
              <a:avLst/>
            </a:prstGeom>
            <a:solidFill>
              <a:srgbClr val="8BD3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278499" y="3987927"/>
              <a:ext cx="171450" cy="154304"/>
            </a:xfrm>
            <a:prstGeom prst="rect">
              <a:avLst/>
            </a:prstGeom>
            <a:solidFill>
              <a:srgbClr val="2D9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460236" y="3987927"/>
              <a:ext cx="171450" cy="154304"/>
            </a:xfrm>
            <a:prstGeom prst="rect">
              <a:avLst/>
            </a:prstGeom>
            <a:solidFill>
              <a:srgbClr val="8BD3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641972" y="3987927"/>
              <a:ext cx="171450" cy="154304"/>
            </a:xfrm>
            <a:prstGeom prst="rect">
              <a:avLst/>
            </a:prstGeom>
            <a:solidFill>
              <a:srgbClr val="2D9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915025" y="4152519"/>
              <a:ext cx="171450" cy="154304"/>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096762" y="4152519"/>
              <a:ext cx="171450" cy="154304"/>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278499" y="4152519"/>
              <a:ext cx="171450" cy="154304"/>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460236" y="4152519"/>
              <a:ext cx="171450" cy="154304"/>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641972" y="4152519"/>
              <a:ext cx="171450" cy="154304"/>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915025" y="4317111"/>
              <a:ext cx="171450" cy="154304"/>
            </a:xfrm>
            <a:prstGeom prst="rect">
              <a:avLst/>
            </a:prstGeom>
            <a:solidFill>
              <a:srgbClr val="8BD3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096762" y="4317111"/>
              <a:ext cx="171450" cy="154304"/>
            </a:xfrm>
            <a:prstGeom prst="rect">
              <a:avLst/>
            </a:prstGeom>
            <a:solidFill>
              <a:srgbClr val="2D9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278499" y="4317111"/>
              <a:ext cx="171450" cy="154304"/>
            </a:xfrm>
            <a:prstGeom prst="rect">
              <a:avLst/>
            </a:prstGeom>
            <a:solidFill>
              <a:srgbClr val="8BD3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460236" y="4317111"/>
              <a:ext cx="171450" cy="154304"/>
            </a:xfrm>
            <a:prstGeom prst="rect">
              <a:avLst/>
            </a:prstGeom>
            <a:solidFill>
              <a:srgbClr val="2D9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641972" y="4317111"/>
              <a:ext cx="171450" cy="154304"/>
            </a:xfrm>
            <a:prstGeom prst="rect">
              <a:avLst/>
            </a:prstGeom>
            <a:solidFill>
              <a:srgbClr val="8BD3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915025" y="4481702"/>
              <a:ext cx="171450" cy="154304"/>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096762" y="4481702"/>
              <a:ext cx="171450" cy="154304"/>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278499" y="4481702"/>
              <a:ext cx="171450" cy="154304"/>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460236" y="4481702"/>
              <a:ext cx="171450" cy="154304"/>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641972" y="4481702"/>
              <a:ext cx="171450" cy="154304"/>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67" name="TextBox 66"/>
          <p:cNvSpPr txBox="1"/>
          <p:nvPr/>
        </p:nvSpPr>
        <p:spPr>
          <a:xfrm>
            <a:off x="5503545" y="4783455"/>
            <a:ext cx="2434590" cy="394334"/>
          </a:xfrm>
          <a:prstGeom prst="rect">
            <a:avLst/>
          </a:prstGeom>
          <a:noFill/>
        </p:spPr>
        <p:txBody>
          <a:bodyPr wrap="square" lIns="34290" rIns="34290" tIns="0" bIns="0" anchor="ctr">
            <a:spAutoFit/>
          </a:bodyPr>
          <a:lstStyle/>
          <a:p>
            <a:pPr algn="ctr">
              <a:spcBef>
                <a:spcPts val="0"/>
              </a:spcBef>
              <a:spcAft>
                <a:spcPts val="0"/>
              </a:spcAft>
              <a:defRPr sz="1584" b="0">
                <a:solidFill>
                  <a:srgbClr val="162D43"/>
                </a:solidFill>
                <a:latin typeface="Arial"/>
              </a:defRPr>
            </a:pPr>
            <a:r>
              <a:t>7 × 7 × 2048</a:t>
            </a:r>
          </a:p>
        </p:txBody>
      </p:sp>
      <p:sp>
        <p:nvSpPr>
          <p:cNvPr id="68" name="Rounded Rectangle 67"/>
          <p:cNvSpPr/>
          <p:nvPr/>
        </p:nvSpPr>
        <p:spPr>
          <a:xfrm>
            <a:off x="7218045" y="2726054"/>
            <a:ext cx="788669" cy="1200150"/>
          </a:xfrm>
          <a:prstGeom prst="roundRect">
            <a:avLst>
              <a:gd name="adj" fmla="val 8000"/>
            </a:avLst>
          </a:prstGeom>
          <a:solidFill>
            <a:srgbClr val="F3F6F9"/>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269479" y="2760345"/>
            <a:ext cx="685800" cy="1131570"/>
          </a:xfrm>
          <a:prstGeom prst="rect">
            <a:avLst/>
          </a:prstGeom>
          <a:noFill/>
        </p:spPr>
        <p:txBody>
          <a:bodyPr wrap="square" lIns="34290" rIns="34290" tIns="0" bIns="0" anchor="ctr">
            <a:spAutoFit/>
          </a:bodyPr>
          <a:lstStyle/>
          <a:p>
            <a:pPr algn="ctr">
              <a:spcBef>
                <a:spcPts val="0"/>
              </a:spcBef>
              <a:spcAft>
                <a:spcPts val="0"/>
              </a:spcAft>
              <a:defRPr sz="1452" b="0">
                <a:solidFill>
                  <a:srgbClr val="162D43"/>
                </a:solidFill>
                <a:latin typeface="Arial"/>
              </a:defRPr>
            </a:pPr>
            <a:r>
              <a:t>F</a:t>
            </a:r>
          </a:p>
          <a:p>
            <a:pPr algn="ctr">
              <a:spcBef>
                <a:spcPts val="0"/>
              </a:spcBef>
              <a:spcAft>
                <a:spcPts val="0"/>
              </a:spcAft>
              <a:defRPr sz="1452" b="0">
                <a:solidFill>
                  <a:srgbClr val="162D43"/>
                </a:solidFill>
                <a:latin typeface="Arial"/>
              </a:defRPr>
            </a:pPr>
            <a:r>
              <a:t>u</a:t>
            </a:r>
          </a:p>
          <a:p>
            <a:pPr algn="ctr">
              <a:spcBef>
                <a:spcPts val="0"/>
              </a:spcBef>
              <a:spcAft>
                <a:spcPts val="0"/>
              </a:spcAft>
              <a:defRPr sz="1452" b="0">
                <a:solidFill>
                  <a:srgbClr val="162D43"/>
                </a:solidFill>
                <a:latin typeface="Arial"/>
              </a:defRPr>
            </a:pPr>
            <a:r>
              <a:t>s</a:t>
            </a:r>
          </a:p>
          <a:p>
            <a:pPr algn="ctr">
              <a:spcBef>
                <a:spcPts val="0"/>
              </a:spcBef>
              <a:spcAft>
                <a:spcPts val="0"/>
              </a:spcAft>
              <a:defRPr sz="1452" b="0">
                <a:solidFill>
                  <a:srgbClr val="162D43"/>
                </a:solidFill>
                <a:latin typeface="Arial"/>
              </a:defRPr>
            </a:pPr>
            <a:r>
              <a:t>i</a:t>
            </a:r>
          </a:p>
          <a:p>
            <a:pPr algn="ctr">
              <a:spcBef>
                <a:spcPts val="0"/>
              </a:spcBef>
              <a:spcAft>
                <a:spcPts val="0"/>
              </a:spcAft>
              <a:defRPr sz="1452" b="0">
                <a:solidFill>
                  <a:srgbClr val="162D43"/>
                </a:solidFill>
                <a:latin typeface="Arial"/>
              </a:defRPr>
            </a:pPr>
            <a:r>
              <a:t>o</a:t>
            </a:r>
          </a:p>
          <a:p>
            <a:pPr algn="ctr">
              <a:spcBef>
                <a:spcPts val="0"/>
              </a:spcBef>
              <a:spcAft>
                <a:spcPts val="0"/>
              </a:spcAft>
              <a:defRPr sz="1452" b="0">
                <a:solidFill>
                  <a:srgbClr val="162D43"/>
                </a:solidFill>
                <a:latin typeface="Arial"/>
              </a:defRPr>
            </a:pPr>
            <a:r>
              <a:t>n</a:t>
            </a:r>
          </a:p>
        </p:txBody>
      </p:sp>
      <p:cxnSp>
        <p:nvCxnSpPr>
          <p:cNvPr id="70" name="Connector 69"/>
          <p:cNvCxnSpPr/>
          <p:nvPr/>
        </p:nvCxnSpPr>
        <p:spPr>
          <a:xfrm>
            <a:off x="5554980" y="2348865"/>
            <a:ext cx="257175"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6892290" y="2263140"/>
            <a:ext cx="188594" cy="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7080884" y="2263140"/>
            <a:ext cx="0" cy="75438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7080884" y="3017520"/>
            <a:ext cx="137161"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5554980" y="4200525"/>
            <a:ext cx="27432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6840854" y="4200525"/>
            <a:ext cx="240030" cy="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7080884" y="3634739"/>
            <a:ext cx="0" cy="565786"/>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7080884" y="3634739"/>
            <a:ext cx="137161"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8006715" y="3343275"/>
            <a:ext cx="497204"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grpSp>
        <p:nvGrpSpPr>
          <p:cNvPr id="79" name="Group 78"/>
          <p:cNvGrpSpPr/>
          <p:nvPr/>
        </p:nvGrpSpPr>
        <p:grpSpPr>
          <a:xfrm>
            <a:off x="8572500" y="2931795"/>
            <a:ext cx="462914" cy="908685"/>
            <a:chOff x="8572500" y="2931795"/>
            <a:chExt cx="462914" cy="908685"/>
          </a:xfrm>
        </p:grpSpPr>
        <p:sp>
          <p:nvSpPr>
            <p:cNvPr id="80" name="Rectangle 79"/>
            <p:cNvSpPr/>
            <p:nvPr/>
          </p:nvSpPr>
          <p:spPr>
            <a:xfrm>
              <a:off x="8726805" y="2931795"/>
              <a:ext cx="308609" cy="754380"/>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8649652" y="3008947"/>
              <a:ext cx="308609" cy="754380"/>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572500" y="3086100"/>
              <a:ext cx="308609" cy="754380"/>
            </a:xfrm>
            <a:prstGeom prst="rect">
              <a:avLst/>
            </a:prstGeom>
            <a:solidFill>
              <a:srgbClr val="4B8FDA"/>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83" name="TextBox 82"/>
          <p:cNvSpPr txBox="1"/>
          <p:nvPr/>
        </p:nvSpPr>
        <p:spPr>
          <a:xfrm>
            <a:off x="8401050" y="2486025"/>
            <a:ext cx="754380" cy="428625"/>
          </a:xfrm>
          <a:prstGeom prst="rect">
            <a:avLst/>
          </a:prstGeom>
          <a:noFill/>
        </p:spPr>
        <p:txBody>
          <a:bodyPr wrap="square" lIns="34290" rIns="34290" tIns="0" bIns="0" anchor="ctr">
            <a:spAutoFit/>
          </a:bodyPr>
          <a:lstStyle/>
          <a:p>
            <a:pPr algn="ctr">
              <a:spcBef>
                <a:spcPts val="0"/>
              </a:spcBef>
              <a:spcAft>
                <a:spcPts val="0"/>
              </a:spcAft>
              <a:defRPr sz="1980" b="1">
                <a:solidFill>
                  <a:srgbClr val="162D43"/>
                </a:solidFill>
                <a:latin typeface="Arial"/>
              </a:defRPr>
            </a:pPr>
            <a:r>
              <a:t>z</a:t>
            </a:r>
          </a:p>
        </p:txBody>
      </p:sp>
      <p:sp>
        <p:nvSpPr>
          <p:cNvPr id="84" name="TextBox 83"/>
          <p:cNvSpPr txBox="1"/>
          <p:nvPr/>
        </p:nvSpPr>
        <p:spPr>
          <a:xfrm>
            <a:off x="9292590" y="685800"/>
            <a:ext cx="6600825" cy="428625"/>
          </a:xfrm>
          <a:prstGeom prst="rect">
            <a:avLst/>
          </a:prstGeom>
          <a:noFill/>
        </p:spPr>
        <p:txBody>
          <a:bodyPr wrap="square" lIns="34290" rIns="34290" tIns="0" bIns="0" anchor="ctr">
            <a:spAutoFit/>
          </a:bodyPr>
          <a:lstStyle/>
          <a:p>
            <a:pPr algn="ctr">
              <a:spcBef>
                <a:spcPts val="0"/>
              </a:spcBef>
              <a:spcAft>
                <a:spcPts val="0"/>
              </a:spcAft>
              <a:defRPr sz="1584" b="1">
                <a:solidFill>
                  <a:srgbClr val="9262C9"/>
                </a:solidFill>
                <a:latin typeface="Arial"/>
              </a:defRPr>
            </a:pPr>
            <a:r>
              <a:t>Shared P_Q / D_Q across augmented views</a:t>
            </a:r>
          </a:p>
        </p:txBody>
      </p:sp>
      <p:sp>
        <p:nvSpPr>
          <p:cNvPr id="85" name="TextBox 84"/>
          <p:cNvSpPr txBox="1"/>
          <p:nvPr/>
        </p:nvSpPr>
        <p:spPr>
          <a:xfrm>
            <a:off x="9172575" y="1337310"/>
            <a:ext cx="634365" cy="497204"/>
          </a:xfrm>
          <a:prstGeom prst="rect">
            <a:avLst/>
          </a:prstGeom>
          <a:noFill/>
        </p:spPr>
        <p:txBody>
          <a:bodyPr wrap="square" lIns="34290" rIns="34290" tIns="0" bIns="0" anchor="ctr">
            <a:spAutoFit/>
          </a:bodyPr>
          <a:lstStyle/>
          <a:p>
            <a:pPr algn="ctr">
              <a:spcBef>
                <a:spcPts val="0"/>
              </a:spcBef>
              <a:spcAft>
                <a:spcPts val="0"/>
              </a:spcAft>
              <a:defRPr sz="1848" b="0">
                <a:solidFill>
                  <a:srgbClr val="162D43"/>
                </a:solidFill>
                <a:latin typeface="Arial"/>
              </a:defRPr>
            </a:pPr>
            <a:r>
              <a:t>z₁</a:t>
            </a:r>
          </a:p>
        </p:txBody>
      </p:sp>
      <p:sp>
        <p:nvSpPr>
          <p:cNvPr id="86" name="Trapezoid 85"/>
          <p:cNvSpPr/>
          <p:nvPr/>
        </p:nvSpPr>
        <p:spPr>
          <a:xfrm>
            <a:off x="9978390" y="1337310"/>
            <a:ext cx="720090" cy="651510"/>
          </a:xfrm>
          <a:prstGeom prst="trapezoid">
            <a:avLst/>
          </a:prstGeom>
          <a:solidFill>
            <a:srgbClr val="C2DCF9"/>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9926955" y="1371600"/>
            <a:ext cx="822959" cy="582930"/>
          </a:xfrm>
          <a:prstGeom prst="rect">
            <a:avLst/>
          </a:prstGeom>
          <a:noFill/>
        </p:spPr>
        <p:txBody>
          <a:bodyPr wrap="square" lIns="34290" rIns="34290" tIns="0" bIns="0" anchor="ctr">
            <a:spAutoFit/>
          </a:bodyPr>
          <a:lstStyle/>
          <a:p>
            <a:pPr algn="ctr">
              <a:spcBef>
                <a:spcPts val="0"/>
              </a:spcBef>
              <a:spcAft>
                <a:spcPts val="0"/>
              </a:spcAft>
              <a:defRPr sz="1716" b="1">
                <a:solidFill>
                  <a:srgbClr val="162D43"/>
                </a:solidFill>
                <a:latin typeface="Arial"/>
              </a:defRPr>
            </a:pPr>
            <a:r>
              <a:t>P_Q</a:t>
            </a:r>
          </a:p>
        </p:txBody>
      </p:sp>
      <p:cxnSp>
        <p:nvCxnSpPr>
          <p:cNvPr id="88" name="Connector 87"/>
          <p:cNvCxnSpPr/>
          <p:nvPr/>
        </p:nvCxnSpPr>
        <p:spPr>
          <a:xfrm>
            <a:off x="9806940" y="1663064"/>
            <a:ext cx="17145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grpSp>
        <p:nvGrpSpPr>
          <p:cNvPr id="89" name="Group 88"/>
          <p:cNvGrpSpPr/>
          <p:nvPr/>
        </p:nvGrpSpPr>
        <p:grpSpPr>
          <a:xfrm>
            <a:off x="11041380" y="1337310"/>
            <a:ext cx="1011555" cy="411479"/>
            <a:chOff x="11041380" y="1337310"/>
            <a:chExt cx="1011555" cy="411479"/>
          </a:xfrm>
        </p:grpSpPr>
        <p:sp>
          <p:nvSpPr>
            <p:cNvPr id="90" name="Rectangle 89"/>
            <p:cNvSpPr/>
            <p:nvPr/>
          </p:nvSpPr>
          <p:spPr>
            <a:xfrm>
              <a:off x="11195685" y="1337310"/>
              <a:ext cx="857250" cy="257175"/>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11118532" y="1414462"/>
              <a:ext cx="857250" cy="257175"/>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1041380" y="1491614"/>
              <a:ext cx="857250" cy="257175"/>
            </a:xfrm>
            <a:prstGeom prst="rect">
              <a:avLst/>
            </a:prstGeom>
            <a:solidFill>
              <a:srgbClr val="4B8FDA"/>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cxnSp>
        <p:nvCxnSpPr>
          <p:cNvPr id="93" name="Connector 92"/>
          <p:cNvCxnSpPr/>
          <p:nvPr/>
        </p:nvCxnSpPr>
        <p:spPr>
          <a:xfrm>
            <a:off x="10698480" y="1663064"/>
            <a:ext cx="30861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94" name="Trapezoid 93"/>
          <p:cNvSpPr/>
          <p:nvPr/>
        </p:nvSpPr>
        <p:spPr>
          <a:xfrm>
            <a:off x="12327255" y="1337310"/>
            <a:ext cx="720090" cy="651510"/>
          </a:xfrm>
          <a:prstGeom prst="trapezoid">
            <a:avLst/>
          </a:prstGeom>
          <a:solidFill>
            <a:srgbClr val="FFF0DD"/>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2275819" y="1371600"/>
            <a:ext cx="822959" cy="582930"/>
          </a:xfrm>
          <a:prstGeom prst="rect">
            <a:avLst/>
          </a:prstGeom>
          <a:noFill/>
        </p:spPr>
        <p:txBody>
          <a:bodyPr wrap="square" lIns="34290" rIns="34290" tIns="0" bIns="0" anchor="ctr">
            <a:spAutoFit/>
          </a:bodyPr>
          <a:lstStyle/>
          <a:p>
            <a:pPr algn="ctr">
              <a:spcBef>
                <a:spcPts val="0"/>
              </a:spcBef>
              <a:spcAft>
                <a:spcPts val="0"/>
              </a:spcAft>
              <a:defRPr sz="1716" b="1">
                <a:solidFill>
                  <a:srgbClr val="162D43"/>
                </a:solidFill>
                <a:latin typeface="Arial"/>
              </a:defRPr>
            </a:pPr>
            <a:r>
              <a:t>D_Q</a:t>
            </a:r>
          </a:p>
        </p:txBody>
      </p:sp>
      <p:cxnSp>
        <p:nvCxnSpPr>
          <p:cNvPr id="96" name="Connector 95"/>
          <p:cNvCxnSpPr/>
          <p:nvPr/>
        </p:nvCxnSpPr>
        <p:spPr>
          <a:xfrm>
            <a:off x="11932919" y="1663064"/>
            <a:ext cx="394336"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grpSp>
        <p:nvGrpSpPr>
          <p:cNvPr id="97" name="Group 96"/>
          <p:cNvGrpSpPr/>
          <p:nvPr/>
        </p:nvGrpSpPr>
        <p:grpSpPr>
          <a:xfrm>
            <a:off x="13355955" y="1320164"/>
            <a:ext cx="702944" cy="445771"/>
            <a:chOff x="13355955" y="1320164"/>
            <a:chExt cx="702944" cy="445771"/>
          </a:xfrm>
        </p:grpSpPr>
        <p:sp>
          <p:nvSpPr>
            <p:cNvPr id="98" name="Rectangle 97"/>
            <p:cNvSpPr/>
            <p:nvPr/>
          </p:nvSpPr>
          <p:spPr>
            <a:xfrm>
              <a:off x="13510259" y="1320164"/>
              <a:ext cx="548640" cy="291465"/>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3433107" y="1397317"/>
              <a:ext cx="548640" cy="291465"/>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3355955" y="1474470"/>
              <a:ext cx="548640" cy="291465"/>
            </a:xfrm>
            <a:prstGeom prst="rect">
              <a:avLst/>
            </a:prstGeom>
            <a:solidFill>
              <a:srgbClr val="4B8FDA"/>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cxnSp>
        <p:nvCxnSpPr>
          <p:cNvPr id="101" name="Connector 100"/>
          <p:cNvCxnSpPr/>
          <p:nvPr/>
        </p:nvCxnSpPr>
        <p:spPr>
          <a:xfrm>
            <a:off x="13047344" y="1663064"/>
            <a:ext cx="274321"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9172575" y="2948940"/>
            <a:ext cx="634365" cy="497204"/>
          </a:xfrm>
          <a:prstGeom prst="rect">
            <a:avLst/>
          </a:prstGeom>
          <a:noFill/>
        </p:spPr>
        <p:txBody>
          <a:bodyPr wrap="square" lIns="34290" rIns="34290" tIns="0" bIns="0" anchor="ctr">
            <a:spAutoFit/>
          </a:bodyPr>
          <a:lstStyle/>
          <a:p>
            <a:pPr algn="ctr">
              <a:spcBef>
                <a:spcPts val="0"/>
              </a:spcBef>
              <a:spcAft>
                <a:spcPts val="0"/>
              </a:spcAft>
              <a:defRPr sz="1848" b="0">
                <a:solidFill>
                  <a:srgbClr val="162D43"/>
                </a:solidFill>
                <a:latin typeface="Arial"/>
              </a:defRPr>
            </a:pPr>
            <a:r>
              <a:t>z₂</a:t>
            </a:r>
          </a:p>
        </p:txBody>
      </p:sp>
      <p:sp>
        <p:nvSpPr>
          <p:cNvPr id="103" name="Trapezoid 102"/>
          <p:cNvSpPr/>
          <p:nvPr/>
        </p:nvSpPr>
        <p:spPr>
          <a:xfrm>
            <a:off x="9978390" y="2948940"/>
            <a:ext cx="720090" cy="651510"/>
          </a:xfrm>
          <a:prstGeom prst="trapezoid">
            <a:avLst/>
          </a:prstGeom>
          <a:solidFill>
            <a:srgbClr val="C2DCF9"/>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9926955" y="2983229"/>
            <a:ext cx="822959" cy="582930"/>
          </a:xfrm>
          <a:prstGeom prst="rect">
            <a:avLst/>
          </a:prstGeom>
          <a:noFill/>
        </p:spPr>
        <p:txBody>
          <a:bodyPr wrap="square" lIns="34290" rIns="34290" tIns="0" bIns="0" anchor="ctr">
            <a:spAutoFit/>
          </a:bodyPr>
          <a:lstStyle/>
          <a:p>
            <a:pPr algn="ctr">
              <a:spcBef>
                <a:spcPts val="0"/>
              </a:spcBef>
              <a:spcAft>
                <a:spcPts val="0"/>
              </a:spcAft>
              <a:defRPr sz="1716" b="1">
                <a:solidFill>
                  <a:srgbClr val="162D43"/>
                </a:solidFill>
                <a:latin typeface="Arial"/>
              </a:defRPr>
            </a:pPr>
            <a:r>
              <a:t>P_Q</a:t>
            </a:r>
          </a:p>
        </p:txBody>
      </p:sp>
      <p:cxnSp>
        <p:nvCxnSpPr>
          <p:cNvPr id="105" name="Connector 104"/>
          <p:cNvCxnSpPr/>
          <p:nvPr/>
        </p:nvCxnSpPr>
        <p:spPr>
          <a:xfrm>
            <a:off x="9806940" y="3274695"/>
            <a:ext cx="17145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grpSp>
        <p:nvGrpSpPr>
          <p:cNvPr id="106" name="Group 105"/>
          <p:cNvGrpSpPr/>
          <p:nvPr/>
        </p:nvGrpSpPr>
        <p:grpSpPr>
          <a:xfrm>
            <a:off x="11041380" y="2948940"/>
            <a:ext cx="1011555" cy="411480"/>
            <a:chOff x="11041380" y="2948940"/>
            <a:chExt cx="1011555" cy="411480"/>
          </a:xfrm>
        </p:grpSpPr>
        <p:sp>
          <p:nvSpPr>
            <p:cNvPr id="107" name="Rectangle 106"/>
            <p:cNvSpPr/>
            <p:nvPr/>
          </p:nvSpPr>
          <p:spPr>
            <a:xfrm>
              <a:off x="11195685" y="2948940"/>
              <a:ext cx="857250" cy="257175"/>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1118532" y="3026092"/>
              <a:ext cx="857250" cy="257175"/>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1041380" y="3103245"/>
              <a:ext cx="857250" cy="257175"/>
            </a:xfrm>
            <a:prstGeom prst="rect">
              <a:avLst/>
            </a:prstGeom>
            <a:solidFill>
              <a:srgbClr val="4B8FDA"/>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cxnSp>
        <p:nvCxnSpPr>
          <p:cNvPr id="110" name="Connector 109"/>
          <p:cNvCxnSpPr/>
          <p:nvPr/>
        </p:nvCxnSpPr>
        <p:spPr>
          <a:xfrm>
            <a:off x="10698480" y="3274695"/>
            <a:ext cx="30861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111" name="Trapezoid 110"/>
          <p:cNvSpPr/>
          <p:nvPr/>
        </p:nvSpPr>
        <p:spPr>
          <a:xfrm>
            <a:off x="12327255" y="2948940"/>
            <a:ext cx="720090" cy="651510"/>
          </a:xfrm>
          <a:prstGeom prst="trapezoid">
            <a:avLst/>
          </a:prstGeom>
          <a:solidFill>
            <a:srgbClr val="FFF0DD"/>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2275819" y="2983229"/>
            <a:ext cx="822959" cy="582930"/>
          </a:xfrm>
          <a:prstGeom prst="rect">
            <a:avLst/>
          </a:prstGeom>
          <a:noFill/>
        </p:spPr>
        <p:txBody>
          <a:bodyPr wrap="square" lIns="34290" rIns="34290" tIns="0" bIns="0" anchor="ctr">
            <a:spAutoFit/>
          </a:bodyPr>
          <a:lstStyle/>
          <a:p>
            <a:pPr algn="ctr">
              <a:spcBef>
                <a:spcPts val="0"/>
              </a:spcBef>
              <a:spcAft>
                <a:spcPts val="0"/>
              </a:spcAft>
              <a:defRPr sz="1716" b="1">
                <a:solidFill>
                  <a:srgbClr val="162D43"/>
                </a:solidFill>
                <a:latin typeface="Arial"/>
              </a:defRPr>
            </a:pPr>
            <a:r>
              <a:t>D_Q</a:t>
            </a:r>
          </a:p>
        </p:txBody>
      </p:sp>
      <p:cxnSp>
        <p:nvCxnSpPr>
          <p:cNvPr id="113" name="Connector 112"/>
          <p:cNvCxnSpPr/>
          <p:nvPr/>
        </p:nvCxnSpPr>
        <p:spPr>
          <a:xfrm>
            <a:off x="11932919" y="3274695"/>
            <a:ext cx="394336"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grpSp>
        <p:nvGrpSpPr>
          <p:cNvPr id="114" name="Group 113"/>
          <p:cNvGrpSpPr/>
          <p:nvPr/>
        </p:nvGrpSpPr>
        <p:grpSpPr>
          <a:xfrm>
            <a:off x="13355955" y="2931795"/>
            <a:ext cx="702944" cy="445770"/>
            <a:chOff x="13355955" y="2931795"/>
            <a:chExt cx="702944" cy="445770"/>
          </a:xfrm>
        </p:grpSpPr>
        <p:sp>
          <p:nvSpPr>
            <p:cNvPr id="115" name="Rectangle 114"/>
            <p:cNvSpPr/>
            <p:nvPr/>
          </p:nvSpPr>
          <p:spPr>
            <a:xfrm>
              <a:off x="13510259" y="2931795"/>
              <a:ext cx="548640" cy="291465"/>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3433107" y="3008947"/>
              <a:ext cx="548640" cy="291465"/>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3355955" y="3086100"/>
              <a:ext cx="548640" cy="291465"/>
            </a:xfrm>
            <a:prstGeom prst="rect">
              <a:avLst/>
            </a:prstGeom>
            <a:solidFill>
              <a:srgbClr val="4B8FDA"/>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cxnSp>
        <p:nvCxnSpPr>
          <p:cNvPr id="118" name="Connector 117"/>
          <p:cNvCxnSpPr/>
          <p:nvPr/>
        </p:nvCxnSpPr>
        <p:spPr>
          <a:xfrm>
            <a:off x="13047344" y="3274695"/>
            <a:ext cx="274321"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119" name="TextBox 118"/>
          <p:cNvSpPr txBox="1"/>
          <p:nvPr/>
        </p:nvSpPr>
        <p:spPr>
          <a:xfrm>
            <a:off x="9172575" y="4560570"/>
            <a:ext cx="634365" cy="497204"/>
          </a:xfrm>
          <a:prstGeom prst="rect">
            <a:avLst/>
          </a:prstGeom>
          <a:noFill/>
        </p:spPr>
        <p:txBody>
          <a:bodyPr wrap="square" lIns="34290" rIns="34290" tIns="0" bIns="0" anchor="ctr">
            <a:spAutoFit/>
          </a:bodyPr>
          <a:lstStyle/>
          <a:p>
            <a:pPr algn="ctr">
              <a:spcBef>
                <a:spcPts val="0"/>
              </a:spcBef>
              <a:spcAft>
                <a:spcPts val="0"/>
              </a:spcAft>
              <a:defRPr sz="1848" b="0">
                <a:solidFill>
                  <a:srgbClr val="162D43"/>
                </a:solidFill>
                <a:latin typeface="Arial"/>
              </a:defRPr>
            </a:pPr>
            <a:r>
              <a:t>z_c</a:t>
            </a:r>
          </a:p>
        </p:txBody>
      </p:sp>
      <p:sp>
        <p:nvSpPr>
          <p:cNvPr id="120" name="Trapezoid 119"/>
          <p:cNvSpPr/>
          <p:nvPr/>
        </p:nvSpPr>
        <p:spPr>
          <a:xfrm>
            <a:off x="9978390" y="4560570"/>
            <a:ext cx="720090" cy="651510"/>
          </a:xfrm>
          <a:prstGeom prst="trapezoid">
            <a:avLst/>
          </a:prstGeom>
          <a:solidFill>
            <a:srgbClr val="C2DCF9"/>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9926955" y="4594859"/>
            <a:ext cx="822959" cy="582930"/>
          </a:xfrm>
          <a:prstGeom prst="rect">
            <a:avLst/>
          </a:prstGeom>
          <a:noFill/>
        </p:spPr>
        <p:txBody>
          <a:bodyPr wrap="square" lIns="34290" rIns="34290" tIns="0" bIns="0" anchor="ctr">
            <a:spAutoFit/>
          </a:bodyPr>
          <a:lstStyle/>
          <a:p>
            <a:pPr algn="ctr">
              <a:spcBef>
                <a:spcPts val="0"/>
              </a:spcBef>
              <a:spcAft>
                <a:spcPts val="0"/>
              </a:spcAft>
              <a:defRPr sz="1716" b="1">
                <a:solidFill>
                  <a:srgbClr val="162D43"/>
                </a:solidFill>
                <a:latin typeface="Arial"/>
              </a:defRPr>
            </a:pPr>
            <a:r>
              <a:t>P_Q</a:t>
            </a:r>
          </a:p>
        </p:txBody>
      </p:sp>
      <p:cxnSp>
        <p:nvCxnSpPr>
          <p:cNvPr id="122" name="Connector 121"/>
          <p:cNvCxnSpPr/>
          <p:nvPr/>
        </p:nvCxnSpPr>
        <p:spPr>
          <a:xfrm>
            <a:off x="9806940" y="4886325"/>
            <a:ext cx="17145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grpSp>
        <p:nvGrpSpPr>
          <p:cNvPr id="123" name="Group 122"/>
          <p:cNvGrpSpPr/>
          <p:nvPr/>
        </p:nvGrpSpPr>
        <p:grpSpPr>
          <a:xfrm>
            <a:off x="11041380" y="4560570"/>
            <a:ext cx="1011555" cy="411480"/>
            <a:chOff x="11041380" y="4560570"/>
            <a:chExt cx="1011555" cy="411480"/>
          </a:xfrm>
        </p:grpSpPr>
        <p:sp>
          <p:nvSpPr>
            <p:cNvPr id="124" name="Rectangle 123"/>
            <p:cNvSpPr/>
            <p:nvPr/>
          </p:nvSpPr>
          <p:spPr>
            <a:xfrm>
              <a:off x="11195685" y="4560570"/>
              <a:ext cx="857250" cy="257175"/>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11118532" y="4637722"/>
              <a:ext cx="857250" cy="257175"/>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11041380" y="4714875"/>
              <a:ext cx="857250" cy="257175"/>
            </a:xfrm>
            <a:prstGeom prst="rect">
              <a:avLst/>
            </a:prstGeom>
            <a:solidFill>
              <a:srgbClr val="4B8FDA"/>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cxnSp>
        <p:nvCxnSpPr>
          <p:cNvPr id="127" name="Connector 126"/>
          <p:cNvCxnSpPr/>
          <p:nvPr/>
        </p:nvCxnSpPr>
        <p:spPr>
          <a:xfrm>
            <a:off x="10698480" y="4886325"/>
            <a:ext cx="30861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128" name="Rounded Rectangle 127"/>
          <p:cNvSpPr/>
          <p:nvPr/>
        </p:nvSpPr>
        <p:spPr>
          <a:xfrm>
            <a:off x="12464415" y="4406265"/>
            <a:ext cx="4166234" cy="1028700"/>
          </a:xfrm>
          <a:prstGeom prst="roundRect">
            <a:avLst>
              <a:gd name="adj" fmla="val 8000"/>
            </a:avLst>
          </a:prstGeom>
          <a:solidFill>
            <a:srgbClr val="F0E9F9"/>
          </a:solidFill>
          <a:ln w="12700">
            <a:solidFill>
              <a:srgbClr val="9262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515850" y="4440555"/>
            <a:ext cx="4063364" cy="960120"/>
          </a:xfrm>
          <a:prstGeom prst="rect">
            <a:avLst/>
          </a:prstGeom>
          <a:noFill/>
        </p:spPr>
        <p:txBody>
          <a:bodyPr wrap="square" lIns="34290" rIns="34290" tIns="0" bIns="0" anchor="ctr">
            <a:spAutoFit/>
          </a:bodyPr>
          <a:lstStyle/>
          <a:p>
            <a:pPr algn="ctr">
              <a:spcBef>
                <a:spcPts val="0"/>
              </a:spcBef>
              <a:spcAft>
                <a:spcPts val="0"/>
              </a:spcAft>
              <a:defRPr sz="1716" b="0">
                <a:solidFill>
                  <a:srgbClr val="162D43"/>
                </a:solidFill>
                <a:latin typeface="Arial"/>
              </a:defRPr>
            </a:pPr>
            <a:r>
              <a:t>Component anchors + ordinal</a:t>
            </a:r>
          </a:p>
          <a:p>
            <a:pPr algn="ctr">
              <a:spcBef>
                <a:spcPts val="0"/>
              </a:spcBef>
              <a:spcAft>
                <a:spcPts val="0"/>
              </a:spcAft>
              <a:defRPr sz="1716" b="0">
                <a:solidFill>
                  <a:srgbClr val="162D43"/>
                </a:solidFill>
                <a:latin typeface="Arial"/>
              </a:defRPr>
            </a:pPr>
            <a:r>
              <a:t>Five-level quality text CE</a:t>
            </a:r>
          </a:p>
        </p:txBody>
      </p:sp>
      <p:cxnSp>
        <p:nvCxnSpPr>
          <p:cNvPr id="130" name="Connector 129"/>
          <p:cNvCxnSpPr/>
          <p:nvPr/>
        </p:nvCxnSpPr>
        <p:spPr>
          <a:xfrm>
            <a:off x="11915775" y="4886325"/>
            <a:ext cx="54864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8915400" y="3429000"/>
            <a:ext cx="154305" cy="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9069705" y="1663064"/>
            <a:ext cx="0" cy="1765936"/>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9069705" y="1663064"/>
            <a:ext cx="10287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9069705" y="3274695"/>
            <a:ext cx="102870" cy="154305"/>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9069705" y="3429000"/>
            <a:ext cx="0" cy="1457325"/>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a:off x="9069705" y="4886325"/>
            <a:ext cx="10287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137" name="Rounded Rectangle 136"/>
          <p:cNvSpPr/>
          <p:nvPr/>
        </p:nvSpPr>
        <p:spPr>
          <a:xfrm>
            <a:off x="14350365" y="1543050"/>
            <a:ext cx="2280285" cy="2057400"/>
          </a:xfrm>
          <a:prstGeom prst="roundRect">
            <a:avLst>
              <a:gd name="adj" fmla="val 8000"/>
            </a:avLst>
          </a:prstGeom>
          <a:solidFill>
            <a:srgbClr val="F3F6F9"/>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4401800" y="1577339"/>
            <a:ext cx="2177415" cy="1988819"/>
          </a:xfrm>
          <a:prstGeom prst="rect">
            <a:avLst/>
          </a:prstGeom>
          <a:noFill/>
        </p:spPr>
        <p:txBody>
          <a:bodyPr wrap="square" lIns="34290" rIns="34290" tIns="0" bIns="0" anchor="ctr">
            <a:spAutoFit/>
          </a:bodyPr>
          <a:lstStyle/>
          <a:p>
            <a:pPr algn="ctr">
              <a:spcBef>
                <a:spcPts val="0"/>
              </a:spcBef>
              <a:spcAft>
                <a:spcPts val="0"/>
              </a:spcAft>
              <a:defRPr sz="1848" b="0">
                <a:solidFill>
                  <a:srgbClr val="162D43"/>
                </a:solidFill>
                <a:latin typeface="Arial"/>
              </a:defRPr>
            </a:pPr>
            <a:r>
              <a:t>Symmetric</a:t>
            </a:r>
          </a:p>
          <a:p>
            <a:pPr algn="ctr">
              <a:spcBef>
                <a:spcPts val="0"/>
              </a:spcBef>
              <a:spcAft>
                <a:spcPts val="0"/>
              </a:spcAft>
              <a:defRPr sz="1848" b="0">
                <a:solidFill>
                  <a:srgbClr val="162D43"/>
                </a:solidFill>
                <a:latin typeface="Arial"/>
              </a:defRPr>
            </a:pPr>
            <a:r>
              <a:t>SimSiam</a:t>
            </a:r>
          </a:p>
          <a:p>
            <a:pPr algn="ctr">
              <a:spcBef>
                <a:spcPts val="0"/>
              </a:spcBef>
              <a:spcAft>
                <a:spcPts val="0"/>
              </a:spcAft>
              <a:defRPr sz="1848" b="0">
                <a:solidFill>
                  <a:srgbClr val="162D43"/>
                </a:solidFill>
                <a:latin typeface="Arial"/>
              </a:defRPr>
            </a:pPr>
          </a:p>
          <a:p>
            <a:pPr algn="ctr">
              <a:spcBef>
                <a:spcPts val="0"/>
              </a:spcBef>
              <a:spcAft>
                <a:spcPts val="0"/>
              </a:spcAft>
              <a:defRPr sz="1848" b="0">
                <a:solidFill>
                  <a:srgbClr val="162D43"/>
                </a:solidFill>
                <a:latin typeface="Arial"/>
              </a:defRPr>
            </a:pPr>
            <a:r>
              <a:t>sg targets</a:t>
            </a:r>
          </a:p>
        </p:txBody>
      </p:sp>
      <p:cxnSp>
        <p:nvCxnSpPr>
          <p:cNvPr id="139" name="Connector 138"/>
          <p:cNvCxnSpPr/>
          <p:nvPr/>
        </p:nvCxnSpPr>
        <p:spPr>
          <a:xfrm>
            <a:off x="13921740" y="1628775"/>
            <a:ext cx="428625" cy="411479"/>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13921740" y="3017520"/>
            <a:ext cx="428625" cy="222884"/>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141" name="Rounded Rectangle 140"/>
          <p:cNvSpPr/>
          <p:nvPr/>
        </p:nvSpPr>
        <p:spPr>
          <a:xfrm>
            <a:off x="9978390" y="6017895"/>
            <a:ext cx="3051810" cy="822959"/>
          </a:xfrm>
          <a:prstGeom prst="roundRect">
            <a:avLst>
              <a:gd name="adj" fmla="val 8000"/>
            </a:avLst>
          </a:prstGeom>
          <a:solidFill>
            <a:srgbClr val="FFF0DD"/>
          </a:solidFill>
          <a:ln w="12700">
            <a:solidFill>
              <a:srgbClr val="E99A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10029825" y="6052184"/>
            <a:ext cx="2948940" cy="754380"/>
          </a:xfrm>
          <a:prstGeom prst="rect">
            <a:avLst/>
          </a:prstGeom>
          <a:noFill/>
        </p:spPr>
        <p:txBody>
          <a:bodyPr wrap="square" lIns="34290" rIns="34290" tIns="0" bIns="0" anchor="ctr">
            <a:spAutoFit/>
          </a:bodyPr>
          <a:lstStyle/>
          <a:p>
            <a:pPr algn="ctr">
              <a:spcBef>
                <a:spcPts val="0"/>
              </a:spcBef>
              <a:spcAft>
                <a:spcPts val="0"/>
              </a:spcAft>
              <a:defRPr sz="1716" b="1">
                <a:solidFill>
                  <a:srgbClr val="162D43"/>
                </a:solidFill>
                <a:latin typeface="Arial"/>
              </a:defRPr>
            </a:pPr>
            <a:r>
              <a:t>Separate MOS heads</a:t>
            </a:r>
          </a:p>
        </p:txBody>
      </p:sp>
      <p:cxnSp>
        <p:nvCxnSpPr>
          <p:cNvPr id="143" name="Connector 142"/>
          <p:cNvCxnSpPr/>
          <p:nvPr/>
        </p:nvCxnSpPr>
        <p:spPr>
          <a:xfrm>
            <a:off x="8915400" y="3600450"/>
            <a:ext cx="240030" cy="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9155430" y="3600450"/>
            <a:ext cx="0" cy="2828925"/>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a:off x="9155430" y="6429375"/>
            <a:ext cx="82296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146" name="TextBox 145"/>
          <p:cNvSpPr txBox="1"/>
          <p:nvPr/>
        </p:nvSpPr>
        <p:spPr>
          <a:xfrm>
            <a:off x="13150215" y="6017895"/>
            <a:ext cx="3480435" cy="822959"/>
          </a:xfrm>
          <a:prstGeom prst="rect">
            <a:avLst/>
          </a:prstGeom>
          <a:noFill/>
        </p:spPr>
        <p:txBody>
          <a:bodyPr wrap="square" lIns="34290" rIns="34290" tIns="0" bIns="0" anchor="ctr">
            <a:spAutoFit/>
          </a:bodyPr>
          <a:lstStyle/>
          <a:p>
            <a:pPr algn="l">
              <a:spcBef>
                <a:spcPts val="0"/>
              </a:spcBef>
              <a:spcAft>
                <a:spcPts val="0"/>
              </a:spcAft>
              <a:defRPr sz="1584" b="0">
                <a:solidFill>
                  <a:srgbClr val="162D43"/>
                </a:solidFill>
                <a:latin typeface="Arial"/>
              </a:defRPr>
            </a:pPr>
            <a:r>
              <a:t>Quality / Artifact / Aesthetics</a:t>
            </a:r>
          </a:p>
          <a:p>
            <a:pPr algn="l">
              <a:spcBef>
                <a:spcPts val="0"/>
              </a:spcBef>
              <a:spcAft>
                <a:spcPts val="0"/>
              </a:spcAft>
              <a:defRPr sz="1584" b="0">
                <a:solidFill>
                  <a:srgbClr val="162D43"/>
                </a:solidFill>
                <a:latin typeface="Arial"/>
              </a:defRPr>
            </a:pPr>
            <a:r>
              <a:t>Clean backbone supervision</a:t>
            </a:r>
          </a:p>
        </p:txBody>
      </p:sp>
      <p:sp>
        <p:nvSpPr>
          <p:cNvPr id="147" name="Rounded Rectangle 146"/>
          <p:cNvSpPr/>
          <p:nvPr/>
        </p:nvSpPr>
        <p:spPr>
          <a:xfrm>
            <a:off x="17230725" y="891540"/>
            <a:ext cx="9789794" cy="4749165"/>
          </a:xfrm>
          <a:prstGeom prst="roundRect">
            <a:avLst>
              <a:gd name="adj" fmla="val 8000"/>
            </a:avLst>
          </a:prstGeom>
          <a:solidFill>
            <a:srgbClr val="FFFFFF"/>
          </a:solidFill>
          <a:ln w="13970">
            <a:solidFill>
              <a:srgbClr val="9262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17402175" y="942975"/>
            <a:ext cx="9446894" cy="445770"/>
          </a:xfrm>
          <a:prstGeom prst="rect">
            <a:avLst/>
          </a:prstGeom>
          <a:noFill/>
        </p:spPr>
        <p:txBody>
          <a:bodyPr wrap="square" lIns="34290" rIns="34290" tIns="0" bIns="0" anchor="ctr">
            <a:spAutoFit/>
          </a:bodyPr>
          <a:lstStyle/>
          <a:p>
            <a:pPr algn="l">
              <a:spcBef>
                <a:spcPts val="0"/>
              </a:spcBef>
              <a:spcAft>
                <a:spcPts val="0"/>
              </a:spcAft>
              <a:defRPr sz="2508" b="1">
                <a:solidFill>
                  <a:srgbClr val="9262C9"/>
                </a:solidFill>
                <a:latin typeface="Georgia"/>
              </a:defRPr>
            </a:pPr>
            <a:r>
              <a:t>Separate image–text relation space</a:t>
            </a:r>
          </a:p>
        </p:txBody>
      </p:sp>
      <p:grpSp>
        <p:nvGrpSpPr>
          <p:cNvPr id="149" name="Group 148"/>
          <p:cNvGrpSpPr/>
          <p:nvPr/>
        </p:nvGrpSpPr>
        <p:grpSpPr>
          <a:xfrm>
            <a:off x="17590770" y="1663064"/>
            <a:ext cx="925830" cy="720090"/>
            <a:chOff x="17590770" y="1663064"/>
            <a:chExt cx="925830" cy="720090"/>
          </a:xfrm>
        </p:grpSpPr>
        <p:sp>
          <p:nvSpPr>
            <p:cNvPr id="150" name="Rectangle 149"/>
            <p:cNvSpPr/>
            <p:nvPr/>
          </p:nvSpPr>
          <p:spPr>
            <a:xfrm>
              <a:off x="17745075" y="1663064"/>
              <a:ext cx="771525" cy="565785"/>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17667922" y="1740217"/>
              <a:ext cx="771525" cy="565785"/>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17590770" y="1817369"/>
              <a:ext cx="771525" cy="565785"/>
            </a:xfrm>
            <a:prstGeom prst="rect">
              <a:avLst/>
            </a:prstGeom>
            <a:solidFill>
              <a:srgbClr val="4B8FDA"/>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53" name="Trapezoid 152"/>
          <p:cNvSpPr/>
          <p:nvPr/>
        </p:nvSpPr>
        <p:spPr>
          <a:xfrm>
            <a:off x="18859500" y="1765935"/>
            <a:ext cx="685800" cy="685800"/>
          </a:xfrm>
          <a:prstGeom prst="trapezoid">
            <a:avLst/>
          </a:prstGeom>
          <a:solidFill>
            <a:srgbClr val="C2DCF9"/>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18808064" y="1800225"/>
            <a:ext cx="788669" cy="617219"/>
          </a:xfrm>
          <a:prstGeom prst="rect">
            <a:avLst/>
          </a:prstGeom>
          <a:noFill/>
        </p:spPr>
        <p:txBody>
          <a:bodyPr wrap="square" lIns="34290" rIns="34290" tIns="0" bIns="0" anchor="ctr">
            <a:spAutoFit/>
          </a:bodyPr>
          <a:lstStyle/>
          <a:p>
            <a:pPr algn="ctr">
              <a:spcBef>
                <a:spcPts val="0"/>
              </a:spcBef>
              <a:spcAft>
                <a:spcPts val="0"/>
              </a:spcAft>
              <a:defRPr sz="1716" b="1">
                <a:solidFill>
                  <a:srgbClr val="162D43"/>
                </a:solidFill>
                <a:latin typeface="Arial"/>
              </a:defRPr>
            </a:pPr>
            <a:r>
              <a:t>P_I</a:t>
            </a:r>
          </a:p>
        </p:txBody>
      </p:sp>
      <p:sp>
        <p:nvSpPr>
          <p:cNvPr id="155" name="Trapezoid 154"/>
          <p:cNvSpPr/>
          <p:nvPr/>
        </p:nvSpPr>
        <p:spPr>
          <a:xfrm>
            <a:off x="20145375" y="1765935"/>
            <a:ext cx="685800" cy="685800"/>
          </a:xfrm>
          <a:prstGeom prst="trapezoid">
            <a:avLst/>
          </a:prstGeom>
          <a:solidFill>
            <a:srgbClr val="FFF0DD"/>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20093939" y="1800225"/>
            <a:ext cx="788669" cy="617219"/>
          </a:xfrm>
          <a:prstGeom prst="rect">
            <a:avLst/>
          </a:prstGeom>
          <a:noFill/>
        </p:spPr>
        <p:txBody>
          <a:bodyPr wrap="square" lIns="34290" rIns="34290" tIns="0" bIns="0" anchor="ctr">
            <a:spAutoFit/>
          </a:bodyPr>
          <a:lstStyle/>
          <a:p>
            <a:pPr algn="ctr">
              <a:spcBef>
                <a:spcPts val="0"/>
              </a:spcBef>
              <a:spcAft>
                <a:spcPts val="0"/>
              </a:spcAft>
              <a:defRPr sz="1716" b="1">
                <a:solidFill>
                  <a:srgbClr val="162D43"/>
                </a:solidFill>
                <a:latin typeface="Arial"/>
              </a:defRPr>
            </a:pPr>
            <a:r>
              <a:t>D_I</a:t>
            </a:r>
          </a:p>
        </p:txBody>
      </p:sp>
      <p:cxnSp>
        <p:nvCxnSpPr>
          <p:cNvPr id="157" name="Connector 156"/>
          <p:cNvCxnSpPr/>
          <p:nvPr/>
        </p:nvCxnSpPr>
        <p:spPr>
          <a:xfrm>
            <a:off x="18379439" y="2091690"/>
            <a:ext cx="480061"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19545300" y="2091690"/>
            <a:ext cx="600075"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159" name="Rounded Rectangle 158"/>
          <p:cNvSpPr/>
          <p:nvPr/>
        </p:nvSpPr>
        <p:spPr>
          <a:xfrm>
            <a:off x="17590770" y="3291839"/>
            <a:ext cx="188595" cy="291465"/>
          </a:xfrm>
          <a:prstGeom prst="roundRect">
            <a:avLst>
              <a:gd name="adj" fmla="val 8000"/>
            </a:avLst>
          </a:prstGeom>
          <a:solidFill>
            <a:srgbClr val="F0E9F9"/>
          </a:solidFill>
          <a:ln w="12700">
            <a:solidFill>
              <a:srgbClr val="9262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ounded Rectangle 159"/>
          <p:cNvSpPr/>
          <p:nvPr/>
        </p:nvSpPr>
        <p:spPr>
          <a:xfrm>
            <a:off x="17865089" y="3291839"/>
            <a:ext cx="188595" cy="291465"/>
          </a:xfrm>
          <a:prstGeom prst="roundRect">
            <a:avLst>
              <a:gd name="adj" fmla="val 8000"/>
            </a:avLst>
          </a:prstGeom>
          <a:solidFill>
            <a:srgbClr val="F0E9F9"/>
          </a:solidFill>
          <a:ln w="12700">
            <a:solidFill>
              <a:srgbClr val="9262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ounded Rectangle 160"/>
          <p:cNvSpPr/>
          <p:nvPr/>
        </p:nvSpPr>
        <p:spPr>
          <a:xfrm>
            <a:off x="18139410" y="3291839"/>
            <a:ext cx="188595" cy="291465"/>
          </a:xfrm>
          <a:prstGeom prst="roundRect">
            <a:avLst>
              <a:gd name="adj" fmla="val 8000"/>
            </a:avLst>
          </a:prstGeom>
          <a:solidFill>
            <a:srgbClr val="F0E9F9"/>
          </a:solidFill>
          <a:ln w="12700">
            <a:solidFill>
              <a:srgbClr val="9262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ounded Rectangle 161"/>
          <p:cNvSpPr/>
          <p:nvPr/>
        </p:nvSpPr>
        <p:spPr>
          <a:xfrm>
            <a:off x="18413730" y="3291839"/>
            <a:ext cx="188595" cy="291465"/>
          </a:xfrm>
          <a:prstGeom prst="roundRect">
            <a:avLst>
              <a:gd name="adj" fmla="val 8000"/>
            </a:avLst>
          </a:prstGeom>
          <a:solidFill>
            <a:srgbClr val="F0E9F9"/>
          </a:solidFill>
          <a:ln w="12700">
            <a:solidFill>
              <a:srgbClr val="9262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rapezoid 162"/>
          <p:cNvSpPr/>
          <p:nvPr/>
        </p:nvSpPr>
        <p:spPr>
          <a:xfrm>
            <a:off x="18859500" y="2983229"/>
            <a:ext cx="1817369" cy="1062989"/>
          </a:xfrm>
          <a:prstGeom prst="trapezoid">
            <a:avLst/>
          </a:prstGeom>
          <a:solidFill>
            <a:srgbClr val="F0E9F9"/>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18910935" y="3068954"/>
            <a:ext cx="1714500" cy="891540"/>
          </a:xfrm>
          <a:prstGeom prst="rect">
            <a:avLst/>
          </a:prstGeom>
          <a:noFill/>
        </p:spPr>
        <p:txBody>
          <a:bodyPr wrap="square" lIns="34290" rIns="34290" tIns="0" bIns="0" anchor="ctr">
            <a:spAutoFit/>
          </a:bodyPr>
          <a:lstStyle/>
          <a:p>
            <a:pPr algn="ctr">
              <a:spcBef>
                <a:spcPts val="0"/>
              </a:spcBef>
              <a:spcAft>
                <a:spcPts val="0"/>
              </a:spcAft>
              <a:defRPr sz="2112" b="1">
                <a:solidFill>
                  <a:srgbClr val="162D43"/>
                </a:solidFill>
                <a:latin typeface="Arial"/>
              </a:defRPr>
            </a:pPr>
            <a:r>
              <a:t>Text encoder</a:t>
            </a:r>
          </a:p>
          <a:p>
            <a:pPr algn="ctr">
              <a:spcBef>
                <a:spcPts val="0"/>
              </a:spcBef>
              <a:spcAft>
                <a:spcPts val="0"/>
              </a:spcAft>
              <a:defRPr sz="2112" b="1">
                <a:solidFill>
                  <a:srgbClr val="162D43"/>
                </a:solidFill>
                <a:latin typeface="Arial"/>
              </a:defRPr>
            </a:pPr>
            <a:r>
              <a:t>Frozen</a:t>
            </a:r>
          </a:p>
        </p:txBody>
      </p:sp>
      <p:sp>
        <p:nvSpPr>
          <p:cNvPr id="165" name="Trapezoid 164"/>
          <p:cNvSpPr/>
          <p:nvPr/>
        </p:nvSpPr>
        <p:spPr>
          <a:xfrm>
            <a:off x="21259800" y="3137535"/>
            <a:ext cx="685800" cy="685800"/>
          </a:xfrm>
          <a:prstGeom prst="trapezoid">
            <a:avLst/>
          </a:prstGeom>
          <a:solidFill>
            <a:srgbClr val="F0E9F9"/>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21208364" y="3171825"/>
            <a:ext cx="788669" cy="617219"/>
          </a:xfrm>
          <a:prstGeom prst="rect">
            <a:avLst/>
          </a:prstGeom>
          <a:noFill/>
        </p:spPr>
        <p:txBody>
          <a:bodyPr wrap="square" lIns="34290" rIns="34290" tIns="0" bIns="0" anchor="ctr">
            <a:spAutoFit/>
          </a:bodyPr>
          <a:lstStyle/>
          <a:p>
            <a:pPr algn="ctr">
              <a:spcBef>
                <a:spcPts val="0"/>
              </a:spcBef>
              <a:spcAft>
                <a:spcPts val="0"/>
              </a:spcAft>
              <a:defRPr sz="1716" b="1">
                <a:solidFill>
                  <a:srgbClr val="162D43"/>
                </a:solidFill>
                <a:latin typeface="Arial"/>
              </a:defRPr>
            </a:pPr>
            <a:r>
              <a:t>P_T</a:t>
            </a:r>
          </a:p>
        </p:txBody>
      </p:sp>
      <p:sp>
        <p:nvSpPr>
          <p:cNvPr id="167" name="Trapezoid 166"/>
          <p:cNvSpPr/>
          <p:nvPr/>
        </p:nvSpPr>
        <p:spPr>
          <a:xfrm>
            <a:off x="22459950" y="3137535"/>
            <a:ext cx="685800" cy="685800"/>
          </a:xfrm>
          <a:prstGeom prst="trapezoid">
            <a:avLst/>
          </a:prstGeom>
          <a:solidFill>
            <a:srgbClr val="FFF0DD"/>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22408514" y="3171825"/>
            <a:ext cx="788669" cy="617219"/>
          </a:xfrm>
          <a:prstGeom prst="rect">
            <a:avLst/>
          </a:prstGeom>
          <a:noFill/>
        </p:spPr>
        <p:txBody>
          <a:bodyPr wrap="square" lIns="34290" rIns="34290" tIns="0" bIns="0" anchor="ctr">
            <a:spAutoFit/>
          </a:bodyPr>
          <a:lstStyle/>
          <a:p>
            <a:pPr algn="ctr">
              <a:spcBef>
                <a:spcPts val="0"/>
              </a:spcBef>
              <a:spcAft>
                <a:spcPts val="0"/>
              </a:spcAft>
              <a:defRPr sz="1716" b="1">
                <a:solidFill>
                  <a:srgbClr val="162D43"/>
                </a:solidFill>
                <a:latin typeface="Arial"/>
              </a:defRPr>
            </a:pPr>
            <a:r>
              <a:t>D_T</a:t>
            </a:r>
          </a:p>
        </p:txBody>
      </p:sp>
      <p:cxnSp>
        <p:nvCxnSpPr>
          <p:cNvPr id="169" name="Connector 168"/>
          <p:cNvCxnSpPr/>
          <p:nvPr/>
        </p:nvCxnSpPr>
        <p:spPr>
          <a:xfrm>
            <a:off x="18653760" y="3446145"/>
            <a:ext cx="20574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a:off x="20676870" y="3446145"/>
            <a:ext cx="58293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21945600" y="3446145"/>
            <a:ext cx="51435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172" name="TextBox 171"/>
          <p:cNvSpPr txBox="1"/>
          <p:nvPr/>
        </p:nvSpPr>
        <p:spPr>
          <a:xfrm>
            <a:off x="17453610" y="4217670"/>
            <a:ext cx="5966459" cy="822959"/>
          </a:xfrm>
          <a:prstGeom prst="rect">
            <a:avLst/>
          </a:prstGeom>
          <a:noFill/>
        </p:spPr>
        <p:txBody>
          <a:bodyPr wrap="square" lIns="34290" rIns="34290" tIns="0" bIns="0" anchor="ctr">
            <a:spAutoFit/>
          </a:bodyPr>
          <a:lstStyle/>
          <a:p>
            <a:pPr algn="ctr">
              <a:spcBef>
                <a:spcPts val="0"/>
              </a:spcBef>
              <a:spcAft>
                <a:spcPts val="0"/>
              </a:spcAft>
              <a:defRPr sz="1584" b="0">
                <a:solidFill>
                  <a:srgbClr val="162D43"/>
                </a:solidFill>
                <a:latin typeface="Arial"/>
              </a:defRPr>
            </a:pPr>
            <a:r>
              <a:t>Prompt / Answer / region phrases</a:t>
            </a:r>
          </a:p>
          <a:p>
            <a:pPr algn="ctr">
              <a:spcBef>
                <a:spcPts val="0"/>
              </a:spcBef>
              <a:spcAft>
                <a:spcPts val="0"/>
              </a:spcAft>
              <a:defRPr sz="1584" b="0">
                <a:solidFill>
                  <a:srgbClr val="162D43"/>
                </a:solidFill>
                <a:latin typeface="Arial"/>
              </a:defRPr>
            </a:pPr>
            <a:r>
              <a:t>Trainable contexts; relation-specific adapters</a:t>
            </a:r>
          </a:p>
        </p:txBody>
      </p:sp>
      <p:grpSp>
        <p:nvGrpSpPr>
          <p:cNvPr id="173" name="Group 172"/>
          <p:cNvGrpSpPr/>
          <p:nvPr/>
        </p:nvGrpSpPr>
        <p:grpSpPr>
          <a:xfrm>
            <a:off x="24191595" y="2125979"/>
            <a:ext cx="1755647" cy="1532763"/>
            <a:chOff x="24191595" y="2125979"/>
            <a:chExt cx="1755647" cy="1532763"/>
          </a:xfrm>
        </p:grpSpPr>
        <p:sp>
          <p:nvSpPr>
            <p:cNvPr id="174" name="Rectangle 173"/>
            <p:cNvSpPr/>
            <p:nvPr/>
          </p:nvSpPr>
          <p:spPr>
            <a:xfrm>
              <a:off x="24191595" y="2125979"/>
              <a:ext cx="284035" cy="246888"/>
            </a:xfrm>
            <a:prstGeom prst="rect">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Rectangle 174"/>
            <p:cNvSpPr/>
            <p:nvPr/>
          </p:nvSpPr>
          <p:spPr>
            <a:xfrm>
              <a:off x="24485917" y="2125979"/>
              <a:ext cx="284035" cy="246888"/>
            </a:xfrm>
            <a:prstGeom prst="rect">
              <a:avLst/>
            </a:prstGeom>
            <a:solidFill>
              <a:srgbClr val="B5A7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24780239" y="2125979"/>
              <a:ext cx="284035" cy="246888"/>
            </a:xfrm>
            <a:prstGeom prst="rect">
              <a:avLst/>
            </a:prstGeom>
            <a:solidFill>
              <a:srgbClr val="BCD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25074562" y="2125979"/>
              <a:ext cx="284035" cy="246888"/>
            </a:xfrm>
            <a:prstGeom prst="rect">
              <a:avLst/>
            </a:prstGeom>
            <a:solidFill>
              <a:srgbClr val="D3C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25368885" y="2125979"/>
              <a:ext cx="284035" cy="246888"/>
            </a:xfrm>
            <a:prstGeom prst="rect">
              <a:avLst/>
            </a:prstGeom>
            <a:solidFill>
              <a:srgbClr val="7C70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Rectangle 178"/>
            <p:cNvSpPr/>
            <p:nvPr/>
          </p:nvSpPr>
          <p:spPr>
            <a:xfrm>
              <a:off x="25663207" y="2125979"/>
              <a:ext cx="284035" cy="246888"/>
            </a:xfrm>
            <a:prstGeom prst="rect">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ectangle 179"/>
            <p:cNvSpPr/>
            <p:nvPr/>
          </p:nvSpPr>
          <p:spPr>
            <a:xfrm>
              <a:off x="24191595" y="2383154"/>
              <a:ext cx="284035" cy="246888"/>
            </a:xfrm>
            <a:prstGeom prst="rect">
              <a:avLst/>
            </a:prstGeom>
            <a:solidFill>
              <a:srgbClr val="7C70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24485917" y="2383154"/>
              <a:ext cx="284035" cy="246888"/>
            </a:xfrm>
            <a:prstGeom prst="rect">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24780239" y="2383154"/>
              <a:ext cx="284035" cy="246888"/>
            </a:xfrm>
            <a:prstGeom prst="rect">
              <a:avLst/>
            </a:prstGeom>
            <a:solidFill>
              <a:srgbClr val="B5A7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Rectangle 182"/>
            <p:cNvSpPr/>
            <p:nvPr/>
          </p:nvSpPr>
          <p:spPr>
            <a:xfrm>
              <a:off x="25074562" y="2383154"/>
              <a:ext cx="284035" cy="246888"/>
            </a:xfrm>
            <a:prstGeom prst="rect">
              <a:avLst/>
            </a:prstGeom>
            <a:solidFill>
              <a:srgbClr val="BCD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25368885" y="2383154"/>
              <a:ext cx="284035" cy="246888"/>
            </a:xfrm>
            <a:prstGeom prst="rect">
              <a:avLst/>
            </a:prstGeom>
            <a:solidFill>
              <a:srgbClr val="D3C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ectangle 184"/>
            <p:cNvSpPr/>
            <p:nvPr/>
          </p:nvSpPr>
          <p:spPr>
            <a:xfrm>
              <a:off x="25663207" y="2383154"/>
              <a:ext cx="284035" cy="246888"/>
            </a:xfrm>
            <a:prstGeom prst="rect">
              <a:avLst/>
            </a:prstGeom>
            <a:solidFill>
              <a:srgbClr val="7C70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24191595" y="2640329"/>
              <a:ext cx="284035" cy="246888"/>
            </a:xfrm>
            <a:prstGeom prst="rect">
              <a:avLst/>
            </a:prstGeom>
            <a:solidFill>
              <a:srgbClr val="D3C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ectangle 186"/>
            <p:cNvSpPr/>
            <p:nvPr/>
          </p:nvSpPr>
          <p:spPr>
            <a:xfrm>
              <a:off x="24485917" y="2640329"/>
              <a:ext cx="284035" cy="246888"/>
            </a:xfrm>
            <a:prstGeom prst="rect">
              <a:avLst/>
            </a:prstGeom>
            <a:solidFill>
              <a:srgbClr val="7C70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24780239" y="2640329"/>
              <a:ext cx="284035" cy="246888"/>
            </a:xfrm>
            <a:prstGeom prst="rect">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25074562" y="2640329"/>
              <a:ext cx="284035" cy="246888"/>
            </a:xfrm>
            <a:prstGeom prst="rect">
              <a:avLst/>
            </a:prstGeom>
            <a:solidFill>
              <a:srgbClr val="B5A7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25368885" y="2640329"/>
              <a:ext cx="284035" cy="246888"/>
            </a:xfrm>
            <a:prstGeom prst="rect">
              <a:avLst/>
            </a:prstGeom>
            <a:solidFill>
              <a:srgbClr val="BCD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25663207" y="2640329"/>
              <a:ext cx="284035" cy="246888"/>
            </a:xfrm>
            <a:prstGeom prst="rect">
              <a:avLst/>
            </a:prstGeom>
            <a:solidFill>
              <a:srgbClr val="D3C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Rectangle 191"/>
            <p:cNvSpPr/>
            <p:nvPr/>
          </p:nvSpPr>
          <p:spPr>
            <a:xfrm>
              <a:off x="24191595" y="2897504"/>
              <a:ext cx="284035" cy="246888"/>
            </a:xfrm>
            <a:prstGeom prst="rect">
              <a:avLst/>
            </a:prstGeom>
            <a:solidFill>
              <a:srgbClr val="BCD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Rectangle 192"/>
            <p:cNvSpPr/>
            <p:nvPr/>
          </p:nvSpPr>
          <p:spPr>
            <a:xfrm>
              <a:off x="24485917" y="2897504"/>
              <a:ext cx="284035" cy="246888"/>
            </a:xfrm>
            <a:prstGeom prst="rect">
              <a:avLst/>
            </a:prstGeom>
            <a:solidFill>
              <a:srgbClr val="D3C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Rectangle 193"/>
            <p:cNvSpPr/>
            <p:nvPr/>
          </p:nvSpPr>
          <p:spPr>
            <a:xfrm>
              <a:off x="24780239" y="2897504"/>
              <a:ext cx="284035" cy="246888"/>
            </a:xfrm>
            <a:prstGeom prst="rect">
              <a:avLst/>
            </a:prstGeom>
            <a:solidFill>
              <a:srgbClr val="7C70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25074562" y="2897504"/>
              <a:ext cx="284035" cy="246888"/>
            </a:xfrm>
            <a:prstGeom prst="rect">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25368885" y="2897504"/>
              <a:ext cx="284035" cy="246888"/>
            </a:xfrm>
            <a:prstGeom prst="rect">
              <a:avLst/>
            </a:prstGeom>
            <a:solidFill>
              <a:srgbClr val="B5A7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25663207" y="2897504"/>
              <a:ext cx="284035" cy="246888"/>
            </a:xfrm>
            <a:prstGeom prst="rect">
              <a:avLst/>
            </a:prstGeom>
            <a:solidFill>
              <a:srgbClr val="BCD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24191595" y="3154679"/>
              <a:ext cx="284035" cy="246888"/>
            </a:xfrm>
            <a:prstGeom prst="rect">
              <a:avLst/>
            </a:prstGeom>
            <a:solidFill>
              <a:srgbClr val="B5A7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24485917" y="3154679"/>
              <a:ext cx="284035" cy="246888"/>
            </a:xfrm>
            <a:prstGeom prst="rect">
              <a:avLst/>
            </a:prstGeom>
            <a:solidFill>
              <a:srgbClr val="BCD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Rectangle 199"/>
            <p:cNvSpPr/>
            <p:nvPr/>
          </p:nvSpPr>
          <p:spPr>
            <a:xfrm>
              <a:off x="24780239" y="3154679"/>
              <a:ext cx="284035" cy="246888"/>
            </a:xfrm>
            <a:prstGeom prst="rect">
              <a:avLst/>
            </a:prstGeom>
            <a:solidFill>
              <a:srgbClr val="D3C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ectangle 200"/>
            <p:cNvSpPr/>
            <p:nvPr/>
          </p:nvSpPr>
          <p:spPr>
            <a:xfrm>
              <a:off x="25074562" y="3154679"/>
              <a:ext cx="284035" cy="246888"/>
            </a:xfrm>
            <a:prstGeom prst="rect">
              <a:avLst/>
            </a:prstGeom>
            <a:solidFill>
              <a:srgbClr val="7C70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25368885" y="3154679"/>
              <a:ext cx="284035" cy="246888"/>
            </a:xfrm>
            <a:prstGeom prst="rect">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25663207" y="3154679"/>
              <a:ext cx="284035" cy="246888"/>
            </a:xfrm>
            <a:prstGeom prst="rect">
              <a:avLst/>
            </a:prstGeom>
            <a:solidFill>
              <a:srgbClr val="B5A7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24191595" y="3411854"/>
              <a:ext cx="284035" cy="246888"/>
            </a:xfrm>
            <a:prstGeom prst="rect">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ectangle 204"/>
            <p:cNvSpPr/>
            <p:nvPr/>
          </p:nvSpPr>
          <p:spPr>
            <a:xfrm>
              <a:off x="24485917" y="3411854"/>
              <a:ext cx="284035" cy="246888"/>
            </a:xfrm>
            <a:prstGeom prst="rect">
              <a:avLst/>
            </a:prstGeom>
            <a:solidFill>
              <a:srgbClr val="B5A7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24780239" y="3411854"/>
              <a:ext cx="284035" cy="246888"/>
            </a:xfrm>
            <a:prstGeom prst="rect">
              <a:avLst/>
            </a:prstGeom>
            <a:solidFill>
              <a:srgbClr val="BCD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25074562" y="3411854"/>
              <a:ext cx="284035" cy="246888"/>
            </a:xfrm>
            <a:prstGeom prst="rect">
              <a:avLst/>
            </a:prstGeom>
            <a:solidFill>
              <a:srgbClr val="D3C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Rectangle 207"/>
            <p:cNvSpPr/>
            <p:nvPr/>
          </p:nvSpPr>
          <p:spPr>
            <a:xfrm>
              <a:off x="25368885" y="3411854"/>
              <a:ext cx="284035" cy="246888"/>
            </a:xfrm>
            <a:prstGeom prst="rect">
              <a:avLst/>
            </a:prstGeom>
            <a:solidFill>
              <a:srgbClr val="7C70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25663207" y="3411854"/>
              <a:ext cx="284035" cy="246888"/>
            </a:xfrm>
            <a:prstGeom prst="rect">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cxnSp>
        <p:nvCxnSpPr>
          <p:cNvPr id="210" name="Connector 209"/>
          <p:cNvCxnSpPr/>
          <p:nvPr/>
        </p:nvCxnSpPr>
        <p:spPr>
          <a:xfrm>
            <a:off x="20831175" y="2108835"/>
            <a:ext cx="2640330" cy="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a:off x="23471505" y="2108835"/>
            <a:ext cx="0" cy="37719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a:off x="23471505" y="2486025"/>
            <a:ext cx="634365"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a:off x="23145750" y="3480435"/>
            <a:ext cx="96012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214" name="TextBox 213"/>
          <p:cNvSpPr txBox="1"/>
          <p:nvPr/>
        </p:nvSpPr>
        <p:spPr>
          <a:xfrm>
            <a:off x="23660100" y="3823334"/>
            <a:ext cx="2880360" cy="977264"/>
          </a:xfrm>
          <a:prstGeom prst="rect">
            <a:avLst/>
          </a:prstGeom>
          <a:noFill/>
        </p:spPr>
        <p:txBody>
          <a:bodyPr wrap="square" lIns="34290" rIns="34290" tIns="0" bIns="0" anchor="ctr">
            <a:spAutoFit/>
          </a:bodyPr>
          <a:lstStyle/>
          <a:p>
            <a:pPr algn="ctr">
              <a:spcBef>
                <a:spcPts val="0"/>
              </a:spcBef>
              <a:spcAft>
                <a:spcPts val="0"/>
              </a:spcAft>
              <a:defRPr sz="1584" b="0">
                <a:solidFill>
                  <a:srgbClr val="162D43"/>
                </a:solidFill>
                <a:latin typeface="Arial"/>
              </a:defRPr>
            </a:pPr>
            <a:r>
              <a:t>Image–Prompt / Answer</a:t>
            </a:r>
          </a:p>
          <a:p>
            <a:pPr algn="ctr">
              <a:spcBef>
                <a:spcPts val="0"/>
              </a:spcBef>
              <a:spcAft>
                <a:spcPts val="0"/>
              </a:spcAft>
              <a:defRPr sz="1584" b="0">
                <a:solidFill>
                  <a:srgbClr val="162D43"/>
                </a:solidFill>
                <a:latin typeface="Arial"/>
              </a:defRPr>
            </a:pPr>
            <a:r>
              <a:t>Prompt–Answer</a:t>
            </a:r>
          </a:p>
          <a:p>
            <a:pPr algn="ctr">
              <a:spcBef>
                <a:spcPts val="0"/>
              </a:spcBef>
              <a:spcAft>
                <a:spcPts val="0"/>
              </a:spcAft>
              <a:defRPr sz="1584" b="0">
                <a:solidFill>
                  <a:srgbClr val="162D43"/>
                </a:solidFill>
                <a:latin typeface="Arial"/>
              </a:defRPr>
            </a:pPr>
            <a:r>
              <a:t>Region–word</a:t>
            </a:r>
          </a:p>
        </p:txBody>
      </p:sp>
      <p:sp>
        <p:nvSpPr>
          <p:cNvPr id="215" name="Rounded Rectangle 214"/>
          <p:cNvSpPr/>
          <p:nvPr/>
        </p:nvSpPr>
        <p:spPr>
          <a:xfrm>
            <a:off x="17419320" y="5966459"/>
            <a:ext cx="9515475" cy="977264"/>
          </a:xfrm>
          <a:prstGeom prst="roundRect">
            <a:avLst>
              <a:gd name="adj" fmla="val 8000"/>
            </a:avLst>
          </a:prstGeom>
          <a:solidFill>
            <a:srgbClr val="F0E9F9"/>
          </a:solidFill>
          <a:ln w="12700">
            <a:solidFill>
              <a:srgbClr val="9262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17470755" y="6000750"/>
            <a:ext cx="9412605" cy="908684"/>
          </a:xfrm>
          <a:prstGeom prst="rect">
            <a:avLst/>
          </a:prstGeom>
          <a:noFill/>
        </p:spPr>
        <p:txBody>
          <a:bodyPr wrap="square" lIns="34290" rIns="34290" tIns="0" bIns="0" anchor="ctr">
            <a:spAutoFit/>
          </a:bodyPr>
          <a:lstStyle/>
          <a:p>
            <a:pPr algn="ctr">
              <a:spcBef>
                <a:spcPts val="0"/>
              </a:spcBef>
              <a:spcAft>
                <a:spcPts val="0"/>
              </a:spcAft>
              <a:defRPr sz="1716" b="0">
                <a:solidFill>
                  <a:srgbClr val="162D43"/>
                </a:solidFill>
                <a:latin typeface="Arial"/>
              </a:defRPr>
            </a:pPr>
            <a:r>
              <a:t>P_Q → Quality Adapter initialization</a:t>
            </a:r>
          </a:p>
          <a:p>
            <a:pPr algn="ctr">
              <a:spcBef>
                <a:spcPts val="0"/>
              </a:spcBef>
              <a:spcAft>
                <a:spcPts val="0"/>
              </a:spcAft>
              <a:defRPr sz="1716" b="0">
                <a:solidFill>
                  <a:srgbClr val="162D43"/>
                </a:solidFill>
                <a:latin typeface="Arial"/>
              </a:defRPr>
            </a:pPr>
            <a:r>
              <a:t>Backbone / contexts / alignment adapters / quality bank transferred</a:t>
            </a:r>
          </a:p>
        </p:txBody>
      </p:sp>
      <p:cxnSp>
        <p:nvCxnSpPr>
          <p:cNvPr id="217" name="Connector 216"/>
          <p:cNvCxnSpPr/>
          <p:nvPr/>
        </p:nvCxnSpPr>
        <p:spPr>
          <a:xfrm>
            <a:off x="411479" y="7320915"/>
            <a:ext cx="26609040" cy="0"/>
          </a:xfrm>
          <a:prstGeom prst="line">
            <a:avLst/>
          </a:prstGeom>
          <a:ln w="16510">
            <a:solidFill>
              <a:srgbClr val="41566A"/>
            </a:solidFill>
            <a:prstDash val="dash"/>
          </a:ln>
        </p:spPr>
        <p:style>
          <a:lnRef idx="2">
            <a:schemeClr val="accent1"/>
          </a:lnRef>
          <a:fillRef idx="0">
            <a:schemeClr val="accent1"/>
          </a:fillRef>
          <a:effectRef idx="1">
            <a:schemeClr val="accent1"/>
          </a:effectRef>
          <a:fontRef idx="minor">
            <a:schemeClr val="tx1"/>
          </a:fontRef>
        </p:style>
      </p:cxnSp>
      <p:sp>
        <p:nvSpPr>
          <p:cNvPr id="218" name="TextBox 217"/>
          <p:cNvSpPr txBox="1"/>
          <p:nvPr/>
        </p:nvSpPr>
        <p:spPr>
          <a:xfrm>
            <a:off x="257175" y="7526654"/>
            <a:ext cx="26660475" cy="548640"/>
          </a:xfrm>
          <a:prstGeom prst="rect">
            <a:avLst/>
          </a:prstGeom>
          <a:noFill/>
        </p:spPr>
        <p:txBody>
          <a:bodyPr wrap="square" lIns="34290" rIns="34290" tIns="0" bIns="0" anchor="ctr">
            <a:spAutoFit/>
          </a:bodyPr>
          <a:lstStyle/>
          <a:p>
            <a:pPr algn="l">
              <a:spcBef>
                <a:spcPts val="0"/>
              </a:spcBef>
              <a:spcAft>
                <a:spcPts val="0"/>
              </a:spcAft>
              <a:defRPr sz="3036" b="1">
                <a:solidFill>
                  <a:srgbClr val="162D43"/>
                </a:solidFill>
                <a:latin typeface="Georgia"/>
              </a:defRPr>
            </a:pPr>
            <a:r>
              <a:t>(b) Downstream quality &amp; alignment assessment</a:t>
            </a:r>
          </a:p>
        </p:txBody>
      </p:sp>
      <p:sp>
        <p:nvSpPr>
          <p:cNvPr id="219" name="Rounded Rectangle 218"/>
          <p:cNvSpPr/>
          <p:nvPr/>
        </p:nvSpPr>
        <p:spPr>
          <a:xfrm>
            <a:off x="360045" y="9721215"/>
            <a:ext cx="1680210" cy="1543050"/>
          </a:xfrm>
          <a:prstGeom prst="roundRect">
            <a:avLst>
              <a:gd name="adj" fmla="val 8000"/>
            </a:avLst>
          </a:prstGeom>
          <a:solidFill>
            <a:srgbClr val="C2DCF9"/>
          </a:solidFill>
          <a:ln w="12700">
            <a:solidFill>
              <a:srgbClr val="4B8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TextBox 219"/>
          <p:cNvSpPr txBox="1"/>
          <p:nvPr/>
        </p:nvSpPr>
        <p:spPr>
          <a:xfrm>
            <a:off x="411479" y="9755505"/>
            <a:ext cx="1577339" cy="1474470"/>
          </a:xfrm>
          <a:prstGeom prst="rect">
            <a:avLst/>
          </a:prstGeom>
          <a:noFill/>
        </p:spPr>
        <p:txBody>
          <a:bodyPr wrap="square" lIns="34290" rIns="34290" tIns="0" bIns="0" anchor="ctr">
            <a:spAutoFit/>
          </a:bodyPr>
          <a:lstStyle/>
          <a:p>
            <a:pPr algn="ctr">
              <a:spcBef>
                <a:spcPts val="0"/>
              </a:spcBef>
              <a:spcAft>
                <a:spcPts val="0"/>
              </a:spcAft>
              <a:defRPr sz="1848" b="0">
                <a:solidFill>
                  <a:srgbClr val="162D43"/>
                </a:solidFill>
                <a:latin typeface="Arial"/>
              </a:defRPr>
            </a:pPr>
            <a:r>
              <a:t>Input image</a:t>
            </a:r>
          </a:p>
          <a:p>
            <a:pPr algn="ctr">
              <a:spcBef>
                <a:spcPts val="0"/>
              </a:spcBef>
              <a:spcAft>
                <a:spcPts val="0"/>
              </a:spcAft>
              <a:defRPr sz="1848" b="0">
                <a:solidFill>
                  <a:srgbClr val="162D43"/>
                </a:solidFill>
                <a:latin typeface="Arial"/>
              </a:defRPr>
            </a:pPr>
            <a:r>
              <a:t>224 × 224</a:t>
            </a:r>
          </a:p>
        </p:txBody>
      </p:sp>
      <p:sp>
        <p:nvSpPr>
          <p:cNvPr id="221" name="Trapezoid 220"/>
          <p:cNvSpPr/>
          <p:nvPr/>
        </p:nvSpPr>
        <p:spPr>
          <a:xfrm>
            <a:off x="2537460" y="8538210"/>
            <a:ext cx="1903094" cy="1525905"/>
          </a:xfrm>
          <a:prstGeom prst="trapezoid">
            <a:avLst/>
          </a:prstGeom>
          <a:solidFill>
            <a:srgbClr val="C2DCF9"/>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TextBox 221"/>
          <p:cNvSpPr txBox="1"/>
          <p:nvPr/>
        </p:nvSpPr>
        <p:spPr>
          <a:xfrm>
            <a:off x="2588895" y="8623935"/>
            <a:ext cx="1800225" cy="1354455"/>
          </a:xfrm>
          <a:prstGeom prst="rect">
            <a:avLst/>
          </a:prstGeom>
          <a:noFill/>
        </p:spPr>
        <p:txBody>
          <a:bodyPr wrap="square" lIns="34290" rIns="34290" tIns="0" bIns="0" anchor="ctr">
            <a:spAutoFit/>
          </a:bodyPr>
          <a:lstStyle/>
          <a:p>
            <a:pPr algn="ctr">
              <a:spcBef>
                <a:spcPts val="0"/>
              </a:spcBef>
              <a:spcAft>
                <a:spcPts val="0"/>
              </a:spcAft>
              <a:defRPr sz="2112" b="1">
                <a:solidFill>
                  <a:srgbClr val="162D43"/>
                </a:solidFill>
                <a:latin typeface="Arial"/>
              </a:defRPr>
            </a:pPr>
            <a:r>
              <a:t>CLIP</a:t>
            </a:r>
          </a:p>
          <a:p>
            <a:pPr algn="ctr">
              <a:spcBef>
                <a:spcPts val="0"/>
              </a:spcBef>
              <a:spcAft>
                <a:spcPts val="0"/>
              </a:spcAft>
              <a:defRPr sz="2112" b="1">
                <a:solidFill>
                  <a:srgbClr val="162D43"/>
                </a:solidFill>
                <a:latin typeface="Arial"/>
              </a:defRPr>
            </a:pPr>
            <a:r>
              <a:t>ViT-L/14</a:t>
            </a:r>
          </a:p>
        </p:txBody>
      </p:sp>
      <p:grpSp>
        <p:nvGrpSpPr>
          <p:cNvPr id="223" name="Group 222"/>
          <p:cNvGrpSpPr/>
          <p:nvPr/>
        </p:nvGrpSpPr>
        <p:grpSpPr>
          <a:xfrm>
            <a:off x="4886325" y="8983980"/>
            <a:ext cx="977264" cy="480060"/>
            <a:chOff x="4886325" y="8983980"/>
            <a:chExt cx="977264" cy="480060"/>
          </a:xfrm>
        </p:grpSpPr>
        <p:sp>
          <p:nvSpPr>
            <p:cNvPr id="224" name="Rectangle 223"/>
            <p:cNvSpPr/>
            <p:nvPr/>
          </p:nvSpPr>
          <p:spPr>
            <a:xfrm>
              <a:off x="5040630" y="8983980"/>
              <a:ext cx="822959" cy="325755"/>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Rectangle 224"/>
            <p:cNvSpPr/>
            <p:nvPr/>
          </p:nvSpPr>
          <p:spPr>
            <a:xfrm>
              <a:off x="4963477" y="9061132"/>
              <a:ext cx="822959" cy="325755"/>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4886325" y="9138285"/>
              <a:ext cx="822959" cy="325755"/>
            </a:xfrm>
            <a:prstGeom prst="rect">
              <a:avLst/>
            </a:prstGeom>
            <a:solidFill>
              <a:srgbClr val="4B8FDA"/>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227" name="TextBox 226"/>
          <p:cNvSpPr txBox="1"/>
          <p:nvPr/>
        </p:nvSpPr>
        <p:spPr>
          <a:xfrm>
            <a:off x="4612005" y="8641080"/>
            <a:ext cx="1491614" cy="342900"/>
          </a:xfrm>
          <a:prstGeom prst="rect">
            <a:avLst/>
          </a:prstGeom>
          <a:noFill/>
        </p:spPr>
        <p:txBody>
          <a:bodyPr wrap="square" lIns="34290" rIns="34290" tIns="0" bIns="0" anchor="ctr">
            <a:spAutoFit/>
          </a:bodyPr>
          <a:lstStyle/>
          <a:p>
            <a:pPr algn="ctr">
              <a:spcBef>
                <a:spcPts val="0"/>
              </a:spcBef>
              <a:spcAft>
                <a:spcPts val="0"/>
              </a:spcAft>
              <a:defRPr sz="1584" b="0">
                <a:solidFill>
                  <a:srgbClr val="162D43"/>
                </a:solidFill>
                <a:latin typeface="Arial"/>
              </a:defRPr>
            </a:pPr>
            <a:r>
              <a:t>768-D</a:t>
            </a:r>
          </a:p>
        </p:txBody>
      </p:sp>
      <p:sp>
        <p:nvSpPr>
          <p:cNvPr id="228" name="Trapezoid 227"/>
          <p:cNvSpPr/>
          <p:nvPr/>
        </p:nvSpPr>
        <p:spPr>
          <a:xfrm>
            <a:off x="2537460" y="11795760"/>
            <a:ext cx="1903094" cy="1525905"/>
          </a:xfrm>
          <a:prstGeom prst="trapezoid">
            <a:avLst/>
          </a:prstGeom>
          <a:solidFill>
            <a:srgbClr val="D9F1EE"/>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extBox 228"/>
          <p:cNvSpPr txBox="1"/>
          <p:nvPr/>
        </p:nvSpPr>
        <p:spPr>
          <a:xfrm>
            <a:off x="2588895" y="11881485"/>
            <a:ext cx="1800225" cy="1354455"/>
          </a:xfrm>
          <a:prstGeom prst="rect">
            <a:avLst/>
          </a:prstGeom>
          <a:noFill/>
        </p:spPr>
        <p:txBody>
          <a:bodyPr wrap="square" lIns="34290" rIns="34290" tIns="0" bIns="0" anchor="ctr">
            <a:spAutoFit/>
          </a:bodyPr>
          <a:lstStyle/>
          <a:p>
            <a:pPr algn="ctr">
              <a:spcBef>
                <a:spcPts val="0"/>
              </a:spcBef>
              <a:spcAft>
                <a:spcPts val="0"/>
              </a:spcAft>
              <a:defRPr sz="2112" b="1">
                <a:solidFill>
                  <a:srgbClr val="162D43"/>
                </a:solidFill>
                <a:latin typeface="Arial"/>
              </a:defRPr>
            </a:pPr>
            <a:r>
              <a:t>ResNet-50</a:t>
            </a:r>
          </a:p>
          <a:p>
            <a:pPr algn="ctr">
              <a:spcBef>
                <a:spcPts val="0"/>
              </a:spcBef>
              <a:spcAft>
                <a:spcPts val="0"/>
              </a:spcAft>
              <a:defRPr sz="2112" b="1">
                <a:solidFill>
                  <a:srgbClr val="162D43"/>
                </a:solidFill>
                <a:latin typeface="Arial"/>
              </a:defRPr>
            </a:pPr>
            <a:r>
              <a:t>layer3</a:t>
            </a:r>
          </a:p>
        </p:txBody>
      </p:sp>
      <p:grpSp>
        <p:nvGrpSpPr>
          <p:cNvPr id="230" name="Group 229"/>
          <p:cNvGrpSpPr/>
          <p:nvPr/>
        </p:nvGrpSpPr>
        <p:grpSpPr>
          <a:xfrm>
            <a:off x="4886325" y="12138660"/>
            <a:ext cx="949832" cy="829818"/>
            <a:chOff x="4886325" y="12138660"/>
            <a:chExt cx="949832" cy="829818"/>
          </a:xfrm>
        </p:grpSpPr>
        <p:sp>
          <p:nvSpPr>
            <p:cNvPr id="231" name="Rectangle 230"/>
            <p:cNvSpPr/>
            <p:nvPr/>
          </p:nvSpPr>
          <p:spPr>
            <a:xfrm>
              <a:off x="4886325" y="12138660"/>
              <a:ext cx="181736" cy="157734"/>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5078349" y="12138660"/>
              <a:ext cx="181736" cy="157734"/>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5270372" y="12138660"/>
              <a:ext cx="181736" cy="157734"/>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5462397" y="12138660"/>
              <a:ext cx="181736" cy="157734"/>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Rectangle 234"/>
            <p:cNvSpPr/>
            <p:nvPr/>
          </p:nvSpPr>
          <p:spPr>
            <a:xfrm>
              <a:off x="5654421" y="12138660"/>
              <a:ext cx="181736" cy="157734"/>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Rectangle 235"/>
            <p:cNvSpPr/>
            <p:nvPr/>
          </p:nvSpPr>
          <p:spPr>
            <a:xfrm>
              <a:off x="4886325" y="12306680"/>
              <a:ext cx="181736" cy="157734"/>
            </a:xfrm>
            <a:prstGeom prst="rect">
              <a:avLst/>
            </a:prstGeom>
            <a:solidFill>
              <a:srgbClr val="2D9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5078349" y="12306680"/>
              <a:ext cx="181736" cy="157734"/>
            </a:xfrm>
            <a:prstGeom prst="rect">
              <a:avLst/>
            </a:prstGeom>
            <a:solidFill>
              <a:srgbClr val="8BD3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5270372" y="12306680"/>
              <a:ext cx="181736" cy="157734"/>
            </a:xfrm>
            <a:prstGeom prst="rect">
              <a:avLst/>
            </a:prstGeom>
            <a:solidFill>
              <a:srgbClr val="2D9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5462397" y="12306680"/>
              <a:ext cx="181736" cy="157734"/>
            </a:xfrm>
            <a:prstGeom prst="rect">
              <a:avLst/>
            </a:prstGeom>
            <a:solidFill>
              <a:srgbClr val="8BD3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5654421" y="12306680"/>
              <a:ext cx="181736" cy="157734"/>
            </a:xfrm>
            <a:prstGeom prst="rect">
              <a:avLst/>
            </a:prstGeom>
            <a:solidFill>
              <a:srgbClr val="2D9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Rectangle 240"/>
            <p:cNvSpPr/>
            <p:nvPr/>
          </p:nvSpPr>
          <p:spPr>
            <a:xfrm>
              <a:off x="4886325" y="12474702"/>
              <a:ext cx="181736" cy="157734"/>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5078349" y="12474702"/>
              <a:ext cx="181736" cy="157734"/>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5270372" y="12474702"/>
              <a:ext cx="181736" cy="157734"/>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ectangle 243"/>
            <p:cNvSpPr/>
            <p:nvPr/>
          </p:nvSpPr>
          <p:spPr>
            <a:xfrm>
              <a:off x="5462397" y="12474702"/>
              <a:ext cx="181736" cy="157734"/>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5654421" y="12474702"/>
              <a:ext cx="181736" cy="157734"/>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Rectangle 245"/>
            <p:cNvSpPr/>
            <p:nvPr/>
          </p:nvSpPr>
          <p:spPr>
            <a:xfrm>
              <a:off x="4886325" y="12642723"/>
              <a:ext cx="181736" cy="157734"/>
            </a:xfrm>
            <a:prstGeom prst="rect">
              <a:avLst/>
            </a:prstGeom>
            <a:solidFill>
              <a:srgbClr val="8BD3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5078349" y="12642723"/>
              <a:ext cx="181736" cy="157734"/>
            </a:xfrm>
            <a:prstGeom prst="rect">
              <a:avLst/>
            </a:prstGeom>
            <a:solidFill>
              <a:srgbClr val="2D9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5270372" y="12642723"/>
              <a:ext cx="181736" cy="157734"/>
            </a:xfrm>
            <a:prstGeom prst="rect">
              <a:avLst/>
            </a:prstGeom>
            <a:solidFill>
              <a:srgbClr val="8BD3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Rectangle 248"/>
            <p:cNvSpPr/>
            <p:nvPr/>
          </p:nvSpPr>
          <p:spPr>
            <a:xfrm>
              <a:off x="5462397" y="12642723"/>
              <a:ext cx="181736" cy="157734"/>
            </a:xfrm>
            <a:prstGeom prst="rect">
              <a:avLst/>
            </a:prstGeom>
            <a:solidFill>
              <a:srgbClr val="2D9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5654421" y="12642723"/>
              <a:ext cx="181736" cy="157734"/>
            </a:xfrm>
            <a:prstGeom prst="rect">
              <a:avLst/>
            </a:prstGeom>
            <a:solidFill>
              <a:srgbClr val="8BD3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4886325" y="12810744"/>
              <a:ext cx="181736" cy="157734"/>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5078349" y="12810744"/>
              <a:ext cx="181736" cy="157734"/>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5270372" y="12810744"/>
              <a:ext cx="181736" cy="157734"/>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5462397" y="12810744"/>
              <a:ext cx="181736" cy="157734"/>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Rectangle 254"/>
            <p:cNvSpPr/>
            <p:nvPr/>
          </p:nvSpPr>
          <p:spPr>
            <a:xfrm>
              <a:off x="5654421" y="12810744"/>
              <a:ext cx="181736" cy="157734"/>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256" name="TextBox 255"/>
          <p:cNvSpPr txBox="1"/>
          <p:nvPr/>
        </p:nvSpPr>
        <p:spPr>
          <a:xfrm>
            <a:off x="4440555" y="13253084"/>
            <a:ext cx="2143125" cy="394334"/>
          </a:xfrm>
          <a:prstGeom prst="rect">
            <a:avLst/>
          </a:prstGeom>
          <a:noFill/>
        </p:spPr>
        <p:txBody>
          <a:bodyPr wrap="square" lIns="34290" rIns="34290" tIns="0" bIns="0" anchor="ctr">
            <a:spAutoFit/>
          </a:bodyPr>
          <a:lstStyle/>
          <a:p>
            <a:pPr algn="ctr">
              <a:spcBef>
                <a:spcPts val="0"/>
              </a:spcBef>
              <a:spcAft>
                <a:spcPts val="0"/>
              </a:spcAft>
              <a:defRPr sz="1452" b="0">
                <a:solidFill>
                  <a:srgbClr val="162D43"/>
                </a:solidFill>
                <a:latin typeface="Arial"/>
              </a:defRPr>
            </a:pPr>
            <a:r>
              <a:t>14 × 14 × 1024</a:t>
            </a:r>
          </a:p>
        </p:txBody>
      </p:sp>
      <p:cxnSp>
        <p:nvCxnSpPr>
          <p:cNvPr id="257" name="Connector 256"/>
          <p:cNvCxnSpPr/>
          <p:nvPr/>
        </p:nvCxnSpPr>
        <p:spPr>
          <a:xfrm>
            <a:off x="2040254" y="10475594"/>
            <a:ext cx="240031" cy="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280285" y="9292590"/>
            <a:ext cx="0" cy="1183004"/>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a:off x="2280285" y="9292590"/>
            <a:ext cx="257175"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a:off x="2280285" y="10475594"/>
            <a:ext cx="0" cy="2074546"/>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a:off x="2280285" y="12550140"/>
            <a:ext cx="257175"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262" name="Rounded Rectangle 261"/>
          <p:cNvSpPr/>
          <p:nvPr/>
        </p:nvSpPr>
        <p:spPr>
          <a:xfrm>
            <a:off x="6257925" y="8932544"/>
            <a:ext cx="1062989" cy="754380"/>
          </a:xfrm>
          <a:prstGeom prst="roundRect">
            <a:avLst>
              <a:gd name="adj" fmla="val 8000"/>
            </a:avLst>
          </a:prstGeom>
          <a:solidFill>
            <a:srgbClr val="C2DCF9"/>
          </a:solidFill>
          <a:ln w="12700">
            <a:solidFill>
              <a:srgbClr val="4B8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TextBox 262"/>
          <p:cNvSpPr txBox="1"/>
          <p:nvPr/>
        </p:nvSpPr>
        <p:spPr>
          <a:xfrm>
            <a:off x="6309359" y="8966835"/>
            <a:ext cx="960120" cy="685800"/>
          </a:xfrm>
          <a:prstGeom prst="rect">
            <a:avLst/>
          </a:prstGeom>
          <a:noFill/>
        </p:spPr>
        <p:txBody>
          <a:bodyPr wrap="square" lIns="34290" rIns="34290" tIns="0" bIns="0" anchor="ctr">
            <a:spAutoFit/>
          </a:bodyPr>
          <a:lstStyle/>
          <a:p>
            <a:pPr algn="ctr">
              <a:spcBef>
                <a:spcPts val="0"/>
              </a:spcBef>
              <a:spcAft>
                <a:spcPts val="0"/>
              </a:spcAft>
              <a:defRPr sz="1452" b="0">
                <a:solidFill>
                  <a:srgbClr val="162D43"/>
                </a:solidFill>
                <a:latin typeface="Arial"/>
              </a:defRPr>
            </a:pPr>
            <a:r>
              <a:t>768→256</a:t>
            </a:r>
          </a:p>
        </p:txBody>
      </p:sp>
      <p:cxnSp>
        <p:nvCxnSpPr>
          <p:cNvPr id="264" name="Connector 263"/>
          <p:cNvCxnSpPr/>
          <p:nvPr/>
        </p:nvCxnSpPr>
        <p:spPr>
          <a:xfrm>
            <a:off x="5743575" y="9292590"/>
            <a:ext cx="51435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265" name="Rounded Rectangle 264"/>
          <p:cNvSpPr/>
          <p:nvPr/>
        </p:nvSpPr>
        <p:spPr>
          <a:xfrm>
            <a:off x="6257925" y="12172950"/>
            <a:ext cx="1062989" cy="754380"/>
          </a:xfrm>
          <a:prstGeom prst="roundRect">
            <a:avLst>
              <a:gd name="adj" fmla="val 8000"/>
            </a:avLst>
          </a:prstGeom>
          <a:solidFill>
            <a:srgbClr val="D9F1EE"/>
          </a:solidFill>
          <a:ln w="12700">
            <a:solidFill>
              <a:srgbClr val="2DAD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extBox 265"/>
          <p:cNvSpPr txBox="1"/>
          <p:nvPr/>
        </p:nvSpPr>
        <p:spPr>
          <a:xfrm>
            <a:off x="6309359" y="12207240"/>
            <a:ext cx="960120" cy="685800"/>
          </a:xfrm>
          <a:prstGeom prst="rect">
            <a:avLst/>
          </a:prstGeom>
          <a:noFill/>
        </p:spPr>
        <p:txBody>
          <a:bodyPr wrap="square" lIns="34290" rIns="34290" tIns="0" bIns="0" anchor="ctr">
            <a:spAutoFit/>
          </a:bodyPr>
          <a:lstStyle/>
          <a:p>
            <a:pPr algn="ctr">
              <a:spcBef>
                <a:spcPts val="0"/>
              </a:spcBef>
              <a:spcAft>
                <a:spcPts val="0"/>
              </a:spcAft>
              <a:defRPr sz="1320" b="0">
                <a:solidFill>
                  <a:srgbClr val="162D43"/>
                </a:solidFill>
                <a:latin typeface="Arial"/>
              </a:defRPr>
            </a:pPr>
            <a:r>
              <a:t>1024→256</a:t>
            </a:r>
          </a:p>
        </p:txBody>
      </p:sp>
      <p:cxnSp>
        <p:nvCxnSpPr>
          <p:cNvPr id="267" name="Connector 266"/>
          <p:cNvCxnSpPr/>
          <p:nvPr/>
        </p:nvCxnSpPr>
        <p:spPr>
          <a:xfrm>
            <a:off x="5897880" y="12550140"/>
            <a:ext cx="360045"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268" name="Rounded Rectangle 267"/>
          <p:cNvSpPr/>
          <p:nvPr/>
        </p:nvSpPr>
        <p:spPr>
          <a:xfrm>
            <a:off x="7783829" y="8503919"/>
            <a:ext cx="3720464" cy="5537834"/>
          </a:xfrm>
          <a:prstGeom prst="roundRect">
            <a:avLst>
              <a:gd name="adj" fmla="val 8000"/>
            </a:avLst>
          </a:prstGeom>
          <a:solidFill>
            <a:srgbClr val="FFFFFF"/>
          </a:solidFill>
          <a:ln w="1397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TextBox 268"/>
          <p:cNvSpPr txBox="1"/>
          <p:nvPr/>
        </p:nvSpPr>
        <p:spPr>
          <a:xfrm>
            <a:off x="7955279" y="8555355"/>
            <a:ext cx="3377564" cy="445770"/>
          </a:xfrm>
          <a:prstGeom prst="rect">
            <a:avLst/>
          </a:prstGeom>
          <a:noFill/>
        </p:spPr>
        <p:txBody>
          <a:bodyPr wrap="square" lIns="34290" rIns="34290" tIns="0" bIns="0" anchor="ctr">
            <a:spAutoFit/>
          </a:bodyPr>
          <a:lstStyle/>
          <a:p>
            <a:pPr algn="l">
              <a:spcBef>
                <a:spcPts val="0"/>
              </a:spcBef>
              <a:spcAft>
                <a:spcPts val="0"/>
              </a:spcAft>
              <a:defRPr sz="2508" b="1">
                <a:solidFill>
                  <a:srgbClr val="41566A"/>
                </a:solidFill>
                <a:latin typeface="Georgia"/>
              </a:defRPr>
            </a:pPr>
            <a:r>
              <a:t>Semantic–Structure Fusion</a:t>
            </a:r>
          </a:p>
        </p:txBody>
      </p:sp>
      <p:grpSp>
        <p:nvGrpSpPr>
          <p:cNvPr id="270" name="Group 269"/>
          <p:cNvGrpSpPr/>
          <p:nvPr/>
        </p:nvGrpSpPr>
        <p:grpSpPr>
          <a:xfrm>
            <a:off x="8161019" y="9292590"/>
            <a:ext cx="1354456" cy="462913"/>
            <a:chOff x="8161019" y="9292590"/>
            <a:chExt cx="1354456" cy="462913"/>
          </a:xfrm>
        </p:grpSpPr>
        <p:sp>
          <p:nvSpPr>
            <p:cNvPr id="271" name="Rectangle 270"/>
            <p:cNvSpPr/>
            <p:nvPr/>
          </p:nvSpPr>
          <p:spPr>
            <a:xfrm>
              <a:off x="8315325" y="9292590"/>
              <a:ext cx="1200150" cy="308609"/>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Rectangle 271"/>
            <p:cNvSpPr/>
            <p:nvPr/>
          </p:nvSpPr>
          <p:spPr>
            <a:xfrm>
              <a:off x="8238172" y="9369742"/>
              <a:ext cx="1200150" cy="308609"/>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Rectangle 272"/>
            <p:cNvSpPr/>
            <p:nvPr/>
          </p:nvSpPr>
          <p:spPr>
            <a:xfrm>
              <a:off x="8161019" y="9446894"/>
              <a:ext cx="1200150" cy="308609"/>
            </a:xfrm>
            <a:prstGeom prst="rect">
              <a:avLst/>
            </a:prstGeom>
            <a:solidFill>
              <a:srgbClr val="4B8FDA"/>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274" name="TextBox 273"/>
          <p:cNvSpPr txBox="1"/>
          <p:nvPr/>
        </p:nvSpPr>
        <p:spPr>
          <a:xfrm>
            <a:off x="8075294" y="9018269"/>
            <a:ext cx="1954529" cy="394334"/>
          </a:xfrm>
          <a:prstGeom prst="rect">
            <a:avLst/>
          </a:prstGeom>
          <a:noFill/>
        </p:spPr>
        <p:txBody>
          <a:bodyPr wrap="square" lIns="34290" rIns="34290" tIns="0" bIns="0" anchor="ctr">
            <a:spAutoFit/>
          </a:bodyPr>
          <a:lstStyle/>
          <a:p>
            <a:pPr algn="ctr">
              <a:spcBef>
                <a:spcPts val="0"/>
              </a:spcBef>
              <a:spcAft>
                <a:spcPts val="0"/>
              </a:spcAft>
              <a:defRPr sz="1584" b="0">
                <a:solidFill>
                  <a:srgbClr val="162D43"/>
                </a:solidFill>
                <a:latin typeface="Arial"/>
              </a:defRPr>
            </a:pPr>
            <a:r>
              <a:t>Global query Q</a:t>
            </a:r>
          </a:p>
        </p:txBody>
      </p:sp>
      <p:grpSp>
        <p:nvGrpSpPr>
          <p:cNvPr id="275" name="Group 274"/>
          <p:cNvGrpSpPr/>
          <p:nvPr/>
        </p:nvGrpSpPr>
        <p:grpSpPr>
          <a:xfrm>
            <a:off x="8161019" y="11950065"/>
            <a:ext cx="1104139" cy="1018413"/>
            <a:chOff x="8161019" y="11950065"/>
            <a:chExt cx="1104139" cy="1018413"/>
          </a:xfrm>
        </p:grpSpPr>
        <p:sp>
          <p:nvSpPr>
            <p:cNvPr id="276" name="Rectangle 275"/>
            <p:cNvSpPr/>
            <p:nvPr/>
          </p:nvSpPr>
          <p:spPr>
            <a:xfrm>
              <a:off x="8161019" y="11950065"/>
              <a:ext cx="212598" cy="195453"/>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Rectangle 276"/>
            <p:cNvSpPr/>
            <p:nvPr/>
          </p:nvSpPr>
          <p:spPr>
            <a:xfrm>
              <a:off x="8383904" y="11950065"/>
              <a:ext cx="212598" cy="195453"/>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Rectangle 277"/>
            <p:cNvSpPr/>
            <p:nvPr/>
          </p:nvSpPr>
          <p:spPr>
            <a:xfrm>
              <a:off x="8606790" y="11950065"/>
              <a:ext cx="212598" cy="195453"/>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Rectangle 278"/>
            <p:cNvSpPr/>
            <p:nvPr/>
          </p:nvSpPr>
          <p:spPr>
            <a:xfrm>
              <a:off x="8829675" y="11950065"/>
              <a:ext cx="212598" cy="195453"/>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Rectangle 279"/>
            <p:cNvSpPr/>
            <p:nvPr/>
          </p:nvSpPr>
          <p:spPr>
            <a:xfrm>
              <a:off x="9052560" y="11950065"/>
              <a:ext cx="212598" cy="195453"/>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Rectangle 280"/>
            <p:cNvSpPr/>
            <p:nvPr/>
          </p:nvSpPr>
          <p:spPr>
            <a:xfrm>
              <a:off x="8161019" y="12155805"/>
              <a:ext cx="212598" cy="195453"/>
            </a:xfrm>
            <a:prstGeom prst="rect">
              <a:avLst/>
            </a:prstGeom>
            <a:solidFill>
              <a:srgbClr val="2D9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Rectangle 281"/>
            <p:cNvSpPr/>
            <p:nvPr/>
          </p:nvSpPr>
          <p:spPr>
            <a:xfrm>
              <a:off x="8383904" y="12155805"/>
              <a:ext cx="212598" cy="195453"/>
            </a:xfrm>
            <a:prstGeom prst="rect">
              <a:avLst/>
            </a:prstGeom>
            <a:solidFill>
              <a:srgbClr val="8BD3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Rectangle 282"/>
            <p:cNvSpPr/>
            <p:nvPr/>
          </p:nvSpPr>
          <p:spPr>
            <a:xfrm>
              <a:off x="8606790" y="12155805"/>
              <a:ext cx="212598" cy="195453"/>
            </a:xfrm>
            <a:prstGeom prst="rect">
              <a:avLst/>
            </a:prstGeom>
            <a:solidFill>
              <a:srgbClr val="2D9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Rectangle 283"/>
            <p:cNvSpPr/>
            <p:nvPr/>
          </p:nvSpPr>
          <p:spPr>
            <a:xfrm>
              <a:off x="8829675" y="12155805"/>
              <a:ext cx="212598" cy="195453"/>
            </a:xfrm>
            <a:prstGeom prst="rect">
              <a:avLst/>
            </a:prstGeom>
            <a:solidFill>
              <a:srgbClr val="8BD3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Rectangle 284"/>
            <p:cNvSpPr/>
            <p:nvPr/>
          </p:nvSpPr>
          <p:spPr>
            <a:xfrm>
              <a:off x="9052560" y="12155805"/>
              <a:ext cx="212598" cy="195453"/>
            </a:xfrm>
            <a:prstGeom prst="rect">
              <a:avLst/>
            </a:prstGeom>
            <a:solidFill>
              <a:srgbClr val="2D9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Rectangle 285"/>
            <p:cNvSpPr/>
            <p:nvPr/>
          </p:nvSpPr>
          <p:spPr>
            <a:xfrm>
              <a:off x="8161019" y="12361544"/>
              <a:ext cx="212598" cy="195453"/>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Rectangle 286"/>
            <p:cNvSpPr/>
            <p:nvPr/>
          </p:nvSpPr>
          <p:spPr>
            <a:xfrm>
              <a:off x="8383904" y="12361544"/>
              <a:ext cx="212598" cy="195453"/>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Rectangle 287"/>
            <p:cNvSpPr/>
            <p:nvPr/>
          </p:nvSpPr>
          <p:spPr>
            <a:xfrm>
              <a:off x="8606790" y="12361544"/>
              <a:ext cx="212598" cy="195453"/>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Rectangle 288"/>
            <p:cNvSpPr/>
            <p:nvPr/>
          </p:nvSpPr>
          <p:spPr>
            <a:xfrm>
              <a:off x="8829675" y="12361544"/>
              <a:ext cx="212598" cy="195453"/>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Rectangle 289"/>
            <p:cNvSpPr/>
            <p:nvPr/>
          </p:nvSpPr>
          <p:spPr>
            <a:xfrm>
              <a:off x="9052560" y="12361544"/>
              <a:ext cx="212598" cy="195453"/>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Rectangle 290"/>
            <p:cNvSpPr/>
            <p:nvPr/>
          </p:nvSpPr>
          <p:spPr>
            <a:xfrm>
              <a:off x="8161019" y="12567285"/>
              <a:ext cx="212598" cy="195453"/>
            </a:xfrm>
            <a:prstGeom prst="rect">
              <a:avLst/>
            </a:prstGeom>
            <a:solidFill>
              <a:srgbClr val="8BD3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Rectangle 291"/>
            <p:cNvSpPr/>
            <p:nvPr/>
          </p:nvSpPr>
          <p:spPr>
            <a:xfrm>
              <a:off x="8383904" y="12567285"/>
              <a:ext cx="212598" cy="195453"/>
            </a:xfrm>
            <a:prstGeom prst="rect">
              <a:avLst/>
            </a:prstGeom>
            <a:solidFill>
              <a:srgbClr val="2D9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Rectangle 292"/>
            <p:cNvSpPr/>
            <p:nvPr/>
          </p:nvSpPr>
          <p:spPr>
            <a:xfrm>
              <a:off x="8606790" y="12567285"/>
              <a:ext cx="212598" cy="195453"/>
            </a:xfrm>
            <a:prstGeom prst="rect">
              <a:avLst/>
            </a:prstGeom>
            <a:solidFill>
              <a:srgbClr val="8BD3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Rectangle 293"/>
            <p:cNvSpPr/>
            <p:nvPr/>
          </p:nvSpPr>
          <p:spPr>
            <a:xfrm>
              <a:off x="8829675" y="12567285"/>
              <a:ext cx="212598" cy="195453"/>
            </a:xfrm>
            <a:prstGeom prst="rect">
              <a:avLst/>
            </a:prstGeom>
            <a:solidFill>
              <a:srgbClr val="2D9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Rectangle 294"/>
            <p:cNvSpPr/>
            <p:nvPr/>
          </p:nvSpPr>
          <p:spPr>
            <a:xfrm>
              <a:off x="9052560" y="12567285"/>
              <a:ext cx="212598" cy="195453"/>
            </a:xfrm>
            <a:prstGeom prst="rect">
              <a:avLst/>
            </a:prstGeom>
            <a:solidFill>
              <a:srgbClr val="8BD3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Rectangle 295"/>
            <p:cNvSpPr/>
            <p:nvPr/>
          </p:nvSpPr>
          <p:spPr>
            <a:xfrm>
              <a:off x="8161019" y="12773025"/>
              <a:ext cx="212598" cy="195453"/>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Rectangle 296"/>
            <p:cNvSpPr/>
            <p:nvPr/>
          </p:nvSpPr>
          <p:spPr>
            <a:xfrm>
              <a:off x="8383904" y="12773025"/>
              <a:ext cx="212598" cy="195453"/>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Rectangle 297"/>
            <p:cNvSpPr/>
            <p:nvPr/>
          </p:nvSpPr>
          <p:spPr>
            <a:xfrm>
              <a:off x="8606790" y="12773025"/>
              <a:ext cx="212598" cy="195453"/>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Rectangle 298"/>
            <p:cNvSpPr/>
            <p:nvPr/>
          </p:nvSpPr>
          <p:spPr>
            <a:xfrm>
              <a:off x="8829675" y="12773025"/>
              <a:ext cx="212598" cy="195453"/>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Rectangle 299"/>
            <p:cNvSpPr/>
            <p:nvPr/>
          </p:nvSpPr>
          <p:spPr>
            <a:xfrm>
              <a:off x="9052560" y="12773025"/>
              <a:ext cx="212598" cy="195453"/>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301" name="Group 300"/>
          <p:cNvGrpSpPr/>
          <p:nvPr/>
        </p:nvGrpSpPr>
        <p:grpSpPr>
          <a:xfrm>
            <a:off x="9738360" y="11950065"/>
            <a:ext cx="1104138" cy="1018413"/>
            <a:chOff x="9738360" y="11950065"/>
            <a:chExt cx="1104138" cy="1018413"/>
          </a:xfrm>
        </p:grpSpPr>
        <p:sp>
          <p:nvSpPr>
            <p:cNvPr id="302" name="Rectangle 301"/>
            <p:cNvSpPr/>
            <p:nvPr/>
          </p:nvSpPr>
          <p:spPr>
            <a:xfrm>
              <a:off x="9738360" y="11950065"/>
              <a:ext cx="212598" cy="195453"/>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Rectangle 302"/>
            <p:cNvSpPr/>
            <p:nvPr/>
          </p:nvSpPr>
          <p:spPr>
            <a:xfrm>
              <a:off x="9961244" y="11950065"/>
              <a:ext cx="212598" cy="195453"/>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Rectangle 303"/>
            <p:cNvSpPr/>
            <p:nvPr/>
          </p:nvSpPr>
          <p:spPr>
            <a:xfrm>
              <a:off x="10184130" y="11950065"/>
              <a:ext cx="212598" cy="195453"/>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Rectangle 304"/>
            <p:cNvSpPr/>
            <p:nvPr/>
          </p:nvSpPr>
          <p:spPr>
            <a:xfrm>
              <a:off x="10407015" y="11950065"/>
              <a:ext cx="212598" cy="195453"/>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Rectangle 305"/>
            <p:cNvSpPr/>
            <p:nvPr/>
          </p:nvSpPr>
          <p:spPr>
            <a:xfrm>
              <a:off x="10629900" y="11950065"/>
              <a:ext cx="212598" cy="195453"/>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Rectangle 306"/>
            <p:cNvSpPr/>
            <p:nvPr/>
          </p:nvSpPr>
          <p:spPr>
            <a:xfrm>
              <a:off x="9738360" y="12155805"/>
              <a:ext cx="212598" cy="195453"/>
            </a:xfrm>
            <a:prstGeom prst="rect">
              <a:avLst/>
            </a:prstGeom>
            <a:solidFill>
              <a:srgbClr val="2D9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Rectangle 307"/>
            <p:cNvSpPr/>
            <p:nvPr/>
          </p:nvSpPr>
          <p:spPr>
            <a:xfrm>
              <a:off x="9961244" y="12155805"/>
              <a:ext cx="212598" cy="195453"/>
            </a:xfrm>
            <a:prstGeom prst="rect">
              <a:avLst/>
            </a:prstGeom>
            <a:solidFill>
              <a:srgbClr val="8BD3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Rectangle 308"/>
            <p:cNvSpPr/>
            <p:nvPr/>
          </p:nvSpPr>
          <p:spPr>
            <a:xfrm>
              <a:off x="10184130" y="12155805"/>
              <a:ext cx="212598" cy="195453"/>
            </a:xfrm>
            <a:prstGeom prst="rect">
              <a:avLst/>
            </a:prstGeom>
            <a:solidFill>
              <a:srgbClr val="2D9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Rectangle 309"/>
            <p:cNvSpPr/>
            <p:nvPr/>
          </p:nvSpPr>
          <p:spPr>
            <a:xfrm>
              <a:off x="10407015" y="12155805"/>
              <a:ext cx="212598" cy="195453"/>
            </a:xfrm>
            <a:prstGeom prst="rect">
              <a:avLst/>
            </a:prstGeom>
            <a:solidFill>
              <a:srgbClr val="8BD3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Rectangle 310"/>
            <p:cNvSpPr/>
            <p:nvPr/>
          </p:nvSpPr>
          <p:spPr>
            <a:xfrm>
              <a:off x="10629900" y="12155805"/>
              <a:ext cx="212598" cy="195453"/>
            </a:xfrm>
            <a:prstGeom prst="rect">
              <a:avLst/>
            </a:prstGeom>
            <a:solidFill>
              <a:srgbClr val="2D9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Rectangle 311"/>
            <p:cNvSpPr/>
            <p:nvPr/>
          </p:nvSpPr>
          <p:spPr>
            <a:xfrm>
              <a:off x="9738360" y="12361544"/>
              <a:ext cx="212598" cy="195453"/>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Rectangle 312"/>
            <p:cNvSpPr/>
            <p:nvPr/>
          </p:nvSpPr>
          <p:spPr>
            <a:xfrm>
              <a:off x="9961244" y="12361544"/>
              <a:ext cx="212598" cy="195453"/>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Rectangle 313"/>
            <p:cNvSpPr/>
            <p:nvPr/>
          </p:nvSpPr>
          <p:spPr>
            <a:xfrm>
              <a:off x="10184130" y="12361544"/>
              <a:ext cx="212598" cy="195453"/>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Rectangle 314"/>
            <p:cNvSpPr/>
            <p:nvPr/>
          </p:nvSpPr>
          <p:spPr>
            <a:xfrm>
              <a:off x="10407015" y="12361544"/>
              <a:ext cx="212598" cy="195453"/>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Rectangle 315"/>
            <p:cNvSpPr/>
            <p:nvPr/>
          </p:nvSpPr>
          <p:spPr>
            <a:xfrm>
              <a:off x="10629900" y="12361544"/>
              <a:ext cx="212598" cy="195453"/>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Rectangle 316"/>
            <p:cNvSpPr/>
            <p:nvPr/>
          </p:nvSpPr>
          <p:spPr>
            <a:xfrm>
              <a:off x="9738360" y="12567285"/>
              <a:ext cx="212598" cy="195453"/>
            </a:xfrm>
            <a:prstGeom prst="rect">
              <a:avLst/>
            </a:prstGeom>
            <a:solidFill>
              <a:srgbClr val="8BD3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Rectangle 317"/>
            <p:cNvSpPr/>
            <p:nvPr/>
          </p:nvSpPr>
          <p:spPr>
            <a:xfrm>
              <a:off x="9961244" y="12567285"/>
              <a:ext cx="212598" cy="195453"/>
            </a:xfrm>
            <a:prstGeom prst="rect">
              <a:avLst/>
            </a:prstGeom>
            <a:solidFill>
              <a:srgbClr val="2D9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Rectangle 318"/>
            <p:cNvSpPr/>
            <p:nvPr/>
          </p:nvSpPr>
          <p:spPr>
            <a:xfrm>
              <a:off x="10184130" y="12567285"/>
              <a:ext cx="212598" cy="195453"/>
            </a:xfrm>
            <a:prstGeom prst="rect">
              <a:avLst/>
            </a:prstGeom>
            <a:solidFill>
              <a:srgbClr val="8BD3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Rectangle 319"/>
            <p:cNvSpPr/>
            <p:nvPr/>
          </p:nvSpPr>
          <p:spPr>
            <a:xfrm>
              <a:off x="10407015" y="12567285"/>
              <a:ext cx="212598" cy="195453"/>
            </a:xfrm>
            <a:prstGeom prst="rect">
              <a:avLst/>
            </a:prstGeom>
            <a:solidFill>
              <a:srgbClr val="2D9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Rectangle 320"/>
            <p:cNvSpPr/>
            <p:nvPr/>
          </p:nvSpPr>
          <p:spPr>
            <a:xfrm>
              <a:off x="10629900" y="12567285"/>
              <a:ext cx="212598" cy="195453"/>
            </a:xfrm>
            <a:prstGeom prst="rect">
              <a:avLst/>
            </a:prstGeom>
            <a:solidFill>
              <a:srgbClr val="8BD3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Rectangle 321"/>
            <p:cNvSpPr/>
            <p:nvPr/>
          </p:nvSpPr>
          <p:spPr>
            <a:xfrm>
              <a:off x="9738360" y="12773025"/>
              <a:ext cx="212598" cy="195453"/>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Rectangle 322"/>
            <p:cNvSpPr/>
            <p:nvPr/>
          </p:nvSpPr>
          <p:spPr>
            <a:xfrm>
              <a:off x="9961244" y="12773025"/>
              <a:ext cx="212598" cy="195453"/>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Rectangle 323"/>
            <p:cNvSpPr/>
            <p:nvPr/>
          </p:nvSpPr>
          <p:spPr>
            <a:xfrm>
              <a:off x="10184130" y="12773025"/>
              <a:ext cx="212598" cy="195453"/>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Rectangle 324"/>
            <p:cNvSpPr/>
            <p:nvPr/>
          </p:nvSpPr>
          <p:spPr>
            <a:xfrm>
              <a:off x="10407015" y="12773025"/>
              <a:ext cx="212598" cy="195453"/>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Rectangle 325"/>
            <p:cNvSpPr/>
            <p:nvPr/>
          </p:nvSpPr>
          <p:spPr>
            <a:xfrm>
              <a:off x="10629900" y="12773025"/>
              <a:ext cx="212598" cy="195453"/>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327" name="TextBox 326"/>
          <p:cNvSpPr txBox="1"/>
          <p:nvPr/>
        </p:nvSpPr>
        <p:spPr>
          <a:xfrm>
            <a:off x="8126729" y="13098780"/>
            <a:ext cx="2760345" cy="411479"/>
          </a:xfrm>
          <a:prstGeom prst="rect">
            <a:avLst/>
          </a:prstGeom>
          <a:noFill/>
        </p:spPr>
        <p:txBody>
          <a:bodyPr wrap="square" lIns="34290" rIns="34290" tIns="0" bIns="0" anchor="ctr">
            <a:spAutoFit/>
          </a:bodyPr>
          <a:lstStyle/>
          <a:p>
            <a:pPr algn="ctr">
              <a:spcBef>
                <a:spcPts val="0"/>
              </a:spcBef>
              <a:spcAft>
                <a:spcPts val="0"/>
              </a:spcAft>
              <a:defRPr sz="1584" b="0">
                <a:solidFill>
                  <a:srgbClr val="162D43"/>
                </a:solidFill>
                <a:latin typeface="Arial"/>
              </a:defRPr>
            </a:pPr>
            <a:r>
              <a:t>Local keys / values</a:t>
            </a:r>
          </a:p>
        </p:txBody>
      </p:sp>
      <p:grpSp>
        <p:nvGrpSpPr>
          <p:cNvPr id="328" name="Group 327"/>
          <p:cNvGrpSpPr/>
          <p:nvPr/>
        </p:nvGrpSpPr>
        <p:grpSpPr>
          <a:xfrm>
            <a:off x="9069705" y="10269855"/>
            <a:ext cx="1584197" cy="1172717"/>
            <a:chOff x="9069705" y="10269855"/>
            <a:chExt cx="1584197" cy="1172717"/>
          </a:xfrm>
        </p:grpSpPr>
        <p:sp>
          <p:nvSpPr>
            <p:cNvPr id="329" name="Rectangle 328"/>
            <p:cNvSpPr/>
            <p:nvPr/>
          </p:nvSpPr>
          <p:spPr>
            <a:xfrm>
              <a:off x="9069705" y="10269855"/>
              <a:ext cx="255460" cy="186880"/>
            </a:xfrm>
            <a:prstGeom prst="rect">
              <a:avLst/>
            </a:prstGeom>
            <a:solidFill>
              <a:srgbClr val="E5EF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335452" y="10269855"/>
              <a:ext cx="255460" cy="186880"/>
            </a:xfrm>
            <a:prstGeom prst="rect">
              <a:avLst/>
            </a:prstGeom>
            <a:solidFill>
              <a:srgbClr val="8EAD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601200" y="10269855"/>
              <a:ext cx="255460" cy="186880"/>
            </a:xfrm>
            <a:prstGeom prst="rect">
              <a:avLst/>
            </a:prstGeom>
            <a:solidFill>
              <a:srgbClr val="E7CA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9866947" y="10269855"/>
              <a:ext cx="255460" cy="186880"/>
            </a:xfrm>
            <a:prstGeom prst="rect">
              <a:avLst/>
            </a:prstGeom>
            <a:solidFill>
              <a:srgbClr val="AAC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132694" y="10269855"/>
              <a:ext cx="255460" cy="186880"/>
            </a:xfrm>
            <a:prstGeom prst="rect">
              <a:avLst/>
            </a:prstGeom>
            <a:solidFill>
              <a:srgbClr val="DDD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398442" y="10269855"/>
              <a:ext cx="255460" cy="186880"/>
            </a:xfrm>
            <a:prstGeom prst="rect">
              <a:avLst/>
            </a:prstGeom>
            <a:solidFill>
              <a:srgbClr val="E5EF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9069705" y="10467022"/>
              <a:ext cx="255460" cy="186880"/>
            </a:xfrm>
            <a:prstGeom prst="rect">
              <a:avLst/>
            </a:prstGeom>
            <a:solidFill>
              <a:srgbClr val="DDD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9335452" y="10467022"/>
              <a:ext cx="255460" cy="186880"/>
            </a:xfrm>
            <a:prstGeom prst="rect">
              <a:avLst/>
            </a:prstGeom>
            <a:solidFill>
              <a:srgbClr val="E5EF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9601200" y="10467022"/>
              <a:ext cx="255460" cy="186880"/>
            </a:xfrm>
            <a:prstGeom prst="rect">
              <a:avLst/>
            </a:prstGeom>
            <a:solidFill>
              <a:srgbClr val="8EAD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9866947" y="10467022"/>
              <a:ext cx="255460" cy="186880"/>
            </a:xfrm>
            <a:prstGeom prst="rect">
              <a:avLst/>
            </a:prstGeom>
            <a:solidFill>
              <a:srgbClr val="E7CA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0132694" y="10467022"/>
              <a:ext cx="255460" cy="186880"/>
            </a:xfrm>
            <a:prstGeom prst="rect">
              <a:avLst/>
            </a:prstGeom>
            <a:solidFill>
              <a:srgbClr val="AAC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0398442" y="10467022"/>
              <a:ext cx="255460" cy="186880"/>
            </a:xfrm>
            <a:prstGeom prst="rect">
              <a:avLst/>
            </a:prstGeom>
            <a:solidFill>
              <a:srgbClr val="DDD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9069705" y="10664190"/>
              <a:ext cx="255460" cy="186880"/>
            </a:xfrm>
            <a:prstGeom prst="rect">
              <a:avLst/>
            </a:prstGeom>
            <a:solidFill>
              <a:srgbClr val="AAC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9335452" y="10664190"/>
              <a:ext cx="255460" cy="186880"/>
            </a:xfrm>
            <a:prstGeom prst="rect">
              <a:avLst/>
            </a:prstGeom>
            <a:solidFill>
              <a:srgbClr val="DDD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9601200" y="10664190"/>
              <a:ext cx="255460" cy="186880"/>
            </a:xfrm>
            <a:prstGeom prst="rect">
              <a:avLst/>
            </a:prstGeom>
            <a:solidFill>
              <a:srgbClr val="E5EF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9866947" y="10664190"/>
              <a:ext cx="255460" cy="186880"/>
            </a:xfrm>
            <a:prstGeom prst="rect">
              <a:avLst/>
            </a:prstGeom>
            <a:solidFill>
              <a:srgbClr val="8EAD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0132694" y="10664190"/>
              <a:ext cx="255460" cy="186880"/>
            </a:xfrm>
            <a:prstGeom prst="rect">
              <a:avLst/>
            </a:prstGeom>
            <a:solidFill>
              <a:srgbClr val="E7CA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0398442" y="10664190"/>
              <a:ext cx="255460" cy="186880"/>
            </a:xfrm>
            <a:prstGeom prst="rect">
              <a:avLst/>
            </a:prstGeom>
            <a:solidFill>
              <a:srgbClr val="AAC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9069705" y="10861357"/>
              <a:ext cx="255460" cy="186880"/>
            </a:xfrm>
            <a:prstGeom prst="rect">
              <a:avLst/>
            </a:prstGeom>
            <a:solidFill>
              <a:srgbClr val="E7CA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9335452" y="10861357"/>
              <a:ext cx="255460" cy="186880"/>
            </a:xfrm>
            <a:prstGeom prst="rect">
              <a:avLst/>
            </a:prstGeom>
            <a:solidFill>
              <a:srgbClr val="AAC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9601200" y="10861357"/>
              <a:ext cx="255460" cy="186880"/>
            </a:xfrm>
            <a:prstGeom prst="rect">
              <a:avLst/>
            </a:prstGeom>
            <a:solidFill>
              <a:srgbClr val="DDD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9866947" y="10861357"/>
              <a:ext cx="255460" cy="186880"/>
            </a:xfrm>
            <a:prstGeom prst="rect">
              <a:avLst/>
            </a:prstGeom>
            <a:solidFill>
              <a:srgbClr val="E5EF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0132694" y="10861357"/>
              <a:ext cx="255460" cy="186880"/>
            </a:xfrm>
            <a:prstGeom prst="rect">
              <a:avLst/>
            </a:prstGeom>
            <a:solidFill>
              <a:srgbClr val="8EAD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0398442" y="10861357"/>
              <a:ext cx="255460" cy="186880"/>
            </a:xfrm>
            <a:prstGeom prst="rect">
              <a:avLst/>
            </a:prstGeom>
            <a:solidFill>
              <a:srgbClr val="E7CA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9069705" y="11058525"/>
              <a:ext cx="255460" cy="186880"/>
            </a:xfrm>
            <a:prstGeom prst="rect">
              <a:avLst/>
            </a:prstGeom>
            <a:solidFill>
              <a:srgbClr val="8EAD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9335452" y="11058525"/>
              <a:ext cx="255460" cy="186880"/>
            </a:xfrm>
            <a:prstGeom prst="rect">
              <a:avLst/>
            </a:prstGeom>
            <a:solidFill>
              <a:srgbClr val="E7CA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9601200" y="11058525"/>
              <a:ext cx="255460" cy="186880"/>
            </a:xfrm>
            <a:prstGeom prst="rect">
              <a:avLst/>
            </a:prstGeom>
            <a:solidFill>
              <a:srgbClr val="AAC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9866947" y="11058525"/>
              <a:ext cx="255460" cy="186880"/>
            </a:xfrm>
            <a:prstGeom prst="rect">
              <a:avLst/>
            </a:prstGeom>
            <a:solidFill>
              <a:srgbClr val="DDD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0132694" y="11058525"/>
              <a:ext cx="255460" cy="186880"/>
            </a:xfrm>
            <a:prstGeom prst="rect">
              <a:avLst/>
            </a:prstGeom>
            <a:solidFill>
              <a:srgbClr val="E5EF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0398442" y="11058525"/>
              <a:ext cx="255460" cy="186880"/>
            </a:xfrm>
            <a:prstGeom prst="rect">
              <a:avLst/>
            </a:prstGeom>
            <a:solidFill>
              <a:srgbClr val="8EAD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9069705" y="11255692"/>
              <a:ext cx="255460" cy="186880"/>
            </a:xfrm>
            <a:prstGeom prst="rect">
              <a:avLst/>
            </a:prstGeom>
            <a:solidFill>
              <a:srgbClr val="E5EF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9335452" y="11255692"/>
              <a:ext cx="255460" cy="186880"/>
            </a:xfrm>
            <a:prstGeom prst="rect">
              <a:avLst/>
            </a:prstGeom>
            <a:solidFill>
              <a:srgbClr val="8EAD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9601200" y="11255692"/>
              <a:ext cx="255460" cy="186880"/>
            </a:xfrm>
            <a:prstGeom prst="rect">
              <a:avLst/>
            </a:prstGeom>
            <a:solidFill>
              <a:srgbClr val="E7CA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9866947" y="11255692"/>
              <a:ext cx="255460" cy="186880"/>
            </a:xfrm>
            <a:prstGeom prst="rect">
              <a:avLst/>
            </a:prstGeom>
            <a:solidFill>
              <a:srgbClr val="AAC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10132694" y="11255692"/>
              <a:ext cx="255460" cy="186880"/>
            </a:xfrm>
            <a:prstGeom prst="rect">
              <a:avLst/>
            </a:prstGeom>
            <a:solidFill>
              <a:srgbClr val="DDD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10398442" y="11255692"/>
              <a:ext cx="255460" cy="186880"/>
            </a:xfrm>
            <a:prstGeom prst="rect">
              <a:avLst/>
            </a:prstGeom>
            <a:solidFill>
              <a:srgbClr val="E5EF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cxnSp>
        <p:nvCxnSpPr>
          <p:cNvPr id="365" name="Connector 364"/>
          <p:cNvCxnSpPr/>
          <p:nvPr/>
        </p:nvCxnSpPr>
        <p:spPr>
          <a:xfrm>
            <a:off x="9361169" y="9601200"/>
            <a:ext cx="171450" cy="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9532619" y="9601200"/>
            <a:ext cx="0" cy="58293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flipV="1">
            <a:off x="8675369" y="10904219"/>
            <a:ext cx="0" cy="1045846"/>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8675369" y="10904219"/>
            <a:ext cx="325756"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flipV="1">
            <a:off x="10287000" y="11538585"/>
            <a:ext cx="0" cy="41148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7320915" y="9309735"/>
            <a:ext cx="342900" cy="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7663815" y="9309735"/>
            <a:ext cx="0" cy="291465"/>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7663815" y="9601200"/>
            <a:ext cx="428625"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7320915" y="12550140"/>
            <a:ext cx="377189" cy="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flipV="1">
            <a:off x="7698104" y="12447269"/>
            <a:ext cx="0" cy="102871"/>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7698104" y="12447269"/>
            <a:ext cx="394336"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376" name="TextBox 375"/>
          <p:cNvSpPr txBox="1"/>
          <p:nvPr/>
        </p:nvSpPr>
        <p:spPr>
          <a:xfrm>
            <a:off x="8126729" y="13561694"/>
            <a:ext cx="3034665" cy="411479"/>
          </a:xfrm>
          <a:prstGeom prst="rect">
            <a:avLst/>
          </a:prstGeom>
          <a:noFill/>
        </p:spPr>
        <p:txBody>
          <a:bodyPr wrap="square" lIns="34290" rIns="34290" tIns="0" bIns="0" anchor="ctr">
            <a:spAutoFit/>
          </a:bodyPr>
          <a:lstStyle/>
          <a:p>
            <a:pPr algn="ctr">
              <a:spcBef>
                <a:spcPts val="0"/>
              </a:spcBef>
              <a:spcAft>
                <a:spcPts val="0"/>
              </a:spcAft>
              <a:defRPr sz="1584" b="1">
                <a:solidFill>
                  <a:srgbClr val="162D43"/>
                </a:solidFill>
                <a:latin typeface="Arial"/>
              </a:defRPr>
            </a:pPr>
            <a:r>
              <a:t>z: 256-D · shared by Q / A</a:t>
            </a:r>
          </a:p>
        </p:txBody>
      </p:sp>
      <p:sp>
        <p:nvSpPr>
          <p:cNvPr id="377" name="Rounded Rectangle 376"/>
          <p:cNvSpPr/>
          <p:nvPr/>
        </p:nvSpPr>
        <p:spPr>
          <a:xfrm>
            <a:off x="4817745" y="14281784"/>
            <a:ext cx="2554604" cy="857250"/>
          </a:xfrm>
          <a:prstGeom prst="roundRect">
            <a:avLst>
              <a:gd name="adj" fmla="val 8000"/>
            </a:avLst>
          </a:prstGeom>
          <a:solidFill>
            <a:srgbClr val="D9F1EE"/>
          </a:solidFill>
          <a:ln w="12700">
            <a:solidFill>
              <a:srgbClr val="2DAD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TextBox 377"/>
          <p:cNvSpPr txBox="1"/>
          <p:nvPr/>
        </p:nvSpPr>
        <p:spPr>
          <a:xfrm>
            <a:off x="4869180" y="14316075"/>
            <a:ext cx="2451735" cy="788669"/>
          </a:xfrm>
          <a:prstGeom prst="rect">
            <a:avLst/>
          </a:prstGeom>
          <a:noFill/>
        </p:spPr>
        <p:txBody>
          <a:bodyPr wrap="square" lIns="34290" rIns="34290" tIns="0" bIns="0" anchor="ctr">
            <a:spAutoFit/>
          </a:bodyPr>
          <a:lstStyle/>
          <a:p>
            <a:pPr algn="ctr">
              <a:spcBef>
                <a:spcPts val="0"/>
              </a:spcBef>
              <a:spcAft>
                <a:spcPts val="0"/>
              </a:spcAft>
              <a:defRPr sz="1452" b="0">
                <a:solidFill>
                  <a:srgbClr val="162D43"/>
                </a:solidFill>
                <a:latin typeface="Arial"/>
              </a:defRPr>
            </a:pPr>
            <a:r>
              <a:t>Shared local projection L</a:t>
            </a:r>
          </a:p>
          <a:p>
            <a:pPr algn="ctr">
              <a:spcBef>
                <a:spcPts val="0"/>
              </a:spcBef>
              <a:spcAft>
                <a:spcPts val="0"/>
              </a:spcAft>
              <a:defRPr sz="1452" b="0">
                <a:solidFill>
                  <a:srgbClr val="162D43"/>
                </a:solidFill>
                <a:latin typeface="Arial"/>
              </a:defRPr>
            </a:pPr>
            <a:r>
              <a:t>P₀: 196 × 256</a:t>
            </a:r>
          </a:p>
        </p:txBody>
      </p:sp>
      <p:cxnSp>
        <p:nvCxnSpPr>
          <p:cNvPr id="379" name="Connector 378"/>
          <p:cNvCxnSpPr/>
          <p:nvPr/>
        </p:nvCxnSpPr>
        <p:spPr>
          <a:xfrm>
            <a:off x="6789420" y="12927330"/>
            <a:ext cx="0" cy="1045845"/>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flipH="1">
            <a:off x="6103620" y="13973175"/>
            <a:ext cx="685800" cy="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6103620" y="13973175"/>
            <a:ext cx="0" cy="308609"/>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382" name="Rounded Rectangle 381"/>
          <p:cNvSpPr/>
          <p:nvPr/>
        </p:nvSpPr>
        <p:spPr>
          <a:xfrm>
            <a:off x="11984355" y="8452485"/>
            <a:ext cx="15036164" cy="4817745"/>
          </a:xfrm>
          <a:prstGeom prst="roundRect">
            <a:avLst>
              <a:gd name="adj" fmla="val 8000"/>
            </a:avLst>
          </a:prstGeom>
          <a:solidFill>
            <a:srgbClr val="F1FAF8"/>
          </a:solidFill>
          <a:ln w="13970">
            <a:solidFill>
              <a:srgbClr val="2DAD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TextBox 382"/>
          <p:cNvSpPr txBox="1"/>
          <p:nvPr/>
        </p:nvSpPr>
        <p:spPr>
          <a:xfrm>
            <a:off x="12155805" y="8503919"/>
            <a:ext cx="14693264" cy="445770"/>
          </a:xfrm>
          <a:prstGeom prst="rect">
            <a:avLst/>
          </a:prstGeom>
          <a:noFill/>
        </p:spPr>
        <p:txBody>
          <a:bodyPr wrap="square" lIns="34290" rIns="34290" tIns="0" bIns="0" anchor="ctr">
            <a:spAutoFit/>
          </a:bodyPr>
          <a:lstStyle/>
          <a:p>
            <a:pPr algn="l">
              <a:spcBef>
                <a:spcPts val="0"/>
              </a:spcBef>
              <a:spcAft>
                <a:spcPts val="0"/>
              </a:spcAft>
              <a:defRPr sz="2508" b="1">
                <a:solidFill>
                  <a:srgbClr val="2DADAE"/>
                </a:solidFill>
                <a:latin typeface="Georgia"/>
              </a:defRPr>
            </a:pPr>
            <a:r>
              <a:t>Quality branch (Q)</a:t>
            </a:r>
          </a:p>
        </p:txBody>
      </p:sp>
      <p:grpSp>
        <p:nvGrpSpPr>
          <p:cNvPr id="384" name="Group 383"/>
          <p:cNvGrpSpPr/>
          <p:nvPr/>
        </p:nvGrpSpPr>
        <p:grpSpPr>
          <a:xfrm>
            <a:off x="12258675" y="9326880"/>
            <a:ext cx="428625" cy="754380"/>
            <a:chOff x="12258675" y="9326880"/>
            <a:chExt cx="428625" cy="754380"/>
          </a:xfrm>
        </p:grpSpPr>
        <p:sp>
          <p:nvSpPr>
            <p:cNvPr id="385" name="Rectangle 384"/>
            <p:cNvSpPr/>
            <p:nvPr/>
          </p:nvSpPr>
          <p:spPr>
            <a:xfrm>
              <a:off x="12412980" y="9326880"/>
              <a:ext cx="274320" cy="600075"/>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12335827" y="9404032"/>
              <a:ext cx="274320" cy="600075"/>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12258675" y="9481185"/>
              <a:ext cx="274320" cy="600075"/>
            </a:xfrm>
            <a:prstGeom prst="rect">
              <a:avLst/>
            </a:prstGeom>
            <a:solidFill>
              <a:srgbClr val="4B8FDA"/>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388" name="TextBox 387"/>
          <p:cNvSpPr txBox="1"/>
          <p:nvPr/>
        </p:nvSpPr>
        <p:spPr>
          <a:xfrm>
            <a:off x="12087225" y="9001125"/>
            <a:ext cx="617219" cy="342900"/>
          </a:xfrm>
          <a:prstGeom prst="rect">
            <a:avLst/>
          </a:prstGeom>
          <a:noFill/>
        </p:spPr>
        <p:txBody>
          <a:bodyPr wrap="square" lIns="34290" rIns="34290" tIns="0" bIns="0" anchor="ctr">
            <a:spAutoFit/>
          </a:bodyPr>
          <a:lstStyle/>
          <a:p>
            <a:pPr algn="ctr">
              <a:spcBef>
                <a:spcPts val="0"/>
              </a:spcBef>
              <a:spcAft>
                <a:spcPts val="0"/>
              </a:spcAft>
              <a:defRPr sz="1584" b="1">
                <a:solidFill>
                  <a:srgbClr val="162D43"/>
                </a:solidFill>
                <a:latin typeface="Arial"/>
              </a:defRPr>
            </a:pPr>
            <a:r>
              <a:t>z</a:t>
            </a:r>
          </a:p>
        </p:txBody>
      </p:sp>
      <p:sp>
        <p:nvSpPr>
          <p:cNvPr id="389" name="Rounded Rectangle 388"/>
          <p:cNvSpPr/>
          <p:nvPr/>
        </p:nvSpPr>
        <p:spPr>
          <a:xfrm>
            <a:off x="12995910" y="9138285"/>
            <a:ext cx="3154679" cy="1200150"/>
          </a:xfrm>
          <a:prstGeom prst="roundRect">
            <a:avLst>
              <a:gd name="adj" fmla="val 8000"/>
            </a:avLst>
          </a:prstGeom>
          <a:solidFill>
            <a:srgbClr val="FFFFFF"/>
          </a:solidFill>
          <a:ln w="13970">
            <a:solidFill>
              <a:srgbClr val="2DAD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0" name="TextBox 389"/>
          <p:cNvSpPr txBox="1"/>
          <p:nvPr/>
        </p:nvSpPr>
        <p:spPr>
          <a:xfrm>
            <a:off x="13167359" y="9189719"/>
            <a:ext cx="2811779" cy="445770"/>
          </a:xfrm>
          <a:prstGeom prst="rect">
            <a:avLst/>
          </a:prstGeom>
          <a:noFill/>
        </p:spPr>
        <p:txBody>
          <a:bodyPr wrap="square" lIns="34290" rIns="34290" tIns="0" bIns="0" anchor="ctr">
            <a:spAutoFit/>
          </a:bodyPr>
          <a:lstStyle/>
          <a:p>
            <a:pPr algn="l">
              <a:spcBef>
                <a:spcPts val="0"/>
              </a:spcBef>
              <a:spcAft>
                <a:spcPts val="0"/>
              </a:spcAft>
              <a:defRPr sz="2508" b="1">
                <a:solidFill>
                  <a:srgbClr val="2DADAE"/>
                </a:solidFill>
                <a:latin typeface="Georgia"/>
              </a:defRPr>
            </a:pPr>
            <a:r>
              <a:t>Quality Adapter</a:t>
            </a:r>
          </a:p>
        </p:txBody>
      </p:sp>
      <p:sp>
        <p:nvSpPr>
          <p:cNvPr id="391" name="Trapezoid 390"/>
          <p:cNvSpPr/>
          <p:nvPr/>
        </p:nvSpPr>
        <p:spPr>
          <a:xfrm>
            <a:off x="13287375" y="9704069"/>
            <a:ext cx="582930" cy="411479"/>
          </a:xfrm>
          <a:prstGeom prst="trapezoid">
            <a:avLst/>
          </a:prstGeom>
          <a:solidFill>
            <a:srgbClr val="D9F1EE"/>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2" name="TextBox 391"/>
          <p:cNvSpPr txBox="1"/>
          <p:nvPr/>
        </p:nvSpPr>
        <p:spPr>
          <a:xfrm>
            <a:off x="13235940" y="9738360"/>
            <a:ext cx="685800" cy="342900"/>
          </a:xfrm>
          <a:prstGeom prst="rect">
            <a:avLst/>
          </a:prstGeom>
          <a:noFill/>
        </p:spPr>
        <p:txBody>
          <a:bodyPr wrap="square" lIns="34290" rIns="34290" tIns="0" bIns="0" anchor="ctr">
            <a:spAutoFit/>
          </a:bodyPr>
          <a:lstStyle/>
          <a:p>
            <a:pPr algn="ctr">
              <a:spcBef>
                <a:spcPts val="0"/>
              </a:spcBef>
              <a:spcAft>
                <a:spcPts val="0"/>
              </a:spcAft>
              <a:defRPr sz="1716" b="1">
                <a:solidFill>
                  <a:srgbClr val="162D43"/>
                </a:solidFill>
                <a:latin typeface="Arial"/>
              </a:defRPr>
            </a:pPr>
            <a:r>
              <a:t>MLP</a:t>
            </a:r>
          </a:p>
        </p:txBody>
      </p:sp>
      <p:sp>
        <p:nvSpPr>
          <p:cNvPr id="393" name="Trapezoid 392"/>
          <p:cNvSpPr/>
          <p:nvPr/>
        </p:nvSpPr>
        <p:spPr>
          <a:xfrm>
            <a:off x="14230350" y="9704069"/>
            <a:ext cx="582930" cy="411479"/>
          </a:xfrm>
          <a:prstGeom prst="trapezoid">
            <a:avLst/>
          </a:prstGeom>
          <a:solidFill>
            <a:srgbClr val="D9F1EE"/>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4" name="TextBox 393"/>
          <p:cNvSpPr txBox="1"/>
          <p:nvPr/>
        </p:nvSpPr>
        <p:spPr>
          <a:xfrm>
            <a:off x="14178915" y="9738360"/>
            <a:ext cx="685800" cy="342900"/>
          </a:xfrm>
          <a:prstGeom prst="rect">
            <a:avLst/>
          </a:prstGeom>
          <a:noFill/>
        </p:spPr>
        <p:txBody>
          <a:bodyPr wrap="square" lIns="34290" rIns="34290" tIns="0" bIns="0" anchor="ctr">
            <a:spAutoFit/>
          </a:bodyPr>
          <a:lstStyle/>
          <a:p>
            <a:pPr algn="ctr">
              <a:spcBef>
                <a:spcPts val="0"/>
              </a:spcBef>
              <a:spcAft>
                <a:spcPts val="0"/>
              </a:spcAft>
              <a:defRPr sz="1716" b="1">
                <a:solidFill>
                  <a:srgbClr val="162D43"/>
                </a:solidFill>
                <a:latin typeface="Arial"/>
              </a:defRPr>
            </a:pPr>
            <a:r>
              <a:t>MLP</a:t>
            </a:r>
          </a:p>
        </p:txBody>
      </p:sp>
      <p:sp>
        <p:nvSpPr>
          <p:cNvPr id="395" name="Trapezoid 394"/>
          <p:cNvSpPr/>
          <p:nvPr/>
        </p:nvSpPr>
        <p:spPr>
          <a:xfrm>
            <a:off x="15173325" y="9704069"/>
            <a:ext cx="582930" cy="411479"/>
          </a:xfrm>
          <a:prstGeom prst="trapezoid">
            <a:avLst/>
          </a:prstGeom>
          <a:solidFill>
            <a:srgbClr val="D9F1EE"/>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6" name="TextBox 395"/>
          <p:cNvSpPr txBox="1"/>
          <p:nvPr/>
        </p:nvSpPr>
        <p:spPr>
          <a:xfrm>
            <a:off x="15121889" y="9738360"/>
            <a:ext cx="685800" cy="342900"/>
          </a:xfrm>
          <a:prstGeom prst="rect">
            <a:avLst/>
          </a:prstGeom>
          <a:noFill/>
        </p:spPr>
        <p:txBody>
          <a:bodyPr wrap="square" lIns="34290" rIns="34290" tIns="0" bIns="0" anchor="ctr">
            <a:spAutoFit/>
          </a:bodyPr>
          <a:lstStyle/>
          <a:p>
            <a:pPr algn="ctr">
              <a:spcBef>
                <a:spcPts val="0"/>
              </a:spcBef>
              <a:spcAft>
                <a:spcPts val="0"/>
              </a:spcAft>
              <a:defRPr sz="1716" b="1">
                <a:solidFill>
                  <a:srgbClr val="162D43"/>
                </a:solidFill>
                <a:latin typeface="Arial"/>
              </a:defRPr>
            </a:pPr>
            <a:r>
              <a:t>MLP</a:t>
            </a:r>
          </a:p>
        </p:txBody>
      </p:sp>
      <p:cxnSp>
        <p:nvCxnSpPr>
          <p:cNvPr id="397" name="Connector 396"/>
          <p:cNvCxnSpPr/>
          <p:nvPr/>
        </p:nvCxnSpPr>
        <p:spPr>
          <a:xfrm>
            <a:off x="12601575" y="9789794"/>
            <a:ext cx="394335"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3853159" y="9909810"/>
            <a:ext cx="34290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4813280" y="9909810"/>
            <a:ext cx="34290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grpSp>
        <p:nvGrpSpPr>
          <p:cNvPr id="400" name="Group 399"/>
          <p:cNvGrpSpPr/>
          <p:nvPr/>
        </p:nvGrpSpPr>
        <p:grpSpPr>
          <a:xfrm>
            <a:off x="16373475" y="9446894"/>
            <a:ext cx="565784" cy="411481"/>
            <a:chOff x="16373475" y="9446894"/>
            <a:chExt cx="565784" cy="411481"/>
          </a:xfrm>
        </p:grpSpPr>
        <p:sp>
          <p:nvSpPr>
            <p:cNvPr id="401" name="Rectangle 400"/>
            <p:cNvSpPr/>
            <p:nvPr/>
          </p:nvSpPr>
          <p:spPr>
            <a:xfrm>
              <a:off x="16527780" y="9446894"/>
              <a:ext cx="411479" cy="257175"/>
            </a:xfrm>
            <a:prstGeom prst="rect">
              <a:avLst/>
            </a:prstGeom>
            <a:solidFill>
              <a:srgbClr val="D9F1E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2" name="Rectangle 401"/>
            <p:cNvSpPr/>
            <p:nvPr/>
          </p:nvSpPr>
          <p:spPr>
            <a:xfrm>
              <a:off x="16450627" y="9524047"/>
              <a:ext cx="411479" cy="257175"/>
            </a:xfrm>
            <a:prstGeom prst="rect">
              <a:avLst/>
            </a:prstGeom>
            <a:solidFill>
              <a:srgbClr val="D9F1E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Rectangle 402"/>
            <p:cNvSpPr/>
            <p:nvPr/>
          </p:nvSpPr>
          <p:spPr>
            <a:xfrm>
              <a:off x="16373475" y="9601200"/>
              <a:ext cx="411479" cy="257175"/>
            </a:xfrm>
            <a:prstGeom prst="rect">
              <a:avLst/>
            </a:prstGeom>
            <a:solidFill>
              <a:srgbClr val="2DADA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404" name="TextBox 403"/>
          <p:cNvSpPr txBox="1"/>
          <p:nvPr/>
        </p:nvSpPr>
        <p:spPr>
          <a:xfrm>
            <a:off x="16304895" y="9172575"/>
            <a:ext cx="582930" cy="342900"/>
          </a:xfrm>
          <a:prstGeom prst="rect">
            <a:avLst/>
          </a:prstGeom>
          <a:noFill/>
        </p:spPr>
        <p:txBody>
          <a:bodyPr wrap="square" lIns="34290" rIns="34290" tIns="0" bIns="0" anchor="ctr">
            <a:spAutoFit/>
          </a:bodyPr>
          <a:lstStyle/>
          <a:p>
            <a:pPr algn="ctr">
              <a:spcBef>
                <a:spcPts val="0"/>
              </a:spcBef>
              <a:spcAft>
                <a:spcPts val="0"/>
              </a:spcAft>
              <a:defRPr sz="1716" b="1">
                <a:solidFill>
                  <a:srgbClr val="162D43"/>
                </a:solidFill>
                <a:latin typeface="Arial"/>
              </a:defRPr>
            </a:pPr>
            <a:r>
              <a:t>a</a:t>
            </a:r>
          </a:p>
        </p:txBody>
      </p:sp>
      <p:cxnSp>
        <p:nvCxnSpPr>
          <p:cNvPr id="405" name="Connector 404"/>
          <p:cNvCxnSpPr/>
          <p:nvPr/>
        </p:nvCxnSpPr>
        <p:spPr>
          <a:xfrm>
            <a:off x="16150589" y="9909810"/>
            <a:ext cx="188595"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406" name="Oval 405"/>
          <p:cNvSpPr/>
          <p:nvPr/>
        </p:nvSpPr>
        <p:spPr>
          <a:xfrm>
            <a:off x="17162145" y="9978390"/>
            <a:ext cx="428625" cy="428625"/>
          </a:xfrm>
          <a:prstGeom prst="ellipse">
            <a:avLst/>
          </a:prstGeom>
          <a:solidFill>
            <a:srgbClr val="FFFFFF"/>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TextBox 406"/>
          <p:cNvSpPr txBox="1"/>
          <p:nvPr/>
        </p:nvSpPr>
        <p:spPr>
          <a:xfrm>
            <a:off x="17162145" y="9978390"/>
            <a:ext cx="428625" cy="428625"/>
          </a:xfrm>
          <a:prstGeom prst="rect">
            <a:avLst/>
          </a:prstGeom>
          <a:noFill/>
        </p:spPr>
        <p:txBody>
          <a:bodyPr wrap="square" lIns="34290" rIns="34290" tIns="0" bIns="0" anchor="ctr">
            <a:spAutoFit/>
          </a:bodyPr>
          <a:lstStyle/>
          <a:p>
            <a:pPr algn="ctr">
              <a:spcBef>
                <a:spcPts val="0"/>
              </a:spcBef>
              <a:spcAft>
                <a:spcPts val="0"/>
              </a:spcAft>
              <a:defRPr sz="2244" b="1">
                <a:solidFill>
                  <a:srgbClr val="162D43"/>
                </a:solidFill>
                <a:latin typeface="Arial"/>
              </a:defRPr>
            </a:pPr>
            <a:r>
              <a:t>+</a:t>
            </a:r>
          </a:p>
        </p:txBody>
      </p:sp>
      <p:cxnSp>
        <p:nvCxnSpPr>
          <p:cNvPr id="408" name="Connector 407"/>
          <p:cNvCxnSpPr/>
          <p:nvPr/>
        </p:nvCxnSpPr>
        <p:spPr>
          <a:xfrm>
            <a:off x="16784955" y="9738360"/>
            <a:ext cx="582930" cy="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a:off x="17367885" y="9738360"/>
            <a:ext cx="0" cy="24003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grpSp>
        <p:nvGrpSpPr>
          <p:cNvPr id="410" name="Group 409"/>
          <p:cNvGrpSpPr/>
          <p:nvPr/>
        </p:nvGrpSpPr>
        <p:grpSpPr>
          <a:xfrm>
            <a:off x="13081635" y="10475594"/>
            <a:ext cx="514350" cy="411481"/>
            <a:chOff x="13081635" y="10475594"/>
            <a:chExt cx="514350" cy="411481"/>
          </a:xfrm>
        </p:grpSpPr>
        <p:sp>
          <p:nvSpPr>
            <p:cNvPr id="411" name="Rectangle 410"/>
            <p:cNvSpPr/>
            <p:nvPr/>
          </p:nvSpPr>
          <p:spPr>
            <a:xfrm>
              <a:off x="13235940" y="10475594"/>
              <a:ext cx="360045" cy="257175"/>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Rectangle 411"/>
            <p:cNvSpPr/>
            <p:nvPr/>
          </p:nvSpPr>
          <p:spPr>
            <a:xfrm>
              <a:off x="13158787" y="10552747"/>
              <a:ext cx="360045" cy="257175"/>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Rectangle 412"/>
            <p:cNvSpPr/>
            <p:nvPr/>
          </p:nvSpPr>
          <p:spPr>
            <a:xfrm>
              <a:off x="13081635" y="10629900"/>
              <a:ext cx="360045" cy="257175"/>
            </a:xfrm>
            <a:prstGeom prst="rect">
              <a:avLst/>
            </a:prstGeom>
            <a:solidFill>
              <a:srgbClr val="4B8FDA"/>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414" name="TextBox 413"/>
          <p:cNvSpPr txBox="1"/>
          <p:nvPr/>
        </p:nvSpPr>
        <p:spPr>
          <a:xfrm>
            <a:off x="12755880" y="10938510"/>
            <a:ext cx="1165860" cy="377190"/>
          </a:xfrm>
          <a:prstGeom prst="rect">
            <a:avLst/>
          </a:prstGeom>
          <a:noFill/>
        </p:spPr>
        <p:txBody>
          <a:bodyPr wrap="square" lIns="34290" rIns="34290" tIns="0" bIns="0" anchor="ctr">
            <a:spAutoFit/>
          </a:bodyPr>
          <a:lstStyle/>
          <a:p>
            <a:pPr algn="ctr">
              <a:spcBef>
                <a:spcPts val="0"/>
              </a:spcBef>
              <a:spcAft>
                <a:spcPts val="0"/>
              </a:spcAft>
              <a:defRPr sz="1320" b="0">
                <a:solidFill>
                  <a:srgbClr val="162D43"/>
                </a:solidFill>
                <a:latin typeface="Arial"/>
              </a:defRPr>
            </a:pPr>
            <a:r>
              <a:t>z bypass</a:t>
            </a:r>
          </a:p>
        </p:txBody>
      </p:sp>
      <p:cxnSp>
        <p:nvCxnSpPr>
          <p:cNvPr id="415" name="Connector 414"/>
          <p:cNvCxnSpPr/>
          <p:nvPr/>
        </p:nvCxnSpPr>
        <p:spPr>
          <a:xfrm>
            <a:off x="13441680" y="10749915"/>
            <a:ext cx="3429000" cy="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16870680" y="10201275"/>
            <a:ext cx="0" cy="54864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a:off x="16870680" y="10201275"/>
            <a:ext cx="291465"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418" name="Rounded Rectangle 417"/>
          <p:cNvSpPr/>
          <p:nvPr/>
        </p:nvSpPr>
        <p:spPr>
          <a:xfrm>
            <a:off x="18087975" y="9395460"/>
            <a:ext cx="2194560" cy="822959"/>
          </a:xfrm>
          <a:prstGeom prst="roundRect">
            <a:avLst>
              <a:gd name="adj" fmla="val 8000"/>
            </a:avLst>
          </a:prstGeom>
          <a:solidFill>
            <a:srgbClr val="F3F6F9"/>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TextBox 418"/>
          <p:cNvSpPr txBox="1"/>
          <p:nvPr/>
        </p:nvSpPr>
        <p:spPr>
          <a:xfrm>
            <a:off x="18139410" y="9429750"/>
            <a:ext cx="2091690" cy="754380"/>
          </a:xfrm>
          <a:prstGeom prst="rect">
            <a:avLst/>
          </a:prstGeom>
          <a:noFill/>
        </p:spPr>
        <p:txBody>
          <a:bodyPr wrap="square" lIns="34290" rIns="34290" tIns="0" bIns="0" anchor="ctr">
            <a:spAutoFit/>
          </a:bodyPr>
          <a:lstStyle/>
          <a:p>
            <a:pPr algn="ctr">
              <a:spcBef>
                <a:spcPts val="0"/>
              </a:spcBef>
              <a:spcAft>
                <a:spcPts val="0"/>
              </a:spcAft>
              <a:defRPr sz="1848" b="0">
                <a:solidFill>
                  <a:srgbClr val="162D43"/>
                </a:solidFill>
                <a:latin typeface="Arial"/>
              </a:defRPr>
            </a:pPr>
            <a:r>
              <a:t>Global head</a:t>
            </a:r>
          </a:p>
        </p:txBody>
      </p:sp>
      <p:cxnSp>
        <p:nvCxnSpPr>
          <p:cNvPr id="420" name="Connector 419"/>
          <p:cNvCxnSpPr/>
          <p:nvPr/>
        </p:nvCxnSpPr>
        <p:spPr>
          <a:xfrm>
            <a:off x="17590770" y="10201275"/>
            <a:ext cx="274319" cy="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17865089" y="9806940"/>
            <a:ext cx="0" cy="394335"/>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a:off x="17865089" y="9806940"/>
            <a:ext cx="222886"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grpSp>
        <p:nvGrpSpPr>
          <p:cNvPr id="423" name="Group 422"/>
          <p:cNvGrpSpPr/>
          <p:nvPr/>
        </p:nvGrpSpPr>
        <p:grpSpPr>
          <a:xfrm>
            <a:off x="20642580" y="9446894"/>
            <a:ext cx="428625" cy="651510"/>
            <a:chOff x="20642580" y="9446894"/>
            <a:chExt cx="428625" cy="651510"/>
          </a:xfrm>
        </p:grpSpPr>
        <p:sp>
          <p:nvSpPr>
            <p:cNvPr id="424" name="Rectangle 423"/>
            <p:cNvSpPr/>
            <p:nvPr/>
          </p:nvSpPr>
          <p:spPr>
            <a:xfrm>
              <a:off x="20796885" y="9446894"/>
              <a:ext cx="274320" cy="497204"/>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Rectangle 424"/>
            <p:cNvSpPr/>
            <p:nvPr/>
          </p:nvSpPr>
          <p:spPr>
            <a:xfrm>
              <a:off x="20719732" y="9524047"/>
              <a:ext cx="274320" cy="497204"/>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Rectangle 425"/>
            <p:cNvSpPr/>
            <p:nvPr/>
          </p:nvSpPr>
          <p:spPr>
            <a:xfrm>
              <a:off x="20642580" y="9601200"/>
              <a:ext cx="274320" cy="497204"/>
            </a:xfrm>
            <a:prstGeom prst="rect">
              <a:avLst/>
            </a:prstGeom>
            <a:solidFill>
              <a:srgbClr val="4B8FDA"/>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427" name="TextBox 426"/>
          <p:cNvSpPr txBox="1"/>
          <p:nvPr/>
        </p:nvSpPr>
        <p:spPr>
          <a:xfrm>
            <a:off x="20368260" y="9103994"/>
            <a:ext cx="977264" cy="411479"/>
          </a:xfrm>
          <a:prstGeom prst="rect">
            <a:avLst/>
          </a:prstGeom>
          <a:noFill/>
        </p:spPr>
        <p:txBody>
          <a:bodyPr wrap="square" lIns="34290" rIns="34290" tIns="0" bIns="0" anchor="ctr">
            <a:spAutoFit/>
          </a:bodyPr>
          <a:lstStyle/>
          <a:p>
            <a:pPr algn="ctr">
              <a:spcBef>
                <a:spcPts val="0"/>
              </a:spcBef>
              <a:spcAft>
                <a:spcPts val="0"/>
              </a:spcAft>
              <a:defRPr sz="1848" b="1">
                <a:solidFill>
                  <a:srgbClr val="162D43"/>
                </a:solidFill>
                <a:latin typeface="Arial"/>
              </a:defRPr>
            </a:pPr>
            <a:r>
              <a:t>Q_g</a:t>
            </a:r>
          </a:p>
        </p:txBody>
      </p:sp>
      <p:cxnSp>
        <p:nvCxnSpPr>
          <p:cNvPr id="428" name="Connector 427"/>
          <p:cNvCxnSpPr/>
          <p:nvPr/>
        </p:nvCxnSpPr>
        <p:spPr>
          <a:xfrm>
            <a:off x="20282535" y="9806940"/>
            <a:ext cx="34290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429" name="TextBox 428"/>
          <p:cNvSpPr txBox="1"/>
          <p:nvPr/>
        </p:nvSpPr>
        <p:spPr>
          <a:xfrm>
            <a:off x="13681709" y="11298555"/>
            <a:ext cx="7303770" cy="497204"/>
          </a:xfrm>
          <a:prstGeom prst="rect">
            <a:avLst/>
          </a:prstGeom>
          <a:noFill/>
        </p:spPr>
        <p:txBody>
          <a:bodyPr wrap="square" lIns="34290" rIns="34290" tIns="0" bIns="0" anchor="ctr">
            <a:spAutoFit/>
          </a:bodyPr>
          <a:lstStyle/>
          <a:p>
            <a:pPr algn="ctr">
              <a:spcBef>
                <a:spcPts val="0"/>
              </a:spcBef>
              <a:spcAft>
                <a:spcPts val="0"/>
              </a:spcAft>
              <a:defRPr sz="1848" b="0">
                <a:solidFill>
                  <a:srgbClr val="162D43"/>
                </a:solidFill>
                <a:latin typeface="Cambria"/>
              </a:defRPr>
            </a:pPr>
            <a:r>
              <a:t>r = z + α · sg(‖z‖) · normalize(a)</a:t>
            </a:r>
          </a:p>
        </p:txBody>
      </p:sp>
      <p:grpSp>
        <p:nvGrpSpPr>
          <p:cNvPr id="430" name="Group 429"/>
          <p:cNvGrpSpPr/>
          <p:nvPr/>
        </p:nvGrpSpPr>
        <p:grpSpPr>
          <a:xfrm>
            <a:off x="12344400" y="11915775"/>
            <a:ext cx="634365" cy="617220"/>
            <a:chOff x="12344400" y="11915775"/>
            <a:chExt cx="634365" cy="617220"/>
          </a:xfrm>
        </p:grpSpPr>
        <p:sp>
          <p:nvSpPr>
            <p:cNvPr id="431" name="Rectangle 430"/>
            <p:cNvSpPr/>
            <p:nvPr/>
          </p:nvSpPr>
          <p:spPr>
            <a:xfrm>
              <a:off x="12498705" y="11915775"/>
              <a:ext cx="480060" cy="462915"/>
            </a:xfrm>
            <a:prstGeom prst="rect">
              <a:avLst/>
            </a:prstGeom>
            <a:solidFill>
              <a:srgbClr val="D9F1E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2" name="Rectangle 431"/>
            <p:cNvSpPr/>
            <p:nvPr/>
          </p:nvSpPr>
          <p:spPr>
            <a:xfrm>
              <a:off x="12421552" y="11992927"/>
              <a:ext cx="480060" cy="462915"/>
            </a:xfrm>
            <a:prstGeom prst="rect">
              <a:avLst/>
            </a:prstGeom>
            <a:solidFill>
              <a:srgbClr val="D9F1E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3" name="Rectangle 432"/>
            <p:cNvSpPr/>
            <p:nvPr/>
          </p:nvSpPr>
          <p:spPr>
            <a:xfrm>
              <a:off x="12344400" y="12070080"/>
              <a:ext cx="480060" cy="462915"/>
            </a:xfrm>
            <a:prstGeom prst="rect">
              <a:avLst/>
            </a:prstGeom>
            <a:solidFill>
              <a:srgbClr val="2DADA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434" name="TextBox 433"/>
          <p:cNvSpPr txBox="1"/>
          <p:nvPr/>
        </p:nvSpPr>
        <p:spPr>
          <a:xfrm>
            <a:off x="12138660" y="11675744"/>
            <a:ext cx="857250" cy="360045"/>
          </a:xfrm>
          <a:prstGeom prst="rect">
            <a:avLst/>
          </a:prstGeom>
          <a:noFill/>
        </p:spPr>
        <p:txBody>
          <a:bodyPr wrap="square" lIns="34290" rIns="34290" tIns="0" bIns="0" anchor="ctr">
            <a:spAutoFit/>
          </a:bodyPr>
          <a:lstStyle/>
          <a:p>
            <a:pPr algn="ctr">
              <a:spcBef>
                <a:spcPts val="0"/>
              </a:spcBef>
              <a:spcAft>
                <a:spcPts val="0"/>
              </a:spcAft>
              <a:defRPr sz="1584" b="1">
                <a:solidFill>
                  <a:srgbClr val="162D43"/>
                </a:solidFill>
                <a:latin typeface="Arial"/>
              </a:defRPr>
            </a:pPr>
            <a:r>
              <a:t>P₀</a:t>
            </a:r>
          </a:p>
        </p:txBody>
      </p:sp>
      <p:sp>
        <p:nvSpPr>
          <p:cNvPr id="435" name="Rounded Rectangle 434"/>
          <p:cNvSpPr/>
          <p:nvPr/>
        </p:nvSpPr>
        <p:spPr>
          <a:xfrm>
            <a:off x="13270230" y="11915775"/>
            <a:ext cx="7715250" cy="1148714"/>
          </a:xfrm>
          <a:prstGeom prst="roundRect">
            <a:avLst>
              <a:gd name="adj" fmla="val 8000"/>
            </a:avLst>
          </a:prstGeom>
          <a:solidFill>
            <a:srgbClr val="FFFFFF"/>
          </a:solidFill>
          <a:ln w="13970">
            <a:solidFill>
              <a:srgbClr val="2DAD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6" name="TextBox 435"/>
          <p:cNvSpPr txBox="1"/>
          <p:nvPr/>
        </p:nvSpPr>
        <p:spPr>
          <a:xfrm>
            <a:off x="13441680" y="11967210"/>
            <a:ext cx="7372350" cy="445770"/>
          </a:xfrm>
          <a:prstGeom prst="rect">
            <a:avLst/>
          </a:prstGeom>
          <a:noFill/>
        </p:spPr>
        <p:txBody>
          <a:bodyPr wrap="square" lIns="34290" rIns="34290" tIns="0" bIns="0" anchor="ctr">
            <a:spAutoFit/>
          </a:bodyPr>
          <a:lstStyle/>
          <a:p>
            <a:pPr algn="l">
              <a:spcBef>
                <a:spcPts val="0"/>
              </a:spcBef>
              <a:spcAft>
                <a:spcPts val="0"/>
              </a:spcAft>
              <a:defRPr sz="2508" b="1">
                <a:solidFill>
                  <a:srgbClr val="2DADAE"/>
                </a:solidFill>
                <a:latin typeface="Georgia"/>
              </a:defRPr>
            </a:pPr>
            <a:r>
              <a:t>NSS-guided local quality</a:t>
            </a:r>
          </a:p>
        </p:txBody>
      </p:sp>
      <p:sp>
        <p:nvSpPr>
          <p:cNvPr id="437" name="Rounded Rectangle 436"/>
          <p:cNvSpPr/>
          <p:nvPr/>
        </p:nvSpPr>
        <p:spPr>
          <a:xfrm>
            <a:off x="13510259" y="12481560"/>
            <a:ext cx="1937385" cy="411479"/>
          </a:xfrm>
          <a:prstGeom prst="roundRect">
            <a:avLst>
              <a:gd name="adj" fmla="val 8000"/>
            </a:avLst>
          </a:prstGeom>
          <a:solidFill>
            <a:srgbClr val="D9F1EE"/>
          </a:solidFill>
          <a:ln w="12700">
            <a:solidFill>
              <a:srgbClr val="2DAD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TextBox 437"/>
          <p:cNvSpPr txBox="1"/>
          <p:nvPr/>
        </p:nvSpPr>
        <p:spPr>
          <a:xfrm>
            <a:off x="13561694" y="12515850"/>
            <a:ext cx="1834515" cy="342900"/>
          </a:xfrm>
          <a:prstGeom prst="rect">
            <a:avLst/>
          </a:prstGeom>
          <a:noFill/>
        </p:spPr>
        <p:txBody>
          <a:bodyPr wrap="square" lIns="34290" rIns="34290" tIns="0" bIns="0" anchor="ctr">
            <a:spAutoFit/>
          </a:bodyPr>
          <a:lstStyle/>
          <a:p>
            <a:pPr algn="ctr">
              <a:spcBef>
                <a:spcPts val="0"/>
              </a:spcBef>
              <a:spcAft>
                <a:spcPts val="0"/>
              </a:spcAft>
              <a:defRPr sz="1320" b="0">
                <a:solidFill>
                  <a:srgbClr val="162D43"/>
                </a:solidFill>
                <a:latin typeface="Arial"/>
              </a:defRPr>
            </a:pPr>
            <a:r>
              <a:t>Pq = P₀ + N(NSS)</a:t>
            </a:r>
          </a:p>
        </p:txBody>
      </p:sp>
      <p:grpSp>
        <p:nvGrpSpPr>
          <p:cNvPr id="439" name="Group 438"/>
          <p:cNvGrpSpPr/>
          <p:nvPr/>
        </p:nvGrpSpPr>
        <p:grpSpPr>
          <a:xfrm>
            <a:off x="15790545" y="12567285"/>
            <a:ext cx="1207007" cy="212597"/>
            <a:chOff x="15790545" y="12567285"/>
            <a:chExt cx="1207007" cy="212597"/>
          </a:xfrm>
        </p:grpSpPr>
        <p:sp>
          <p:nvSpPr>
            <p:cNvPr id="440" name="Rectangle 439"/>
            <p:cNvSpPr/>
            <p:nvPr/>
          </p:nvSpPr>
          <p:spPr>
            <a:xfrm>
              <a:off x="15790545" y="12567285"/>
              <a:ext cx="192595" cy="26860"/>
            </a:xfrm>
            <a:prstGeom prst="rect">
              <a:avLst/>
            </a:prstGeom>
            <a:solidFill>
              <a:srgbClr val="F7D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Rectangle 440"/>
            <p:cNvSpPr/>
            <p:nvPr/>
          </p:nvSpPr>
          <p:spPr>
            <a:xfrm>
              <a:off x="15993427" y="12567285"/>
              <a:ext cx="192595" cy="26860"/>
            </a:xfrm>
            <a:prstGeom prst="rect">
              <a:avLst/>
            </a:prstGeom>
            <a:solidFill>
              <a:srgbClr val="9FC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Rectangle 441"/>
            <p:cNvSpPr/>
            <p:nvPr/>
          </p:nvSpPr>
          <p:spPr>
            <a:xfrm>
              <a:off x="16196309" y="12567285"/>
              <a:ext cx="192595" cy="26860"/>
            </a:xfrm>
            <a:prstGeom prst="rect">
              <a:avLst/>
            </a:prstGeom>
            <a:solidFill>
              <a:srgbClr val="F7D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Rectangle 442"/>
            <p:cNvSpPr/>
            <p:nvPr/>
          </p:nvSpPr>
          <p:spPr>
            <a:xfrm>
              <a:off x="16399192" y="12567285"/>
              <a:ext cx="192595" cy="26860"/>
            </a:xfrm>
            <a:prstGeom prst="rect">
              <a:avLst/>
            </a:prstGeom>
            <a:solidFill>
              <a:srgbClr val="9FC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Rectangle 443"/>
            <p:cNvSpPr/>
            <p:nvPr/>
          </p:nvSpPr>
          <p:spPr>
            <a:xfrm>
              <a:off x="16602075" y="12567285"/>
              <a:ext cx="192595" cy="26860"/>
            </a:xfrm>
            <a:prstGeom prst="rect">
              <a:avLst/>
            </a:prstGeom>
            <a:solidFill>
              <a:srgbClr val="F7D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Rectangle 444"/>
            <p:cNvSpPr/>
            <p:nvPr/>
          </p:nvSpPr>
          <p:spPr>
            <a:xfrm>
              <a:off x="16804957" y="12567285"/>
              <a:ext cx="192595" cy="26860"/>
            </a:xfrm>
            <a:prstGeom prst="rect">
              <a:avLst/>
            </a:prstGeom>
            <a:solidFill>
              <a:srgbClr val="9FC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Rectangle 445"/>
            <p:cNvSpPr/>
            <p:nvPr/>
          </p:nvSpPr>
          <p:spPr>
            <a:xfrm>
              <a:off x="15790545" y="12604432"/>
              <a:ext cx="192595" cy="26860"/>
            </a:xfrm>
            <a:prstGeom prst="rect">
              <a:avLst/>
            </a:prstGeom>
            <a:solidFill>
              <a:srgbClr val="D0BB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Rectangle 446"/>
            <p:cNvSpPr/>
            <p:nvPr/>
          </p:nvSpPr>
          <p:spPr>
            <a:xfrm>
              <a:off x="15993427" y="12604432"/>
              <a:ext cx="192595" cy="26860"/>
            </a:xfrm>
            <a:prstGeom prst="rect">
              <a:avLst/>
            </a:prstGeom>
            <a:solidFill>
              <a:srgbClr val="C7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Rectangle 447"/>
            <p:cNvSpPr/>
            <p:nvPr/>
          </p:nvSpPr>
          <p:spPr>
            <a:xfrm>
              <a:off x="16196309" y="12604432"/>
              <a:ext cx="192595" cy="26860"/>
            </a:xfrm>
            <a:prstGeom prst="rect">
              <a:avLst/>
            </a:prstGeom>
            <a:solidFill>
              <a:srgbClr val="D0BB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Rectangle 448"/>
            <p:cNvSpPr/>
            <p:nvPr/>
          </p:nvSpPr>
          <p:spPr>
            <a:xfrm>
              <a:off x="16399192" y="12604432"/>
              <a:ext cx="192595" cy="26860"/>
            </a:xfrm>
            <a:prstGeom prst="rect">
              <a:avLst/>
            </a:prstGeom>
            <a:solidFill>
              <a:srgbClr val="C7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Rectangle 449"/>
            <p:cNvSpPr/>
            <p:nvPr/>
          </p:nvSpPr>
          <p:spPr>
            <a:xfrm>
              <a:off x="16602075" y="12604432"/>
              <a:ext cx="192595" cy="26860"/>
            </a:xfrm>
            <a:prstGeom prst="rect">
              <a:avLst/>
            </a:prstGeom>
            <a:solidFill>
              <a:srgbClr val="D0BB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Rectangle 450"/>
            <p:cNvSpPr/>
            <p:nvPr/>
          </p:nvSpPr>
          <p:spPr>
            <a:xfrm>
              <a:off x="16804957" y="12604432"/>
              <a:ext cx="192595" cy="26860"/>
            </a:xfrm>
            <a:prstGeom prst="rect">
              <a:avLst/>
            </a:prstGeom>
            <a:solidFill>
              <a:srgbClr val="C7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Rectangle 451"/>
            <p:cNvSpPr/>
            <p:nvPr/>
          </p:nvSpPr>
          <p:spPr>
            <a:xfrm>
              <a:off x="15790545" y="12641580"/>
              <a:ext cx="192595" cy="26860"/>
            </a:xfrm>
            <a:prstGeom prst="rect">
              <a:avLst/>
            </a:prstGeom>
            <a:solidFill>
              <a:srgbClr val="9FC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Rectangle 452"/>
            <p:cNvSpPr/>
            <p:nvPr/>
          </p:nvSpPr>
          <p:spPr>
            <a:xfrm>
              <a:off x="15993427" y="12641580"/>
              <a:ext cx="192595" cy="26860"/>
            </a:xfrm>
            <a:prstGeom prst="rect">
              <a:avLst/>
            </a:prstGeom>
            <a:solidFill>
              <a:srgbClr val="F7D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Rectangle 453"/>
            <p:cNvSpPr/>
            <p:nvPr/>
          </p:nvSpPr>
          <p:spPr>
            <a:xfrm>
              <a:off x="16196309" y="12641580"/>
              <a:ext cx="192595" cy="26860"/>
            </a:xfrm>
            <a:prstGeom prst="rect">
              <a:avLst/>
            </a:prstGeom>
            <a:solidFill>
              <a:srgbClr val="9FC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Rectangle 454"/>
            <p:cNvSpPr/>
            <p:nvPr/>
          </p:nvSpPr>
          <p:spPr>
            <a:xfrm>
              <a:off x="16399192" y="12641580"/>
              <a:ext cx="192595" cy="26860"/>
            </a:xfrm>
            <a:prstGeom prst="rect">
              <a:avLst/>
            </a:prstGeom>
            <a:solidFill>
              <a:srgbClr val="F7D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Rectangle 455"/>
            <p:cNvSpPr/>
            <p:nvPr/>
          </p:nvSpPr>
          <p:spPr>
            <a:xfrm>
              <a:off x="16602075" y="12641580"/>
              <a:ext cx="192595" cy="26860"/>
            </a:xfrm>
            <a:prstGeom prst="rect">
              <a:avLst/>
            </a:prstGeom>
            <a:solidFill>
              <a:srgbClr val="9FC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Rectangle 456"/>
            <p:cNvSpPr/>
            <p:nvPr/>
          </p:nvSpPr>
          <p:spPr>
            <a:xfrm>
              <a:off x="16804957" y="12641580"/>
              <a:ext cx="192595" cy="26860"/>
            </a:xfrm>
            <a:prstGeom prst="rect">
              <a:avLst/>
            </a:prstGeom>
            <a:solidFill>
              <a:srgbClr val="F7D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Rectangle 457"/>
            <p:cNvSpPr/>
            <p:nvPr/>
          </p:nvSpPr>
          <p:spPr>
            <a:xfrm>
              <a:off x="15790545" y="12678727"/>
              <a:ext cx="192595" cy="26860"/>
            </a:xfrm>
            <a:prstGeom prst="rect">
              <a:avLst/>
            </a:prstGeom>
            <a:solidFill>
              <a:srgbClr val="C7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Rectangle 458"/>
            <p:cNvSpPr/>
            <p:nvPr/>
          </p:nvSpPr>
          <p:spPr>
            <a:xfrm>
              <a:off x="15993427" y="12678727"/>
              <a:ext cx="192595" cy="26860"/>
            </a:xfrm>
            <a:prstGeom prst="rect">
              <a:avLst/>
            </a:prstGeom>
            <a:solidFill>
              <a:srgbClr val="D0BB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Rectangle 459"/>
            <p:cNvSpPr/>
            <p:nvPr/>
          </p:nvSpPr>
          <p:spPr>
            <a:xfrm>
              <a:off x="16196309" y="12678727"/>
              <a:ext cx="192595" cy="26860"/>
            </a:xfrm>
            <a:prstGeom prst="rect">
              <a:avLst/>
            </a:prstGeom>
            <a:solidFill>
              <a:srgbClr val="C7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Rectangle 460"/>
            <p:cNvSpPr/>
            <p:nvPr/>
          </p:nvSpPr>
          <p:spPr>
            <a:xfrm>
              <a:off x="16399192" y="12678727"/>
              <a:ext cx="192595" cy="26860"/>
            </a:xfrm>
            <a:prstGeom prst="rect">
              <a:avLst/>
            </a:prstGeom>
            <a:solidFill>
              <a:srgbClr val="D0BB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Rectangle 461"/>
            <p:cNvSpPr/>
            <p:nvPr/>
          </p:nvSpPr>
          <p:spPr>
            <a:xfrm>
              <a:off x="16602075" y="12678727"/>
              <a:ext cx="192595" cy="26860"/>
            </a:xfrm>
            <a:prstGeom prst="rect">
              <a:avLst/>
            </a:prstGeom>
            <a:solidFill>
              <a:srgbClr val="C7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Rectangle 462"/>
            <p:cNvSpPr/>
            <p:nvPr/>
          </p:nvSpPr>
          <p:spPr>
            <a:xfrm>
              <a:off x="16804957" y="12678727"/>
              <a:ext cx="192595" cy="26860"/>
            </a:xfrm>
            <a:prstGeom prst="rect">
              <a:avLst/>
            </a:prstGeom>
            <a:solidFill>
              <a:srgbClr val="D0BB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Rectangle 463"/>
            <p:cNvSpPr/>
            <p:nvPr/>
          </p:nvSpPr>
          <p:spPr>
            <a:xfrm>
              <a:off x="15790545" y="12715874"/>
              <a:ext cx="192595" cy="26860"/>
            </a:xfrm>
            <a:prstGeom prst="rect">
              <a:avLst/>
            </a:prstGeom>
            <a:solidFill>
              <a:srgbClr val="F7D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Rectangle 464"/>
            <p:cNvSpPr/>
            <p:nvPr/>
          </p:nvSpPr>
          <p:spPr>
            <a:xfrm>
              <a:off x="15993427" y="12715874"/>
              <a:ext cx="192595" cy="26860"/>
            </a:xfrm>
            <a:prstGeom prst="rect">
              <a:avLst/>
            </a:prstGeom>
            <a:solidFill>
              <a:srgbClr val="9FC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Rectangle 465"/>
            <p:cNvSpPr/>
            <p:nvPr/>
          </p:nvSpPr>
          <p:spPr>
            <a:xfrm>
              <a:off x="16196309" y="12715874"/>
              <a:ext cx="192595" cy="26860"/>
            </a:xfrm>
            <a:prstGeom prst="rect">
              <a:avLst/>
            </a:prstGeom>
            <a:solidFill>
              <a:srgbClr val="F7D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Rectangle 466"/>
            <p:cNvSpPr/>
            <p:nvPr/>
          </p:nvSpPr>
          <p:spPr>
            <a:xfrm>
              <a:off x="16399192" y="12715874"/>
              <a:ext cx="192595" cy="26860"/>
            </a:xfrm>
            <a:prstGeom prst="rect">
              <a:avLst/>
            </a:prstGeom>
            <a:solidFill>
              <a:srgbClr val="9FC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Rectangle 467"/>
            <p:cNvSpPr/>
            <p:nvPr/>
          </p:nvSpPr>
          <p:spPr>
            <a:xfrm>
              <a:off x="16602075" y="12715874"/>
              <a:ext cx="192595" cy="26860"/>
            </a:xfrm>
            <a:prstGeom prst="rect">
              <a:avLst/>
            </a:prstGeom>
            <a:solidFill>
              <a:srgbClr val="F7D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Rectangle 468"/>
            <p:cNvSpPr/>
            <p:nvPr/>
          </p:nvSpPr>
          <p:spPr>
            <a:xfrm>
              <a:off x="16804957" y="12715874"/>
              <a:ext cx="192595" cy="26860"/>
            </a:xfrm>
            <a:prstGeom prst="rect">
              <a:avLst/>
            </a:prstGeom>
            <a:solidFill>
              <a:srgbClr val="9FC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Rectangle 469"/>
            <p:cNvSpPr/>
            <p:nvPr/>
          </p:nvSpPr>
          <p:spPr>
            <a:xfrm>
              <a:off x="15790545" y="12753022"/>
              <a:ext cx="192595" cy="26860"/>
            </a:xfrm>
            <a:prstGeom prst="rect">
              <a:avLst/>
            </a:prstGeom>
            <a:solidFill>
              <a:srgbClr val="D0BB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Rectangle 470"/>
            <p:cNvSpPr/>
            <p:nvPr/>
          </p:nvSpPr>
          <p:spPr>
            <a:xfrm>
              <a:off x="15993427" y="12753022"/>
              <a:ext cx="192595" cy="26860"/>
            </a:xfrm>
            <a:prstGeom prst="rect">
              <a:avLst/>
            </a:prstGeom>
            <a:solidFill>
              <a:srgbClr val="C7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Rectangle 471"/>
            <p:cNvSpPr/>
            <p:nvPr/>
          </p:nvSpPr>
          <p:spPr>
            <a:xfrm>
              <a:off x="16196309" y="12753022"/>
              <a:ext cx="192595" cy="26860"/>
            </a:xfrm>
            <a:prstGeom prst="rect">
              <a:avLst/>
            </a:prstGeom>
            <a:solidFill>
              <a:srgbClr val="D0BB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Rectangle 472"/>
            <p:cNvSpPr/>
            <p:nvPr/>
          </p:nvSpPr>
          <p:spPr>
            <a:xfrm>
              <a:off x="16399192" y="12753022"/>
              <a:ext cx="192595" cy="26860"/>
            </a:xfrm>
            <a:prstGeom prst="rect">
              <a:avLst/>
            </a:prstGeom>
            <a:solidFill>
              <a:srgbClr val="C7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Rectangle 473"/>
            <p:cNvSpPr/>
            <p:nvPr/>
          </p:nvSpPr>
          <p:spPr>
            <a:xfrm>
              <a:off x="16602075" y="12753022"/>
              <a:ext cx="192595" cy="26860"/>
            </a:xfrm>
            <a:prstGeom prst="rect">
              <a:avLst/>
            </a:prstGeom>
            <a:solidFill>
              <a:srgbClr val="D0BB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Rectangle 474"/>
            <p:cNvSpPr/>
            <p:nvPr/>
          </p:nvSpPr>
          <p:spPr>
            <a:xfrm>
              <a:off x="16804957" y="12753022"/>
              <a:ext cx="192595" cy="26860"/>
            </a:xfrm>
            <a:prstGeom prst="rect">
              <a:avLst/>
            </a:prstGeom>
            <a:solidFill>
              <a:srgbClr val="C7E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476" name="Group 475"/>
          <p:cNvGrpSpPr/>
          <p:nvPr/>
        </p:nvGrpSpPr>
        <p:grpSpPr>
          <a:xfrm>
            <a:off x="17556480" y="12567285"/>
            <a:ext cx="1189863" cy="212597"/>
            <a:chOff x="17556480" y="12567285"/>
            <a:chExt cx="1189863" cy="212597"/>
          </a:xfrm>
        </p:grpSpPr>
        <p:sp>
          <p:nvSpPr>
            <p:cNvPr id="477" name="Rectangle 476"/>
            <p:cNvSpPr/>
            <p:nvPr/>
          </p:nvSpPr>
          <p:spPr>
            <a:xfrm>
              <a:off x="17556480" y="12567285"/>
              <a:ext cx="189738" cy="26860"/>
            </a:xfrm>
            <a:prstGeom prst="rect">
              <a:avLst/>
            </a:prstGeom>
            <a:solidFill>
              <a:srgbClr val="DDE7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Rectangle 477"/>
            <p:cNvSpPr/>
            <p:nvPr/>
          </p:nvSpPr>
          <p:spPr>
            <a:xfrm>
              <a:off x="17756505" y="12567285"/>
              <a:ext cx="189738" cy="26860"/>
            </a:xfrm>
            <a:prstGeom prst="rect">
              <a:avLst/>
            </a:prstGeom>
            <a:solidFill>
              <a:srgbClr val="EACB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Rectangle 478"/>
            <p:cNvSpPr/>
            <p:nvPr/>
          </p:nvSpPr>
          <p:spPr>
            <a:xfrm>
              <a:off x="17956530" y="12567285"/>
              <a:ext cx="189738" cy="26860"/>
            </a:xfrm>
            <a:prstGeom prst="rect">
              <a:avLst/>
            </a:prstGeom>
            <a:solidFill>
              <a:srgbClr val="DDE7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Rectangle 479"/>
            <p:cNvSpPr/>
            <p:nvPr/>
          </p:nvSpPr>
          <p:spPr>
            <a:xfrm>
              <a:off x="18156555" y="12567285"/>
              <a:ext cx="189738" cy="26860"/>
            </a:xfrm>
            <a:prstGeom prst="rect">
              <a:avLst/>
            </a:prstGeom>
            <a:solidFill>
              <a:srgbClr val="EACB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Rectangle 480"/>
            <p:cNvSpPr/>
            <p:nvPr/>
          </p:nvSpPr>
          <p:spPr>
            <a:xfrm>
              <a:off x="18356580" y="12567285"/>
              <a:ext cx="189738" cy="26860"/>
            </a:xfrm>
            <a:prstGeom prst="rect">
              <a:avLst/>
            </a:prstGeom>
            <a:solidFill>
              <a:srgbClr val="DDE7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Rectangle 481"/>
            <p:cNvSpPr/>
            <p:nvPr/>
          </p:nvSpPr>
          <p:spPr>
            <a:xfrm>
              <a:off x="18556605" y="12567285"/>
              <a:ext cx="189738" cy="26860"/>
            </a:xfrm>
            <a:prstGeom prst="rect">
              <a:avLst/>
            </a:prstGeom>
            <a:solidFill>
              <a:srgbClr val="EACB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Rectangle 482"/>
            <p:cNvSpPr/>
            <p:nvPr/>
          </p:nvSpPr>
          <p:spPr>
            <a:xfrm>
              <a:off x="17556480" y="12604432"/>
              <a:ext cx="189738" cy="26860"/>
            </a:xfrm>
            <a:prstGeom prst="rect">
              <a:avLst/>
            </a:prstGeom>
            <a:solidFill>
              <a:srgbClr val="8FB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Rectangle 483"/>
            <p:cNvSpPr/>
            <p:nvPr/>
          </p:nvSpPr>
          <p:spPr>
            <a:xfrm>
              <a:off x="17756505" y="12604432"/>
              <a:ext cx="189738" cy="26860"/>
            </a:xfrm>
            <a:prstGeom prst="rect">
              <a:avLst/>
            </a:prstGeom>
            <a:solidFill>
              <a:srgbClr val="D1B4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Rectangle 484"/>
            <p:cNvSpPr/>
            <p:nvPr/>
          </p:nvSpPr>
          <p:spPr>
            <a:xfrm>
              <a:off x="17956530" y="12604432"/>
              <a:ext cx="189738" cy="26860"/>
            </a:xfrm>
            <a:prstGeom prst="rect">
              <a:avLst/>
            </a:prstGeom>
            <a:solidFill>
              <a:srgbClr val="8FB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Rectangle 485"/>
            <p:cNvSpPr/>
            <p:nvPr/>
          </p:nvSpPr>
          <p:spPr>
            <a:xfrm>
              <a:off x="18156555" y="12604432"/>
              <a:ext cx="189738" cy="26860"/>
            </a:xfrm>
            <a:prstGeom prst="rect">
              <a:avLst/>
            </a:prstGeom>
            <a:solidFill>
              <a:srgbClr val="D1B4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Rectangle 486"/>
            <p:cNvSpPr/>
            <p:nvPr/>
          </p:nvSpPr>
          <p:spPr>
            <a:xfrm>
              <a:off x="18356580" y="12604432"/>
              <a:ext cx="189738" cy="26860"/>
            </a:xfrm>
            <a:prstGeom prst="rect">
              <a:avLst/>
            </a:prstGeom>
            <a:solidFill>
              <a:srgbClr val="8FB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Rectangle 487"/>
            <p:cNvSpPr/>
            <p:nvPr/>
          </p:nvSpPr>
          <p:spPr>
            <a:xfrm>
              <a:off x="18556605" y="12604432"/>
              <a:ext cx="189738" cy="26860"/>
            </a:xfrm>
            <a:prstGeom prst="rect">
              <a:avLst/>
            </a:prstGeom>
            <a:solidFill>
              <a:srgbClr val="D1B4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Rectangle 488"/>
            <p:cNvSpPr/>
            <p:nvPr/>
          </p:nvSpPr>
          <p:spPr>
            <a:xfrm>
              <a:off x="17556480" y="12641580"/>
              <a:ext cx="189738" cy="26860"/>
            </a:xfrm>
            <a:prstGeom prst="rect">
              <a:avLst/>
            </a:prstGeom>
            <a:solidFill>
              <a:srgbClr val="EACB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Rectangle 489"/>
            <p:cNvSpPr/>
            <p:nvPr/>
          </p:nvSpPr>
          <p:spPr>
            <a:xfrm>
              <a:off x="17756505" y="12641580"/>
              <a:ext cx="189738" cy="26860"/>
            </a:xfrm>
            <a:prstGeom prst="rect">
              <a:avLst/>
            </a:prstGeom>
            <a:solidFill>
              <a:srgbClr val="DDE7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Rectangle 490"/>
            <p:cNvSpPr/>
            <p:nvPr/>
          </p:nvSpPr>
          <p:spPr>
            <a:xfrm>
              <a:off x="17956530" y="12641580"/>
              <a:ext cx="189738" cy="26860"/>
            </a:xfrm>
            <a:prstGeom prst="rect">
              <a:avLst/>
            </a:prstGeom>
            <a:solidFill>
              <a:srgbClr val="EACB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Rectangle 491"/>
            <p:cNvSpPr/>
            <p:nvPr/>
          </p:nvSpPr>
          <p:spPr>
            <a:xfrm>
              <a:off x="18156555" y="12641580"/>
              <a:ext cx="189738" cy="26860"/>
            </a:xfrm>
            <a:prstGeom prst="rect">
              <a:avLst/>
            </a:prstGeom>
            <a:solidFill>
              <a:srgbClr val="DDE7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3" name="Rectangle 492"/>
            <p:cNvSpPr/>
            <p:nvPr/>
          </p:nvSpPr>
          <p:spPr>
            <a:xfrm>
              <a:off x="18356580" y="12641580"/>
              <a:ext cx="189738" cy="26860"/>
            </a:xfrm>
            <a:prstGeom prst="rect">
              <a:avLst/>
            </a:prstGeom>
            <a:solidFill>
              <a:srgbClr val="EACB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4" name="Rectangle 493"/>
            <p:cNvSpPr/>
            <p:nvPr/>
          </p:nvSpPr>
          <p:spPr>
            <a:xfrm>
              <a:off x="18556605" y="12641580"/>
              <a:ext cx="189738" cy="26860"/>
            </a:xfrm>
            <a:prstGeom prst="rect">
              <a:avLst/>
            </a:prstGeom>
            <a:solidFill>
              <a:srgbClr val="DDE7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5" name="Rectangle 494"/>
            <p:cNvSpPr/>
            <p:nvPr/>
          </p:nvSpPr>
          <p:spPr>
            <a:xfrm>
              <a:off x="17556480" y="12678727"/>
              <a:ext cx="189738" cy="26860"/>
            </a:xfrm>
            <a:prstGeom prst="rect">
              <a:avLst/>
            </a:prstGeom>
            <a:solidFill>
              <a:srgbClr val="D1B4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6" name="Rectangle 495"/>
            <p:cNvSpPr/>
            <p:nvPr/>
          </p:nvSpPr>
          <p:spPr>
            <a:xfrm>
              <a:off x="17756505" y="12678727"/>
              <a:ext cx="189738" cy="26860"/>
            </a:xfrm>
            <a:prstGeom prst="rect">
              <a:avLst/>
            </a:prstGeom>
            <a:solidFill>
              <a:srgbClr val="8FB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7" name="Rectangle 496"/>
            <p:cNvSpPr/>
            <p:nvPr/>
          </p:nvSpPr>
          <p:spPr>
            <a:xfrm>
              <a:off x="17956530" y="12678727"/>
              <a:ext cx="189738" cy="26860"/>
            </a:xfrm>
            <a:prstGeom prst="rect">
              <a:avLst/>
            </a:prstGeom>
            <a:solidFill>
              <a:srgbClr val="D1B4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8" name="Rectangle 497"/>
            <p:cNvSpPr/>
            <p:nvPr/>
          </p:nvSpPr>
          <p:spPr>
            <a:xfrm>
              <a:off x="18156555" y="12678727"/>
              <a:ext cx="189738" cy="26860"/>
            </a:xfrm>
            <a:prstGeom prst="rect">
              <a:avLst/>
            </a:prstGeom>
            <a:solidFill>
              <a:srgbClr val="8FB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9" name="Rectangle 498"/>
            <p:cNvSpPr/>
            <p:nvPr/>
          </p:nvSpPr>
          <p:spPr>
            <a:xfrm>
              <a:off x="18356580" y="12678727"/>
              <a:ext cx="189738" cy="26860"/>
            </a:xfrm>
            <a:prstGeom prst="rect">
              <a:avLst/>
            </a:prstGeom>
            <a:solidFill>
              <a:srgbClr val="D1B4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Rectangle 499"/>
            <p:cNvSpPr/>
            <p:nvPr/>
          </p:nvSpPr>
          <p:spPr>
            <a:xfrm>
              <a:off x="18556605" y="12678727"/>
              <a:ext cx="189738" cy="26860"/>
            </a:xfrm>
            <a:prstGeom prst="rect">
              <a:avLst/>
            </a:prstGeom>
            <a:solidFill>
              <a:srgbClr val="8FB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Rectangle 500"/>
            <p:cNvSpPr/>
            <p:nvPr/>
          </p:nvSpPr>
          <p:spPr>
            <a:xfrm>
              <a:off x="17556480" y="12715874"/>
              <a:ext cx="189738" cy="26860"/>
            </a:xfrm>
            <a:prstGeom prst="rect">
              <a:avLst/>
            </a:prstGeom>
            <a:solidFill>
              <a:srgbClr val="DDE7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Rectangle 501"/>
            <p:cNvSpPr/>
            <p:nvPr/>
          </p:nvSpPr>
          <p:spPr>
            <a:xfrm>
              <a:off x="17756505" y="12715874"/>
              <a:ext cx="189738" cy="26860"/>
            </a:xfrm>
            <a:prstGeom prst="rect">
              <a:avLst/>
            </a:prstGeom>
            <a:solidFill>
              <a:srgbClr val="EACB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Rectangle 502"/>
            <p:cNvSpPr/>
            <p:nvPr/>
          </p:nvSpPr>
          <p:spPr>
            <a:xfrm>
              <a:off x="17956530" y="12715874"/>
              <a:ext cx="189738" cy="26860"/>
            </a:xfrm>
            <a:prstGeom prst="rect">
              <a:avLst/>
            </a:prstGeom>
            <a:solidFill>
              <a:srgbClr val="DDE7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18156555" y="12715874"/>
              <a:ext cx="189738" cy="26860"/>
            </a:xfrm>
            <a:prstGeom prst="rect">
              <a:avLst/>
            </a:prstGeom>
            <a:solidFill>
              <a:srgbClr val="EACB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18356580" y="12715874"/>
              <a:ext cx="189738" cy="26860"/>
            </a:xfrm>
            <a:prstGeom prst="rect">
              <a:avLst/>
            </a:prstGeom>
            <a:solidFill>
              <a:srgbClr val="DDE7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18556605" y="12715874"/>
              <a:ext cx="189738" cy="26860"/>
            </a:xfrm>
            <a:prstGeom prst="rect">
              <a:avLst/>
            </a:prstGeom>
            <a:solidFill>
              <a:srgbClr val="EACB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17556480" y="12753022"/>
              <a:ext cx="189738" cy="26860"/>
            </a:xfrm>
            <a:prstGeom prst="rect">
              <a:avLst/>
            </a:prstGeom>
            <a:solidFill>
              <a:srgbClr val="8FB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17756505" y="12753022"/>
              <a:ext cx="189738" cy="26860"/>
            </a:xfrm>
            <a:prstGeom prst="rect">
              <a:avLst/>
            </a:prstGeom>
            <a:solidFill>
              <a:srgbClr val="D1B4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17956530" y="12753022"/>
              <a:ext cx="189738" cy="26860"/>
            </a:xfrm>
            <a:prstGeom prst="rect">
              <a:avLst/>
            </a:prstGeom>
            <a:solidFill>
              <a:srgbClr val="8FB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18156555" y="12753022"/>
              <a:ext cx="189738" cy="26860"/>
            </a:xfrm>
            <a:prstGeom prst="rect">
              <a:avLst/>
            </a:prstGeom>
            <a:solidFill>
              <a:srgbClr val="D1B4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18356580" y="12753022"/>
              <a:ext cx="189738" cy="26860"/>
            </a:xfrm>
            <a:prstGeom prst="rect">
              <a:avLst/>
            </a:prstGeom>
            <a:solidFill>
              <a:srgbClr val="8FB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Rectangle 511"/>
            <p:cNvSpPr/>
            <p:nvPr/>
          </p:nvSpPr>
          <p:spPr>
            <a:xfrm>
              <a:off x="18556605" y="12753022"/>
              <a:ext cx="189738" cy="26860"/>
            </a:xfrm>
            <a:prstGeom prst="rect">
              <a:avLst/>
            </a:prstGeom>
            <a:solidFill>
              <a:srgbClr val="D1B4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513" name="TextBox 512"/>
          <p:cNvSpPr txBox="1"/>
          <p:nvPr/>
        </p:nvSpPr>
        <p:spPr>
          <a:xfrm>
            <a:off x="15636239" y="12275819"/>
            <a:ext cx="1508760" cy="291465"/>
          </a:xfrm>
          <a:prstGeom prst="rect">
            <a:avLst/>
          </a:prstGeom>
          <a:noFill/>
        </p:spPr>
        <p:txBody>
          <a:bodyPr wrap="square" lIns="34290" rIns="34290" tIns="0" bIns="0" anchor="ctr">
            <a:spAutoFit/>
          </a:bodyPr>
          <a:lstStyle/>
          <a:p>
            <a:pPr algn="ctr">
              <a:spcBef>
                <a:spcPts val="0"/>
              </a:spcBef>
              <a:spcAft>
                <a:spcPts val="0"/>
              </a:spcAft>
              <a:defRPr sz="1188" b="0">
                <a:solidFill>
                  <a:srgbClr val="162D43"/>
                </a:solidFill>
                <a:latin typeface="Arial"/>
              </a:defRPr>
            </a:pPr>
            <a:r>
              <a:t>Patch scores</a:t>
            </a:r>
          </a:p>
        </p:txBody>
      </p:sp>
      <p:sp>
        <p:nvSpPr>
          <p:cNvPr id="514" name="TextBox 513"/>
          <p:cNvSpPr txBox="1"/>
          <p:nvPr/>
        </p:nvSpPr>
        <p:spPr>
          <a:xfrm>
            <a:off x="17402175" y="12275819"/>
            <a:ext cx="1508760" cy="291465"/>
          </a:xfrm>
          <a:prstGeom prst="rect">
            <a:avLst/>
          </a:prstGeom>
          <a:noFill/>
        </p:spPr>
        <p:txBody>
          <a:bodyPr wrap="square" lIns="34290" rIns="34290" tIns="0" bIns="0" anchor="ctr">
            <a:spAutoFit/>
          </a:bodyPr>
          <a:lstStyle/>
          <a:p>
            <a:pPr algn="ctr">
              <a:spcBef>
                <a:spcPts val="0"/>
              </a:spcBef>
              <a:spcAft>
                <a:spcPts val="0"/>
              </a:spcAft>
              <a:defRPr sz="1188" b="0">
                <a:solidFill>
                  <a:srgbClr val="162D43"/>
                </a:solidFill>
                <a:latin typeface="Arial"/>
              </a:defRPr>
            </a:pPr>
            <a:r>
              <a:t>NSS weights</a:t>
            </a:r>
          </a:p>
        </p:txBody>
      </p:sp>
      <p:sp>
        <p:nvSpPr>
          <p:cNvPr id="515" name="Oval 514"/>
          <p:cNvSpPr/>
          <p:nvPr/>
        </p:nvSpPr>
        <p:spPr>
          <a:xfrm>
            <a:off x="19082385" y="12430125"/>
            <a:ext cx="411479" cy="411479"/>
          </a:xfrm>
          <a:prstGeom prst="ellipse">
            <a:avLst/>
          </a:prstGeom>
          <a:solidFill>
            <a:srgbClr val="FFFFFF"/>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TextBox 515"/>
          <p:cNvSpPr txBox="1"/>
          <p:nvPr/>
        </p:nvSpPr>
        <p:spPr>
          <a:xfrm>
            <a:off x="19082385" y="12430125"/>
            <a:ext cx="411479" cy="411479"/>
          </a:xfrm>
          <a:prstGeom prst="rect">
            <a:avLst/>
          </a:prstGeom>
          <a:noFill/>
        </p:spPr>
        <p:txBody>
          <a:bodyPr wrap="square" lIns="34290" rIns="34290" tIns="0" bIns="0" anchor="ctr">
            <a:spAutoFit/>
          </a:bodyPr>
          <a:lstStyle/>
          <a:p>
            <a:pPr algn="ctr">
              <a:spcBef>
                <a:spcPts val="0"/>
              </a:spcBef>
              <a:spcAft>
                <a:spcPts val="0"/>
              </a:spcAft>
              <a:defRPr sz="2244" b="1">
                <a:solidFill>
                  <a:srgbClr val="162D43"/>
                </a:solidFill>
                <a:latin typeface="Arial"/>
              </a:defRPr>
            </a:pPr>
            <a:r>
              <a:t>Σ</a:t>
            </a:r>
          </a:p>
        </p:txBody>
      </p:sp>
      <p:cxnSp>
        <p:nvCxnSpPr>
          <p:cNvPr id="517" name="Connector 516"/>
          <p:cNvCxnSpPr/>
          <p:nvPr/>
        </p:nvCxnSpPr>
        <p:spPr>
          <a:xfrm>
            <a:off x="18773775" y="12687300"/>
            <a:ext cx="30861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18" name="Connector 517"/>
          <p:cNvCxnSpPr/>
          <p:nvPr/>
        </p:nvCxnSpPr>
        <p:spPr>
          <a:xfrm>
            <a:off x="17007839" y="12687300"/>
            <a:ext cx="1920241" cy="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519" name="Connector 518"/>
          <p:cNvCxnSpPr/>
          <p:nvPr/>
        </p:nvCxnSpPr>
        <p:spPr>
          <a:xfrm flipV="1">
            <a:off x="18928080" y="12550140"/>
            <a:ext cx="0" cy="13716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520" name="Connector 519"/>
          <p:cNvCxnSpPr/>
          <p:nvPr/>
        </p:nvCxnSpPr>
        <p:spPr>
          <a:xfrm>
            <a:off x="18928080" y="12550140"/>
            <a:ext cx="154305"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21" name="Connector 520"/>
          <p:cNvCxnSpPr/>
          <p:nvPr/>
        </p:nvCxnSpPr>
        <p:spPr>
          <a:xfrm>
            <a:off x="18773775" y="12687300"/>
            <a:ext cx="205739" cy="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522" name="Connector 521"/>
          <p:cNvCxnSpPr/>
          <p:nvPr/>
        </p:nvCxnSpPr>
        <p:spPr>
          <a:xfrm>
            <a:off x="18979514" y="12687300"/>
            <a:ext cx="0" cy="120015"/>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523" name="Connector 522"/>
          <p:cNvCxnSpPr/>
          <p:nvPr/>
        </p:nvCxnSpPr>
        <p:spPr>
          <a:xfrm>
            <a:off x="18979514" y="12807315"/>
            <a:ext cx="102871"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524" name="TextBox 523"/>
          <p:cNvSpPr txBox="1"/>
          <p:nvPr/>
        </p:nvSpPr>
        <p:spPr>
          <a:xfrm>
            <a:off x="19596735" y="12447269"/>
            <a:ext cx="1028700" cy="428625"/>
          </a:xfrm>
          <a:prstGeom prst="rect">
            <a:avLst/>
          </a:prstGeom>
          <a:noFill/>
        </p:spPr>
        <p:txBody>
          <a:bodyPr wrap="square" lIns="34290" rIns="34290" tIns="0" bIns="0" anchor="ctr">
            <a:spAutoFit/>
          </a:bodyPr>
          <a:lstStyle/>
          <a:p>
            <a:pPr algn="ctr">
              <a:spcBef>
                <a:spcPts val="0"/>
              </a:spcBef>
              <a:spcAft>
                <a:spcPts val="0"/>
              </a:spcAft>
              <a:defRPr sz="1716" b="1">
                <a:solidFill>
                  <a:srgbClr val="162D43"/>
                </a:solidFill>
                <a:latin typeface="Arial"/>
              </a:defRPr>
            </a:pPr>
            <a:r>
              <a:t>Q_l</a:t>
            </a:r>
          </a:p>
        </p:txBody>
      </p:sp>
      <p:cxnSp>
        <p:nvCxnSpPr>
          <p:cNvPr id="525" name="Connector 524"/>
          <p:cNvCxnSpPr/>
          <p:nvPr/>
        </p:nvCxnSpPr>
        <p:spPr>
          <a:xfrm>
            <a:off x="19511010" y="12653010"/>
            <a:ext cx="120015"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26" name="Connector 525"/>
          <p:cNvCxnSpPr/>
          <p:nvPr/>
        </p:nvCxnSpPr>
        <p:spPr>
          <a:xfrm>
            <a:off x="12824460" y="12310110"/>
            <a:ext cx="222884" cy="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527" name="Connector 526"/>
          <p:cNvCxnSpPr/>
          <p:nvPr/>
        </p:nvCxnSpPr>
        <p:spPr>
          <a:xfrm>
            <a:off x="13047344" y="12310110"/>
            <a:ext cx="0" cy="360045"/>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528" name="Connector 527"/>
          <p:cNvCxnSpPr/>
          <p:nvPr/>
        </p:nvCxnSpPr>
        <p:spPr>
          <a:xfrm>
            <a:off x="13047344" y="12670155"/>
            <a:ext cx="462915"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529" name="Oval 528"/>
          <p:cNvSpPr/>
          <p:nvPr/>
        </p:nvSpPr>
        <p:spPr>
          <a:xfrm>
            <a:off x="22699980" y="10869930"/>
            <a:ext cx="497204" cy="497204"/>
          </a:xfrm>
          <a:prstGeom prst="ellipse">
            <a:avLst/>
          </a:prstGeom>
          <a:solidFill>
            <a:srgbClr val="FFFFFF"/>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TextBox 529"/>
          <p:cNvSpPr txBox="1"/>
          <p:nvPr/>
        </p:nvSpPr>
        <p:spPr>
          <a:xfrm>
            <a:off x="22699980" y="10869930"/>
            <a:ext cx="497204" cy="497204"/>
          </a:xfrm>
          <a:prstGeom prst="rect">
            <a:avLst/>
          </a:prstGeom>
          <a:noFill/>
        </p:spPr>
        <p:txBody>
          <a:bodyPr wrap="square" lIns="34290" rIns="34290" tIns="0" bIns="0" anchor="ctr">
            <a:spAutoFit/>
          </a:bodyPr>
          <a:lstStyle/>
          <a:p>
            <a:pPr algn="ctr">
              <a:spcBef>
                <a:spcPts val="0"/>
              </a:spcBef>
              <a:spcAft>
                <a:spcPts val="0"/>
              </a:spcAft>
              <a:defRPr sz="2244" b="1">
                <a:solidFill>
                  <a:srgbClr val="162D43"/>
                </a:solidFill>
                <a:latin typeface="Arial"/>
              </a:defRPr>
            </a:pPr>
            <a:r>
              <a:t>β</a:t>
            </a:r>
          </a:p>
        </p:txBody>
      </p:sp>
      <p:cxnSp>
        <p:nvCxnSpPr>
          <p:cNvPr id="531" name="Connector 530"/>
          <p:cNvCxnSpPr/>
          <p:nvPr/>
        </p:nvCxnSpPr>
        <p:spPr>
          <a:xfrm>
            <a:off x="20916900" y="9858375"/>
            <a:ext cx="960120" cy="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532" name="Connector 531"/>
          <p:cNvCxnSpPr/>
          <p:nvPr/>
        </p:nvCxnSpPr>
        <p:spPr>
          <a:xfrm>
            <a:off x="21877020" y="9858375"/>
            <a:ext cx="0" cy="1148715"/>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533" name="Connector 532"/>
          <p:cNvCxnSpPr/>
          <p:nvPr/>
        </p:nvCxnSpPr>
        <p:spPr>
          <a:xfrm>
            <a:off x="21877020" y="11007090"/>
            <a:ext cx="82296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34" name="Connector 533"/>
          <p:cNvCxnSpPr/>
          <p:nvPr/>
        </p:nvCxnSpPr>
        <p:spPr>
          <a:xfrm>
            <a:off x="20985480" y="12653010"/>
            <a:ext cx="891540" cy="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535" name="Connector 534"/>
          <p:cNvCxnSpPr/>
          <p:nvPr/>
        </p:nvCxnSpPr>
        <p:spPr>
          <a:xfrm flipV="1">
            <a:off x="21877020" y="11247119"/>
            <a:ext cx="0" cy="1405891"/>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536" name="Connector 535"/>
          <p:cNvCxnSpPr/>
          <p:nvPr/>
        </p:nvCxnSpPr>
        <p:spPr>
          <a:xfrm>
            <a:off x="21877020" y="11247119"/>
            <a:ext cx="82296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537" name="Rounded Rectangle 536"/>
          <p:cNvSpPr/>
          <p:nvPr/>
        </p:nvSpPr>
        <p:spPr>
          <a:xfrm>
            <a:off x="24088725" y="10749915"/>
            <a:ext cx="2520315" cy="1028700"/>
          </a:xfrm>
          <a:prstGeom prst="roundRect">
            <a:avLst>
              <a:gd name="adj" fmla="val 8000"/>
            </a:avLst>
          </a:prstGeom>
          <a:solidFill>
            <a:srgbClr val="D9F1EE"/>
          </a:solidFill>
          <a:ln w="12700">
            <a:solidFill>
              <a:srgbClr val="2DAD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TextBox 537"/>
          <p:cNvSpPr txBox="1"/>
          <p:nvPr/>
        </p:nvSpPr>
        <p:spPr>
          <a:xfrm>
            <a:off x="24140160" y="10784205"/>
            <a:ext cx="2417445" cy="960120"/>
          </a:xfrm>
          <a:prstGeom prst="rect">
            <a:avLst/>
          </a:prstGeom>
          <a:noFill/>
        </p:spPr>
        <p:txBody>
          <a:bodyPr wrap="square" lIns="34290" rIns="34290" tIns="0" bIns="0" anchor="ctr">
            <a:spAutoFit/>
          </a:bodyPr>
          <a:lstStyle/>
          <a:p>
            <a:pPr algn="ctr">
              <a:spcBef>
                <a:spcPts val="0"/>
              </a:spcBef>
              <a:spcAft>
                <a:spcPts val="0"/>
              </a:spcAft>
              <a:defRPr sz="2244" b="1">
                <a:solidFill>
                  <a:srgbClr val="162D43"/>
                </a:solidFill>
                <a:latin typeface="Arial"/>
              </a:defRPr>
            </a:pPr>
            <a:r>
              <a:t>Perceptual</a:t>
            </a:r>
          </a:p>
          <a:p>
            <a:pPr algn="ctr">
              <a:spcBef>
                <a:spcPts val="0"/>
              </a:spcBef>
              <a:spcAft>
                <a:spcPts val="0"/>
              </a:spcAft>
              <a:defRPr sz="2244" b="1">
                <a:solidFill>
                  <a:srgbClr val="162D43"/>
                </a:solidFill>
                <a:latin typeface="Arial"/>
              </a:defRPr>
            </a:pPr>
            <a:r>
              <a:t>Quality Q</a:t>
            </a:r>
          </a:p>
        </p:txBody>
      </p:sp>
      <p:cxnSp>
        <p:nvCxnSpPr>
          <p:cNvPr id="539" name="Connector 538"/>
          <p:cNvCxnSpPr/>
          <p:nvPr/>
        </p:nvCxnSpPr>
        <p:spPr>
          <a:xfrm>
            <a:off x="23197185" y="11109960"/>
            <a:ext cx="89154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540" name="TextBox 539"/>
          <p:cNvSpPr txBox="1"/>
          <p:nvPr/>
        </p:nvSpPr>
        <p:spPr>
          <a:xfrm>
            <a:off x="21928455" y="11812905"/>
            <a:ext cx="4886325" cy="480060"/>
          </a:xfrm>
          <a:prstGeom prst="rect">
            <a:avLst/>
          </a:prstGeom>
          <a:noFill/>
        </p:spPr>
        <p:txBody>
          <a:bodyPr wrap="square" lIns="34290" rIns="34290" tIns="0" bIns="0" anchor="ctr">
            <a:spAutoFit/>
          </a:bodyPr>
          <a:lstStyle/>
          <a:p>
            <a:pPr algn="ctr">
              <a:spcBef>
                <a:spcPts val="0"/>
              </a:spcBef>
              <a:spcAft>
                <a:spcPts val="0"/>
              </a:spcAft>
              <a:defRPr sz="1848" b="0">
                <a:solidFill>
                  <a:srgbClr val="162D43"/>
                </a:solidFill>
                <a:latin typeface="Cambria"/>
              </a:defRPr>
            </a:pPr>
            <a:r>
              <a:t>Q = (1−β)Q_g + βQ_l</a:t>
            </a:r>
          </a:p>
        </p:txBody>
      </p:sp>
      <p:sp>
        <p:nvSpPr>
          <p:cNvPr id="541" name="TextBox 540"/>
          <p:cNvSpPr txBox="1"/>
          <p:nvPr/>
        </p:nvSpPr>
        <p:spPr>
          <a:xfrm>
            <a:off x="22425660" y="12327255"/>
            <a:ext cx="3874770" cy="377190"/>
          </a:xfrm>
          <a:prstGeom prst="rect">
            <a:avLst/>
          </a:prstGeom>
          <a:noFill/>
        </p:spPr>
        <p:txBody>
          <a:bodyPr wrap="square" lIns="34290" rIns="34290" tIns="0" bIns="0" anchor="ctr">
            <a:spAutoFit/>
          </a:bodyPr>
          <a:lstStyle/>
          <a:p>
            <a:pPr algn="ctr">
              <a:spcBef>
                <a:spcPts val="0"/>
              </a:spcBef>
              <a:spcAft>
                <a:spcPts val="0"/>
              </a:spcAft>
              <a:defRPr sz="1452" b="0">
                <a:solidFill>
                  <a:srgbClr val="162D43"/>
                </a:solidFill>
                <a:latin typeface="Arial"/>
              </a:defRPr>
            </a:pPr>
            <a:r>
              <a:t>β: learned scalar</a:t>
            </a:r>
          </a:p>
        </p:txBody>
      </p:sp>
      <p:sp>
        <p:nvSpPr>
          <p:cNvPr id="542" name="Rounded Rectangle 541"/>
          <p:cNvSpPr/>
          <p:nvPr/>
        </p:nvSpPr>
        <p:spPr>
          <a:xfrm>
            <a:off x="18876645" y="8401050"/>
            <a:ext cx="3857625" cy="668655"/>
          </a:xfrm>
          <a:prstGeom prst="roundRect">
            <a:avLst>
              <a:gd name="adj" fmla="val 8000"/>
            </a:avLst>
          </a:prstGeom>
          <a:solidFill>
            <a:srgbClr val="F0E9F9"/>
          </a:solidFill>
          <a:ln w="12700">
            <a:solidFill>
              <a:srgbClr val="9262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TextBox 542"/>
          <p:cNvSpPr txBox="1"/>
          <p:nvPr/>
        </p:nvSpPr>
        <p:spPr>
          <a:xfrm>
            <a:off x="18928080" y="8435340"/>
            <a:ext cx="3754755" cy="600075"/>
          </a:xfrm>
          <a:prstGeom prst="rect">
            <a:avLst/>
          </a:prstGeom>
          <a:noFill/>
        </p:spPr>
        <p:txBody>
          <a:bodyPr wrap="square" lIns="34290" rIns="34290" tIns="0" bIns="0" anchor="ctr">
            <a:spAutoFit/>
          </a:bodyPr>
          <a:lstStyle/>
          <a:p>
            <a:pPr algn="ctr">
              <a:spcBef>
                <a:spcPts val="0"/>
              </a:spcBef>
              <a:spcAft>
                <a:spcPts val="0"/>
              </a:spcAft>
              <a:defRPr sz="1320" b="0">
                <a:solidFill>
                  <a:srgbClr val="162D43"/>
                </a:solidFill>
                <a:latin typeface="Arial"/>
              </a:defRPr>
            </a:pPr>
            <a:r>
              <a:t>Five-level text CE · auxiliary</a:t>
            </a:r>
          </a:p>
          <a:p>
            <a:pPr algn="ctr">
              <a:spcBef>
                <a:spcPts val="0"/>
              </a:spcBef>
              <a:spcAft>
                <a:spcPts val="0"/>
              </a:spcAft>
              <a:defRPr sz="1320" b="0">
                <a:solidFill>
                  <a:srgbClr val="162D43"/>
                </a:solidFill>
                <a:latin typeface="Arial"/>
              </a:defRPr>
            </a:pPr>
            <a:r>
              <a:t>λ=0.005 · score blend=0</a:t>
            </a:r>
          </a:p>
        </p:txBody>
      </p:sp>
      <p:cxnSp>
        <p:nvCxnSpPr>
          <p:cNvPr id="544" name="Connector 543"/>
          <p:cNvCxnSpPr/>
          <p:nvPr/>
        </p:nvCxnSpPr>
        <p:spPr>
          <a:xfrm flipV="1">
            <a:off x="16562070" y="8846819"/>
            <a:ext cx="0" cy="720091"/>
          </a:xfrm>
          <a:prstGeom prst="line">
            <a:avLst/>
          </a:prstGeom>
          <a:ln w="16510">
            <a:solidFill>
              <a:srgbClr val="9262C9"/>
            </a:solidFill>
            <a:prstDash val="dash"/>
          </a:ln>
        </p:spPr>
        <p:style>
          <a:lnRef idx="2">
            <a:schemeClr val="accent1"/>
          </a:lnRef>
          <a:fillRef idx="0">
            <a:schemeClr val="accent1"/>
          </a:fillRef>
          <a:effectRef idx="1">
            <a:schemeClr val="accent1"/>
          </a:effectRef>
          <a:fontRef idx="minor">
            <a:schemeClr val="tx1"/>
          </a:fontRef>
        </p:style>
      </p:cxnSp>
      <p:cxnSp>
        <p:nvCxnSpPr>
          <p:cNvPr id="545" name="Connector 544"/>
          <p:cNvCxnSpPr/>
          <p:nvPr/>
        </p:nvCxnSpPr>
        <p:spPr>
          <a:xfrm>
            <a:off x="16562070" y="8846819"/>
            <a:ext cx="2314575" cy="0"/>
          </a:xfrm>
          <a:prstGeom prst="line">
            <a:avLst/>
          </a:prstGeom>
          <a:ln w="16510">
            <a:solidFill>
              <a:srgbClr val="9262C9"/>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546" name="Rounded Rectangle 545"/>
          <p:cNvSpPr/>
          <p:nvPr/>
        </p:nvSpPr>
        <p:spPr>
          <a:xfrm>
            <a:off x="11984355" y="13647419"/>
            <a:ext cx="15036164" cy="4080509"/>
          </a:xfrm>
          <a:prstGeom prst="roundRect">
            <a:avLst>
              <a:gd name="adj" fmla="val 8000"/>
            </a:avLst>
          </a:prstGeom>
          <a:solidFill>
            <a:srgbClr val="FFFAF3"/>
          </a:solidFill>
          <a:ln w="13970">
            <a:solidFill>
              <a:srgbClr val="E99A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TextBox 546"/>
          <p:cNvSpPr txBox="1"/>
          <p:nvPr/>
        </p:nvSpPr>
        <p:spPr>
          <a:xfrm>
            <a:off x="12155805" y="13698855"/>
            <a:ext cx="14693264" cy="445770"/>
          </a:xfrm>
          <a:prstGeom prst="rect">
            <a:avLst/>
          </a:prstGeom>
          <a:noFill/>
        </p:spPr>
        <p:txBody>
          <a:bodyPr wrap="square" lIns="34290" rIns="34290" tIns="0" bIns="0" anchor="ctr">
            <a:spAutoFit/>
          </a:bodyPr>
          <a:lstStyle/>
          <a:p>
            <a:pPr algn="l">
              <a:spcBef>
                <a:spcPts val="0"/>
              </a:spcBef>
              <a:spcAft>
                <a:spcPts val="0"/>
              </a:spcAft>
              <a:defRPr sz="2508" b="1">
                <a:solidFill>
                  <a:srgbClr val="E99A48"/>
                </a:solidFill>
                <a:latin typeface="Georgia"/>
              </a:defRPr>
            </a:pPr>
            <a:r>
              <a:t>Alignment branch (A)</a:t>
            </a:r>
          </a:p>
        </p:txBody>
      </p:sp>
      <p:grpSp>
        <p:nvGrpSpPr>
          <p:cNvPr id="548" name="Group 547"/>
          <p:cNvGrpSpPr/>
          <p:nvPr/>
        </p:nvGrpSpPr>
        <p:grpSpPr>
          <a:xfrm>
            <a:off x="12258675" y="14470380"/>
            <a:ext cx="428625" cy="651508"/>
            <a:chOff x="12258675" y="14470380"/>
            <a:chExt cx="428625" cy="651508"/>
          </a:xfrm>
        </p:grpSpPr>
        <p:sp>
          <p:nvSpPr>
            <p:cNvPr id="549" name="Rectangle 548"/>
            <p:cNvSpPr/>
            <p:nvPr/>
          </p:nvSpPr>
          <p:spPr>
            <a:xfrm>
              <a:off x="12412980" y="14470380"/>
              <a:ext cx="274320" cy="497204"/>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Rectangle 549"/>
            <p:cNvSpPr/>
            <p:nvPr/>
          </p:nvSpPr>
          <p:spPr>
            <a:xfrm>
              <a:off x="12335827" y="14547532"/>
              <a:ext cx="274320" cy="497204"/>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Rectangle 550"/>
            <p:cNvSpPr/>
            <p:nvPr/>
          </p:nvSpPr>
          <p:spPr>
            <a:xfrm>
              <a:off x="12258675" y="14624684"/>
              <a:ext cx="274320" cy="497204"/>
            </a:xfrm>
            <a:prstGeom prst="rect">
              <a:avLst/>
            </a:prstGeom>
            <a:solidFill>
              <a:srgbClr val="4B8FDA"/>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552" name="TextBox 551"/>
          <p:cNvSpPr txBox="1"/>
          <p:nvPr/>
        </p:nvSpPr>
        <p:spPr>
          <a:xfrm>
            <a:off x="12087225" y="14247494"/>
            <a:ext cx="617219" cy="342900"/>
          </a:xfrm>
          <a:prstGeom prst="rect">
            <a:avLst/>
          </a:prstGeom>
          <a:noFill/>
        </p:spPr>
        <p:txBody>
          <a:bodyPr wrap="square" lIns="34290" rIns="34290" tIns="0" bIns="0" anchor="ctr">
            <a:spAutoFit/>
          </a:bodyPr>
          <a:lstStyle/>
          <a:p>
            <a:pPr algn="ctr">
              <a:spcBef>
                <a:spcPts val="0"/>
              </a:spcBef>
              <a:spcAft>
                <a:spcPts val="0"/>
              </a:spcAft>
              <a:defRPr sz="1584" b="1">
                <a:solidFill>
                  <a:srgbClr val="162D43"/>
                </a:solidFill>
                <a:latin typeface="Arial"/>
              </a:defRPr>
            </a:pPr>
            <a:r>
              <a:t>z</a:t>
            </a:r>
          </a:p>
        </p:txBody>
      </p:sp>
      <p:sp>
        <p:nvSpPr>
          <p:cNvPr id="553" name="Rounded Rectangle 552"/>
          <p:cNvSpPr/>
          <p:nvPr/>
        </p:nvSpPr>
        <p:spPr>
          <a:xfrm>
            <a:off x="12995910" y="14504669"/>
            <a:ext cx="2366010" cy="788669"/>
          </a:xfrm>
          <a:prstGeom prst="roundRect">
            <a:avLst>
              <a:gd name="adj" fmla="val 8000"/>
            </a:avLst>
          </a:prstGeom>
          <a:solidFill>
            <a:srgbClr val="FFF0DD"/>
          </a:solidFill>
          <a:ln w="12700">
            <a:solidFill>
              <a:srgbClr val="E99A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TextBox 553"/>
          <p:cNvSpPr txBox="1"/>
          <p:nvPr/>
        </p:nvSpPr>
        <p:spPr>
          <a:xfrm>
            <a:off x="13047344" y="14538959"/>
            <a:ext cx="2263140" cy="720090"/>
          </a:xfrm>
          <a:prstGeom prst="rect">
            <a:avLst/>
          </a:prstGeom>
          <a:noFill/>
        </p:spPr>
        <p:txBody>
          <a:bodyPr wrap="square" lIns="34290" rIns="34290" tIns="0" bIns="0" anchor="ctr">
            <a:spAutoFit/>
          </a:bodyPr>
          <a:lstStyle/>
          <a:p>
            <a:pPr algn="ctr">
              <a:spcBef>
                <a:spcPts val="0"/>
              </a:spcBef>
              <a:spcAft>
                <a:spcPts val="0"/>
              </a:spcAft>
              <a:defRPr sz="1584" b="0">
                <a:solidFill>
                  <a:srgbClr val="162D43"/>
                </a:solidFill>
                <a:latin typeface="Arial"/>
              </a:defRPr>
            </a:pPr>
            <a:r>
              <a:t>Image adapter A_G</a:t>
            </a:r>
          </a:p>
        </p:txBody>
      </p:sp>
      <p:cxnSp>
        <p:nvCxnSpPr>
          <p:cNvPr id="555" name="Connector 554"/>
          <p:cNvCxnSpPr/>
          <p:nvPr/>
        </p:nvCxnSpPr>
        <p:spPr>
          <a:xfrm>
            <a:off x="12584430" y="14847570"/>
            <a:ext cx="41148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grpSp>
        <p:nvGrpSpPr>
          <p:cNvPr id="556" name="Group 555"/>
          <p:cNvGrpSpPr/>
          <p:nvPr/>
        </p:nvGrpSpPr>
        <p:grpSpPr>
          <a:xfrm>
            <a:off x="15739109" y="14556105"/>
            <a:ext cx="428625" cy="514349"/>
            <a:chOff x="15739109" y="14556105"/>
            <a:chExt cx="428625" cy="514349"/>
          </a:xfrm>
        </p:grpSpPr>
        <p:sp>
          <p:nvSpPr>
            <p:cNvPr id="557" name="Rectangle 556"/>
            <p:cNvSpPr/>
            <p:nvPr/>
          </p:nvSpPr>
          <p:spPr>
            <a:xfrm>
              <a:off x="15893414" y="14556105"/>
              <a:ext cx="274320" cy="360045"/>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Rectangle 557"/>
            <p:cNvSpPr/>
            <p:nvPr/>
          </p:nvSpPr>
          <p:spPr>
            <a:xfrm>
              <a:off x="15816262" y="14633257"/>
              <a:ext cx="274320" cy="360045"/>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Rectangle 558"/>
            <p:cNvSpPr/>
            <p:nvPr/>
          </p:nvSpPr>
          <p:spPr>
            <a:xfrm>
              <a:off x="15739109" y="14710409"/>
              <a:ext cx="274320" cy="360045"/>
            </a:xfrm>
            <a:prstGeom prst="rect">
              <a:avLst/>
            </a:prstGeom>
            <a:solidFill>
              <a:srgbClr val="4B8FDA"/>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560" name="TextBox 559"/>
          <p:cNvSpPr txBox="1"/>
          <p:nvPr/>
        </p:nvSpPr>
        <p:spPr>
          <a:xfrm>
            <a:off x="15670530" y="14350365"/>
            <a:ext cx="514350" cy="342900"/>
          </a:xfrm>
          <a:prstGeom prst="rect">
            <a:avLst/>
          </a:prstGeom>
          <a:noFill/>
        </p:spPr>
        <p:txBody>
          <a:bodyPr wrap="square" lIns="34290" rIns="34290" tIns="0" bIns="0" anchor="ctr">
            <a:spAutoFit/>
          </a:bodyPr>
          <a:lstStyle/>
          <a:p>
            <a:pPr algn="ctr">
              <a:spcBef>
                <a:spcPts val="0"/>
              </a:spcBef>
              <a:spcAft>
                <a:spcPts val="0"/>
              </a:spcAft>
              <a:defRPr sz="1584" b="1">
                <a:solidFill>
                  <a:srgbClr val="162D43"/>
                </a:solidFill>
                <a:latin typeface="Arial"/>
              </a:defRPr>
            </a:pPr>
            <a:r>
              <a:t>v</a:t>
            </a:r>
          </a:p>
        </p:txBody>
      </p:sp>
      <p:cxnSp>
        <p:nvCxnSpPr>
          <p:cNvPr id="561" name="Connector 560"/>
          <p:cNvCxnSpPr/>
          <p:nvPr/>
        </p:nvCxnSpPr>
        <p:spPr>
          <a:xfrm>
            <a:off x="15361920" y="14899005"/>
            <a:ext cx="377189"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562" name="Rounded Rectangle 561"/>
          <p:cNvSpPr/>
          <p:nvPr/>
        </p:nvSpPr>
        <p:spPr>
          <a:xfrm>
            <a:off x="17487900" y="14298930"/>
            <a:ext cx="3000375" cy="891540"/>
          </a:xfrm>
          <a:prstGeom prst="roundRect">
            <a:avLst>
              <a:gd name="adj" fmla="val 8000"/>
            </a:avLst>
          </a:prstGeom>
          <a:solidFill>
            <a:srgbClr val="F3F6F9"/>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TextBox 562"/>
          <p:cNvSpPr txBox="1"/>
          <p:nvPr/>
        </p:nvSpPr>
        <p:spPr>
          <a:xfrm>
            <a:off x="17539335" y="14333219"/>
            <a:ext cx="2897504" cy="822959"/>
          </a:xfrm>
          <a:prstGeom prst="rect">
            <a:avLst/>
          </a:prstGeom>
          <a:noFill/>
        </p:spPr>
        <p:txBody>
          <a:bodyPr wrap="square" lIns="34290" rIns="34290" tIns="0" bIns="0" anchor="ctr">
            <a:spAutoFit/>
          </a:bodyPr>
          <a:lstStyle/>
          <a:p>
            <a:pPr algn="ctr">
              <a:spcBef>
                <a:spcPts val="0"/>
              </a:spcBef>
              <a:spcAft>
                <a:spcPts val="0"/>
              </a:spcAft>
              <a:defRPr sz="1584" b="0">
                <a:solidFill>
                  <a:srgbClr val="162D43"/>
                </a:solidFill>
                <a:latin typeface="Arial"/>
              </a:defRPr>
            </a:pPr>
            <a:r>
              <a:t>Global pair head</a:t>
            </a:r>
          </a:p>
          <a:p>
            <a:pPr algn="ctr">
              <a:spcBef>
                <a:spcPts val="0"/>
              </a:spcBef>
              <a:spcAft>
                <a:spcPts val="0"/>
              </a:spcAft>
              <a:defRPr sz="1584" b="0">
                <a:solidFill>
                  <a:srgbClr val="162D43"/>
                </a:solidFill>
                <a:latin typeface="Arial"/>
              </a:defRPr>
            </a:pPr>
            <a:r>
              <a:t>[v, u, |v−u|]</a:t>
            </a:r>
          </a:p>
        </p:txBody>
      </p:sp>
      <p:cxnSp>
        <p:nvCxnSpPr>
          <p:cNvPr id="564" name="Connector 563"/>
          <p:cNvCxnSpPr/>
          <p:nvPr/>
        </p:nvCxnSpPr>
        <p:spPr>
          <a:xfrm>
            <a:off x="16047720" y="14899005"/>
            <a:ext cx="668655" cy="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565" name="Connector 564"/>
          <p:cNvCxnSpPr/>
          <p:nvPr/>
        </p:nvCxnSpPr>
        <p:spPr>
          <a:xfrm flipV="1">
            <a:off x="16716375" y="14573250"/>
            <a:ext cx="0" cy="325755"/>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566" name="Connector 565"/>
          <p:cNvCxnSpPr/>
          <p:nvPr/>
        </p:nvCxnSpPr>
        <p:spPr>
          <a:xfrm>
            <a:off x="16716375" y="14573250"/>
            <a:ext cx="771525"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567" name="Rounded Rectangle 566"/>
          <p:cNvSpPr/>
          <p:nvPr/>
        </p:nvSpPr>
        <p:spPr>
          <a:xfrm>
            <a:off x="274320" y="16030575"/>
            <a:ext cx="2537460" cy="994409"/>
          </a:xfrm>
          <a:prstGeom prst="roundRect">
            <a:avLst>
              <a:gd name="adj" fmla="val 8000"/>
            </a:avLst>
          </a:prstGeom>
          <a:solidFill>
            <a:srgbClr val="F0E9F9"/>
          </a:solidFill>
          <a:ln w="12700">
            <a:solidFill>
              <a:srgbClr val="9262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TextBox 567"/>
          <p:cNvSpPr txBox="1"/>
          <p:nvPr/>
        </p:nvSpPr>
        <p:spPr>
          <a:xfrm>
            <a:off x="325755" y="16064864"/>
            <a:ext cx="2434590" cy="925830"/>
          </a:xfrm>
          <a:prstGeom prst="rect">
            <a:avLst/>
          </a:prstGeom>
          <a:noFill/>
        </p:spPr>
        <p:txBody>
          <a:bodyPr wrap="square" lIns="34290" rIns="34290" tIns="0" bIns="0" anchor="ctr">
            <a:spAutoFit/>
          </a:bodyPr>
          <a:lstStyle/>
          <a:p>
            <a:pPr algn="ctr">
              <a:spcBef>
                <a:spcPts val="0"/>
              </a:spcBef>
              <a:spcAft>
                <a:spcPts val="0"/>
              </a:spcAft>
              <a:defRPr sz="1584" b="0">
                <a:solidFill>
                  <a:srgbClr val="162D43"/>
                </a:solidFill>
                <a:latin typeface="Arial"/>
              </a:defRPr>
            </a:pPr>
            <a:r>
              <a:t>Prompt + learnable</a:t>
            </a:r>
          </a:p>
          <a:p>
            <a:pPr algn="ctr">
              <a:spcBef>
                <a:spcPts val="0"/>
              </a:spcBef>
              <a:spcAft>
                <a:spcPts val="0"/>
              </a:spcAft>
              <a:defRPr sz="1584" b="0">
                <a:solidFill>
                  <a:srgbClr val="162D43"/>
                </a:solidFill>
                <a:latin typeface="Arial"/>
              </a:defRPr>
            </a:pPr>
            <a:r>
              <a:t>context tokens</a:t>
            </a:r>
          </a:p>
        </p:txBody>
      </p:sp>
      <p:sp>
        <p:nvSpPr>
          <p:cNvPr id="569" name="Rounded Rectangle 568"/>
          <p:cNvSpPr/>
          <p:nvPr/>
        </p:nvSpPr>
        <p:spPr>
          <a:xfrm>
            <a:off x="3137535" y="16390620"/>
            <a:ext cx="188595" cy="291465"/>
          </a:xfrm>
          <a:prstGeom prst="roundRect">
            <a:avLst>
              <a:gd name="adj" fmla="val 8000"/>
            </a:avLst>
          </a:prstGeom>
          <a:solidFill>
            <a:srgbClr val="F0E9F9"/>
          </a:solidFill>
          <a:ln w="12700">
            <a:solidFill>
              <a:srgbClr val="9262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Rounded Rectangle 569"/>
          <p:cNvSpPr/>
          <p:nvPr/>
        </p:nvSpPr>
        <p:spPr>
          <a:xfrm>
            <a:off x="3411854" y="16390620"/>
            <a:ext cx="188595" cy="291465"/>
          </a:xfrm>
          <a:prstGeom prst="roundRect">
            <a:avLst>
              <a:gd name="adj" fmla="val 8000"/>
            </a:avLst>
          </a:prstGeom>
          <a:solidFill>
            <a:srgbClr val="F0E9F9"/>
          </a:solidFill>
          <a:ln w="12700">
            <a:solidFill>
              <a:srgbClr val="9262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Rounded Rectangle 570"/>
          <p:cNvSpPr/>
          <p:nvPr/>
        </p:nvSpPr>
        <p:spPr>
          <a:xfrm>
            <a:off x="3686175" y="16390620"/>
            <a:ext cx="188595" cy="291465"/>
          </a:xfrm>
          <a:prstGeom prst="roundRect">
            <a:avLst>
              <a:gd name="adj" fmla="val 8000"/>
            </a:avLst>
          </a:prstGeom>
          <a:solidFill>
            <a:srgbClr val="F0E9F9"/>
          </a:solidFill>
          <a:ln w="12700">
            <a:solidFill>
              <a:srgbClr val="9262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2" name="Rounded Rectangle 571"/>
          <p:cNvSpPr/>
          <p:nvPr/>
        </p:nvSpPr>
        <p:spPr>
          <a:xfrm>
            <a:off x="3960495" y="16390620"/>
            <a:ext cx="188595" cy="291465"/>
          </a:xfrm>
          <a:prstGeom prst="roundRect">
            <a:avLst>
              <a:gd name="adj" fmla="val 8000"/>
            </a:avLst>
          </a:prstGeom>
          <a:solidFill>
            <a:srgbClr val="F0E9F9"/>
          </a:solidFill>
          <a:ln w="12700">
            <a:solidFill>
              <a:srgbClr val="9262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Trapezoid 572"/>
          <p:cNvSpPr/>
          <p:nvPr/>
        </p:nvSpPr>
        <p:spPr>
          <a:xfrm>
            <a:off x="4560570" y="15893414"/>
            <a:ext cx="1988819" cy="1114425"/>
          </a:xfrm>
          <a:prstGeom prst="trapezoid">
            <a:avLst/>
          </a:prstGeom>
          <a:solidFill>
            <a:srgbClr val="F0E9F9"/>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TextBox 573"/>
          <p:cNvSpPr txBox="1"/>
          <p:nvPr/>
        </p:nvSpPr>
        <p:spPr>
          <a:xfrm>
            <a:off x="4612005" y="15979139"/>
            <a:ext cx="1885950" cy="942975"/>
          </a:xfrm>
          <a:prstGeom prst="rect">
            <a:avLst/>
          </a:prstGeom>
          <a:noFill/>
        </p:spPr>
        <p:txBody>
          <a:bodyPr wrap="square" lIns="34290" rIns="34290" tIns="0" bIns="0" anchor="ctr">
            <a:spAutoFit/>
          </a:bodyPr>
          <a:lstStyle/>
          <a:p>
            <a:pPr algn="ctr">
              <a:spcBef>
                <a:spcPts val="0"/>
              </a:spcBef>
              <a:spcAft>
                <a:spcPts val="0"/>
              </a:spcAft>
              <a:defRPr sz="2112" b="1">
                <a:solidFill>
                  <a:srgbClr val="162D43"/>
                </a:solidFill>
                <a:latin typeface="Arial"/>
              </a:defRPr>
            </a:pPr>
            <a:r>
              <a:t>Frozen CLIP</a:t>
            </a:r>
          </a:p>
          <a:p>
            <a:pPr algn="ctr">
              <a:spcBef>
                <a:spcPts val="0"/>
              </a:spcBef>
              <a:spcAft>
                <a:spcPts val="0"/>
              </a:spcAft>
              <a:defRPr sz="2112" b="1">
                <a:solidFill>
                  <a:srgbClr val="162D43"/>
                </a:solidFill>
                <a:latin typeface="Arial"/>
              </a:defRPr>
            </a:pPr>
            <a:r>
              <a:t>text encoder</a:t>
            </a:r>
          </a:p>
        </p:txBody>
      </p:sp>
      <p:cxnSp>
        <p:nvCxnSpPr>
          <p:cNvPr id="575" name="Connector 574"/>
          <p:cNvCxnSpPr/>
          <p:nvPr/>
        </p:nvCxnSpPr>
        <p:spPr>
          <a:xfrm>
            <a:off x="2811779" y="16527780"/>
            <a:ext cx="274321"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76" name="Connector 575"/>
          <p:cNvCxnSpPr/>
          <p:nvPr/>
        </p:nvCxnSpPr>
        <p:spPr>
          <a:xfrm>
            <a:off x="4217670" y="16527780"/>
            <a:ext cx="34290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577" name="Rounded Rectangle 576"/>
          <p:cNvSpPr/>
          <p:nvPr/>
        </p:nvSpPr>
        <p:spPr>
          <a:xfrm>
            <a:off x="6960870" y="16167734"/>
            <a:ext cx="925830" cy="634365"/>
          </a:xfrm>
          <a:prstGeom prst="roundRect">
            <a:avLst>
              <a:gd name="adj" fmla="val 8000"/>
            </a:avLst>
          </a:prstGeom>
          <a:solidFill>
            <a:srgbClr val="F0E9F9"/>
          </a:solidFill>
          <a:ln w="12700">
            <a:solidFill>
              <a:srgbClr val="9262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8" name="TextBox 577"/>
          <p:cNvSpPr txBox="1"/>
          <p:nvPr/>
        </p:nvSpPr>
        <p:spPr>
          <a:xfrm>
            <a:off x="7012304" y="16202025"/>
            <a:ext cx="822959" cy="565785"/>
          </a:xfrm>
          <a:prstGeom prst="rect">
            <a:avLst/>
          </a:prstGeom>
          <a:noFill/>
        </p:spPr>
        <p:txBody>
          <a:bodyPr wrap="square" lIns="34290" rIns="34290" tIns="0" bIns="0" anchor="ctr">
            <a:spAutoFit/>
          </a:bodyPr>
          <a:lstStyle/>
          <a:p>
            <a:pPr algn="ctr">
              <a:spcBef>
                <a:spcPts val="0"/>
              </a:spcBef>
              <a:spcAft>
                <a:spcPts val="0"/>
              </a:spcAft>
              <a:defRPr sz="1848" b="0">
                <a:solidFill>
                  <a:srgbClr val="162D43"/>
                </a:solidFill>
                <a:latin typeface="Arial"/>
              </a:defRPr>
            </a:pPr>
            <a:r>
              <a:t>U</a:t>
            </a:r>
          </a:p>
        </p:txBody>
      </p:sp>
      <p:cxnSp>
        <p:nvCxnSpPr>
          <p:cNvPr id="579" name="Connector 578"/>
          <p:cNvCxnSpPr/>
          <p:nvPr/>
        </p:nvCxnSpPr>
        <p:spPr>
          <a:xfrm>
            <a:off x="6549390" y="16476345"/>
            <a:ext cx="41148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580" name="Rounded Rectangle 579"/>
          <p:cNvSpPr/>
          <p:nvPr/>
        </p:nvSpPr>
        <p:spPr>
          <a:xfrm>
            <a:off x="8418194" y="16167734"/>
            <a:ext cx="2503170" cy="634365"/>
          </a:xfrm>
          <a:prstGeom prst="roundRect">
            <a:avLst>
              <a:gd name="adj" fmla="val 8000"/>
            </a:avLst>
          </a:prstGeom>
          <a:solidFill>
            <a:srgbClr val="F0E9F9"/>
          </a:solidFill>
          <a:ln w="12700">
            <a:solidFill>
              <a:srgbClr val="9262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TextBox 580"/>
          <p:cNvSpPr txBox="1"/>
          <p:nvPr/>
        </p:nvSpPr>
        <p:spPr>
          <a:xfrm>
            <a:off x="8469630" y="16202025"/>
            <a:ext cx="2400300" cy="565785"/>
          </a:xfrm>
          <a:prstGeom prst="rect">
            <a:avLst/>
          </a:prstGeom>
          <a:noFill/>
        </p:spPr>
        <p:txBody>
          <a:bodyPr wrap="square" lIns="34290" rIns="34290" tIns="0" bIns="0" anchor="ctr">
            <a:spAutoFit/>
          </a:bodyPr>
          <a:lstStyle/>
          <a:p>
            <a:pPr algn="ctr">
              <a:spcBef>
                <a:spcPts val="0"/>
              </a:spcBef>
              <a:spcAft>
                <a:spcPts val="0"/>
              </a:spcAft>
              <a:defRPr sz="1584" b="0">
                <a:solidFill>
                  <a:srgbClr val="162D43"/>
                </a:solidFill>
                <a:latin typeface="Arial"/>
              </a:defRPr>
            </a:pPr>
            <a:r>
              <a:t>Text adapter A_T</a:t>
            </a:r>
          </a:p>
        </p:txBody>
      </p:sp>
      <p:cxnSp>
        <p:nvCxnSpPr>
          <p:cNvPr id="582" name="Connector 581"/>
          <p:cNvCxnSpPr/>
          <p:nvPr/>
        </p:nvCxnSpPr>
        <p:spPr>
          <a:xfrm>
            <a:off x="7886700" y="16476345"/>
            <a:ext cx="531494"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grpSp>
        <p:nvGrpSpPr>
          <p:cNvPr id="583" name="Group 582"/>
          <p:cNvGrpSpPr/>
          <p:nvPr/>
        </p:nvGrpSpPr>
        <p:grpSpPr>
          <a:xfrm>
            <a:off x="11349990" y="16150589"/>
            <a:ext cx="445769" cy="582931"/>
            <a:chOff x="11349990" y="16150589"/>
            <a:chExt cx="445769" cy="582931"/>
          </a:xfrm>
        </p:grpSpPr>
        <p:sp>
          <p:nvSpPr>
            <p:cNvPr id="584" name="Rectangle 583"/>
            <p:cNvSpPr/>
            <p:nvPr/>
          </p:nvSpPr>
          <p:spPr>
            <a:xfrm>
              <a:off x="11504294" y="16150589"/>
              <a:ext cx="291465" cy="428625"/>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Rectangle 584"/>
            <p:cNvSpPr/>
            <p:nvPr/>
          </p:nvSpPr>
          <p:spPr>
            <a:xfrm>
              <a:off x="11427142" y="16227742"/>
              <a:ext cx="291465" cy="428625"/>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6" name="Rectangle 585"/>
            <p:cNvSpPr/>
            <p:nvPr/>
          </p:nvSpPr>
          <p:spPr>
            <a:xfrm>
              <a:off x="11349990" y="16304895"/>
              <a:ext cx="291465" cy="428625"/>
            </a:xfrm>
            <a:prstGeom prst="rect">
              <a:avLst/>
            </a:prstGeom>
            <a:solidFill>
              <a:srgbClr val="4B8FDA"/>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587" name="TextBox 586"/>
          <p:cNvSpPr txBox="1"/>
          <p:nvPr/>
        </p:nvSpPr>
        <p:spPr>
          <a:xfrm>
            <a:off x="11161394" y="16784955"/>
            <a:ext cx="617219" cy="342900"/>
          </a:xfrm>
          <a:prstGeom prst="rect">
            <a:avLst/>
          </a:prstGeom>
          <a:noFill/>
        </p:spPr>
        <p:txBody>
          <a:bodyPr wrap="square" lIns="34290" rIns="34290" tIns="0" bIns="0" anchor="ctr">
            <a:spAutoFit/>
          </a:bodyPr>
          <a:lstStyle/>
          <a:p>
            <a:pPr algn="ctr">
              <a:spcBef>
                <a:spcPts val="0"/>
              </a:spcBef>
              <a:spcAft>
                <a:spcPts val="0"/>
              </a:spcAft>
              <a:defRPr sz="1584" b="1">
                <a:solidFill>
                  <a:srgbClr val="162D43"/>
                </a:solidFill>
                <a:latin typeface="Arial"/>
              </a:defRPr>
            </a:pPr>
            <a:r>
              <a:t>u</a:t>
            </a:r>
          </a:p>
        </p:txBody>
      </p:sp>
      <p:cxnSp>
        <p:nvCxnSpPr>
          <p:cNvPr id="588" name="Connector 587"/>
          <p:cNvCxnSpPr/>
          <p:nvPr/>
        </p:nvCxnSpPr>
        <p:spPr>
          <a:xfrm>
            <a:off x="10921365" y="16476345"/>
            <a:ext cx="428625"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grpSp>
        <p:nvGrpSpPr>
          <p:cNvPr id="589" name="Group 588"/>
          <p:cNvGrpSpPr/>
          <p:nvPr/>
        </p:nvGrpSpPr>
        <p:grpSpPr>
          <a:xfrm>
            <a:off x="16647795" y="15156180"/>
            <a:ext cx="445770" cy="462913"/>
            <a:chOff x="16647795" y="15156180"/>
            <a:chExt cx="445770" cy="462913"/>
          </a:xfrm>
        </p:grpSpPr>
        <p:sp>
          <p:nvSpPr>
            <p:cNvPr id="590" name="Rectangle 589"/>
            <p:cNvSpPr/>
            <p:nvPr/>
          </p:nvSpPr>
          <p:spPr>
            <a:xfrm>
              <a:off x="16802100" y="15156180"/>
              <a:ext cx="291465" cy="308609"/>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1" name="Rectangle 590"/>
            <p:cNvSpPr/>
            <p:nvPr/>
          </p:nvSpPr>
          <p:spPr>
            <a:xfrm>
              <a:off x="16724947" y="15233332"/>
              <a:ext cx="291465" cy="308609"/>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Rectangle 591"/>
            <p:cNvSpPr/>
            <p:nvPr/>
          </p:nvSpPr>
          <p:spPr>
            <a:xfrm>
              <a:off x="16647795" y="15310484"/>
              <a:ext cx="291465" cy="308609"/>
            </a:xfrm>
            <a:prstGeom prst="rect">
              <a:avLst/>
            </a:prstGeom>
            <a:solidFill>
              <a:srgbClr val="4B8FDA"/>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593" name="TextBox 592"/>
          <p:cNvSpPr txBox="1"/>
          <p:nvPr/>
        </p:nvSpPr>
        <p:spPr>
          <a:xfrm>
            <a:off x="16322039" y="15550514"/>
            <a:ext cx="908684" cy="342900"/>
          </a:xfrm>
          <a:prstGeom prst="rect">
            <a:avLst/>
          </a:prstGeom>
          <a:noFill/>
        </p:spPr>
        <p:txBody>
          <a:bodyPr wrap="square" lIns="34290" rIns="34290" tIns="0" bIns="0" anchor="ctr">
            <a:spAutoFit/>
          </a:bodyPr>
          <a:lstStyle/>
          <a:p>
            <a:pPr algn="ctr">
              <a:spcBef>
                <a:spcPts val="0"/>
              </a:spcBef>
              <a:spcAft>
                <a:spcPts val="0"/>
              </a:spcAft>
              <a:defRPr sz="1452" b="1">
                <a:solidFill>
                  <a:srgbClr val="162D43"/>
                </a:solidFill>
                <a:latin typeface="Arial"/>
              </a:defRPr>
            </a:pPr>
            <a:r>
              <a:t>u</a:t>
            </a:r>
          </a:p>
        </p:txBody>
      </p:sp>
      <p:cxnSp>
        <p:nvCxnSpPr>
          <p:cNvPr id="594" name="Connector 593"/>
          <p:cNvCxnSpPr/>
          <p:nvPr/>
        </p:nvCxnSpPr>
        <p:spPr>
          <a:xfrm>
            <a:off x="16939260" y="15447645"/>
            <a:ext cx="291465" cy="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595" name="Connector 594"/>
          <p:cNvCxnSpPr/>
          <p:nvPr/>
        </p:nvCxnSpPr>
        <p:spPr>
          <a:xfrm flipV="1">
            <a:off x="17230725" y="14967584"/>
            <a:ext cx="0" cy="480061"/>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596" name="Connector 595"/>
          <p:cNvCxnSpPr/>
          <p:nvPr/>
        </p:nvCxnSpPr>
        <p:spPr>
          <a:xfrm>
            <a:off x="17230725" y="14967584"/>
            <a:ext cx="257175"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grpSp>
        <p:nvGrpSpPr>
          <p:cNvPr id="597" name="Group 596"/>
          <p:cNvGrpSpPr/>
          <p:nvPr/>
        </p:nvGrpSpPr>
        <p:grpSpPr>
          <a:xfrm>
            <a:off x="12310110" y="16270605"/>
            <a:ext cx="548639" cy="582929"/>
            <a:chOff x="12310110" y="16270605"/>
            <a:chExt cx="548639" cy="582929"/>
          </a:xfrm>
        </p:grpSpPr>
        <p:sp>
          <p:nvSpPr>
            <p:cNvPr id="598" name="Rectangle 597"/>
            <p:cNvSpPr/>
            <p:nvPr/>
          </p:nvSpPr>
          <p:spPr>
            <a:xfrm>
              <a:off x="12464415" y="16270605"/>
              <a:ext cx="394334" cy="428625"/>
            </a:xfrm>
            <a:prstGeom prst="rect">
              <a:avLst/>
            </a:prstGeom>
            <a:solidFill>
              <a:srgbClr val="D9F1E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9" name="Rectangle 598"/>
            <p:cNvSpPr/>
            <p:nvPr/>
          </p:nvSpPr>
          <p:spPr>
            <a:xfrm>
              <a:off x="12387262" y="16347757"/>
              <a:ext cx="394334" cy="428625"/>
            </a:xfrm>
            <a:prstGeom prst="rect">
              <a:avLst/>
            </a:prstGeom>
            <a:solidFill>
              <a:srgbClr val="D9F1E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0" name="Rectangle 599"/>
            <p:cNvSpPr/>
            <p:nvPr/>
          </p:nvSpPr>
          <p:spPr>
            <a:xfrm>
              <a:off x="12310110" y="16424909"/>
              <a:ext cx="394334" cy="428625"/>
            </a:xfrm>
            <a:prstGeom prst="rect">
              <a:avLst/>
            </a:prstGeom>
            <a:solidFill>
              <a:srgbClr val="2DADA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601" name="TextBox 600"/>
          <p:cNvSpPr txBox="1"/>
          <p:nvPr/>
        </p:nvSpPr>
        <p:spPr>
          <a:xfrm>
            <a:off x="12121515" y="16030575"/>
            <a:ext cx="857250" cy="342900"/>
          </a:xfrm>
          <a:prstGeom prst="rect">
            <a:avLst/>
          </a:prstGeom>
          <a:noFill/>
        </p:spPr>
        <p:txBody>
          <a:bodyPr wrap="square" lIns="34290" rIns="34290" tIns="0" bIns="0" anchor="ctr">
            <a:spAutoFit/>
          </a:bodyPr>
          <a:lstStyle/>
          <a:p>
            <a:pPr algn="ctr">
              <a:spcBef>
                <a:spcPts val="0"/>
              </a:spcBef>
              <a:spcAft>
                <a:spcPts val="0"/>
              </a:spcAft>
              <a:defRPr sz="1584" b="1">
                <a:solidFill>
                  <a:srgbClr val="162D43"/>
                </a:solidFill>
                <a:latin typeface="Arial"/>
              </a:defRPr>
            </a:pPr>
            <a:r>
              <a:t>P₀</a:t>
            </a:r>
          </a:p>
        </p:txBody>
      </p:sp>
      <p:sp>
        <p:nvSpPr>
          <p:cNvPr id="602" name="Rounded Rectangle 601"/>
          <p:cNvSpPr/>
          <p:nvPr/>
        </p:nvSpPr>
        <p:spPr>
          <a:xfrm>
            <a:off x="13253084" y="15841980"/>
            <a:ext cx="7269479" cy="1560195"/>
          </a:xfrm>
          <a:prstGeom prst="roundRect">
            <a:avLst>
              <a:gd name="adj" fmla="val 8000"/>
            </a:avLst>
          </a:prstGeom>
          <a:solidFill>
            <a:srgbClr val="FFFFFF"/>
          </a:solidFill>
          <a:ln w="13970">
            <a:solidFill>
              <a:srgbClr val="E99A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3" name="TextBox 602"/>
          <p:cNvSpPr txBox="1"/>
          <p:nvPr/>
        </p:nvSpPr>
        <p:spPr>
          <a:xfrm>
            <a:off x="13424534" y="15893414"/>
            <a:ext cx="6926579" cy="445770"/>
          </a:xfrm>
          <a:prstGeom prst="rect">
            <a:avLst/>
          </a:prstGeom>
          <a:noFill/>
        </p:spPr>
        <p:txBody>
          <a:bodyPr wrap="square" lIns="34290" rIns="34290" tIns="0" bIns="0" anchor="ctr">
            <a:spAutoFit/>
          </a:bodyPr>
          <a:lstStyle/>
          <a:p>
            <a:pPr algn="l">
              <a:spcBef>
                <a:spcPts val="0"/>
              </a:spcBef>
              <a:spcAft>
                <a:spcPts val="0"/>
              </a:spcAft>
              <a:defRPr sz="2508" b="1">
                <a:solidFill>
                  <a:srgbClr val="E99A48"/>
                </a:solidFill>
                <a:latin typeface="Georgia"/>
              </a:defRPr>
            </a:pPr>
            <a:r>
              <a:t>Local–text matching</a:t>
            </a:r>
          </a:p>
        </p:txBody>
      </p:sp>
      <p:grpSp>
        <p:nvGrpSpPr>
          <p:cNvPr id="604" name="Group 603"/>
          <p:cNvGrpSpPr/>
          <p:nvPr/>
        </p:nvGrpSpPr>
        <p:grpSpPr>
          <a:xfrm>
            <a:off x="13561694" y="16459200"/>
            <a:ext cx="915544" cy="641223"/>
            <a:chOff x="13561694" y="16459200"/>
            <a:chExt cx="915544" cy="641223"/>
          </a:xfrm>
        </p:grpSpPr>
        <p:sp>
          <p:nvSpPr>
            <p:cNvPr id="605" name="Rectangle 604"/>
            <p:cNvSpPr/>
            <p:nvPr/>
          </p:nvSpPr>
          <p:spPr>
            <a:xfrm>
              <a:off x="13561694" y="16459200"/>
              <a:ext cx="174879" cy="120015"/>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6" name="Rectangle 605"/>
            <p:cNvSpPr/>
            <p:nvPr/>
          </p:nvSpPr>
          <p:spPr>
            <a:xfrm>
              <a:off x="13746860" y="16459200"/>
              <a:ext cx="174879" cy="120015"/>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Rectangle 606"/>
            <p:cNvSpPr/>
            <p:nvPr/>
          </p:nvSpPr>
          <p:spPr>
            <a:xfrm>
              <a:off x="13932027" y="16459200"/>
              <a:ext cx="174879" cy="120015"/>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Rectangle 607"/>
            <p:cNvSpPr/>
            <p:nvPr/>
          </p:nvSpPr>
          <p:spPr>
            <a:xfrm>
              <a:off x="14117192" y="16459200"/>
              <a:ext cx="174879" cy="120015"/>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9" name="Rectangle 608"/>
            <p:cNvSpPr/>
            <p:nvPr/>
          </p:nvSpPr>
          <p:spPr>
            <a:xfrm>
              <a:off x="14302359" y="16459200"/>
              <a:ext cx="174879" cy="120015"/>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Rectangle 609"/>
            <p:cNvSpPr/>
            <p:nvPr/>
          </p:nvSpPr>
          <p:spPr>
            <a:xfrm>
              <a:off x="13561694" y="16589501"/>
              <a:ext cx="174879" cy="120015"/>
            </a:xfrm>
            <a:prstGeom prst="rect">
              <a:avLst/>
            </a:prstGeom>
            <a:solidFill>
              <a:srgbClr val="2D9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Rectangle 610"/>
            <p:cNvSpPr/>
            <p:nvPr/>
          </p:nvSpPr>
          <p:spPr>
            <a:xfrm>
              <a:off x="13746860" y="16589501"/>
              <a:ext cx="174879" cy="120015"/>
            </a:xfrm>
            <a:prstGeom prst="rect">
              <a:avLst/>
            </a:prstGeom>
            <a:solidFill>
              <a:srgbClr val="8BD3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2" name="Rectangle 611"/>
            <p:cNvSpPr/>
            <p:nvPr/>
          </p:nvSpPr>
          <p:spPr>
            <a:xfrm>
              <a:off x="13932027" y="16589501"/>
              <a:ext cx="174879" cy="120015"/>
            </a:xfrm>
            <a:prstGeom prst="rect">
              <a:avLst/>
            </a:prstGeom>
            <a:solidFill>
              <a:srgbClr val="2D9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Rectangle 612"/>
            <p:cNvSpPr/>
            <p:nvPr/>
          </p:nvSpPr>
          <p:spPr>
            <a:xfrm>
              <a:off x="14117192" y="16589501"/>
              <a:ext cx="174879" cy="120015"/>
            </a:xfrm>
            <a:prstGeom prst="rect">
              <a:avLst/>
            </a:prstGeom>
            <a:solidFill>
              <a:srgbClr val="8BD3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Rectangle 613"/>
            <p:cNvSpPr/>
            <p:nvPr/>
          </p:nvSpPr>
          <p:spPr>
            <a:xfrm>
              <a:off x="14302359" y="16589501"/>
              <a:ext cx="174879" cy="120015"/>
            </a:xfrm>
            <a:prstGeom prst="rect">
              <a:avLst/>
            </a:prstGeom>
            <a:solidFill>
              <a:srgbClr val="2D9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5" name="Rectangle 614"/>
            <p:cNvSpPr/>
            <p:nvPr/>
          </p:nvSpPr>
          <p:spPr>
            <a:xfrm>
              <a:off x="13561694" y="16719804"/>
              <a:ext cx="174879" cy="120015"/>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6" name="Rectangle 615"/>
            <p:cNvSpPr/>
            <p:nvPr/>
          </p:nvSpPr>
          <p:spPr>
            <a:xfrm>
              <a:off x="13746860" y="16719804"/>
              <a:ext cx="174879" cy="120015"/>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7" name="Rectangle 616"/>
            <p:cNvSpPr/>
            <p:nvPr/>
          </p:nvSpPr>
          <p:spPr>
            <a:xfrm>
              <a:off x="13932027" y="16719804"/>
              <a:ext cx="174879" cy="120015"/>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8" name="Rectangle 617"/>
            <p:cNvSpPr/>
            <p:nvPr/>
          </p:nvSpPr>
          <p:spPr>
            <a:xfrm>
              <a:off x="14117192" y="16719804"/>
              <a:ext cx="174879" cy="120015"/>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9" name="Rectangle 618"/>
            <p:cNvSpPr/>
            <p:nvPr/>
          </p:nvSpPr>
          <p:spPr>
            <a:xfrm>
              <a:off x="14302359" y="16719804"/>
              <a:ext cx="174879" cy="120015"/>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0" name="Rectangle 619"/>
            <p:cNvSpPr/>
            <p:nvPr/>
          </p:nvSpPr>
          <p:spPr>
            <a:xfrm>
              <a:off x="13561694" y="16850106"/>
              <a:ext cx="174879" cy="120015"/>
            </a:xfrm>
            <a:prstGeom prst="rect">
              <a:avLst/>
            </a:prstGeom>
            <a:solidFill>
              <a:srgbClr val="8BD3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1" name="Rectangle 620"/>
            <p:cNvSpPr/>
            <p:nvPr/>
          </p:nvSpPr>
          <p:spPr>
            <a:xfrm>
              <a:off x="13746860" y="16850106"/>
              <a:ext cx="174879" cy="120015"/>
            </a:xfrm>
            <a:prstGeom prst="rect">
              <a:avLst/>
            </a:prstGeom>
            <a:solidFill>
              <a:srgbClr val="2D9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2" name="Rectangle 621"/>
            <p:cNvSpPr/>
            <p:nvPr/>
          </p:nvSpPr>
          <p:spPr>
            <a:xfrm>
              <a:off x="13932027" y="16850106"/>
              <a:ext cx="174879" cy="120015"/>
            </a:xfrm>
            <a:prstGeom prst="rect">
              <a:avLst/>
            </a:prstGeom>
            <a:solidFill>
              <a:srgbClr val="8BD3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3" name="Rectangle 622"/>
            <p:cNvSpPr/>
            <p:nvPr/>
          </p:nvSpPr>
          <p:spPr>
            <a:xfrm>
              <a:off x="14117192" y="16850106"/>
              <a:ext cx="174879" cy="120015"/>
            </a:xfrm>
            <a:prstGeom prst="rect">
              <a:avLst/>
            </a:prstGeom>
            <a:solidFill>
              <a:srgbClr val="2D92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4" name="Rectangle 623"/>
            <p:cNvSpPr/>
            <p:nvPr/>
          </p:nvSpPr>
          <p:spPr>
            <a:xfrm>
              <a:off x="14302359" y="16850106"/>
              <a:ext cx="174879" cy="120015"/>
            </a:xfrm>
            <a:prstGeom prst="rect">
              <a:avLst/>
            </a:prstGeom>
            <a:solidFill>
              <a:srgbClr val="8BD3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5" name="Rectangle 624"/>
            <p:cNvSpPr/>
            <p:nvPr/>
          </p:nvSpPr>
          <p:spPr>
            <a:xfrm>
              <a:off x="13561694" y="16980408"/>
              <a:ext cx="174879" cy="120015"/>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6" name="Rectangle 625"/>
            <p:cNvSpPr/>
            <p:nvPr/>
          </p:nvSpPr>
          <p:spPr>
            <a:xfrm>
              <a:off x="13746860" y="16980408"/>
              <a:ext cx="174879" cy="120015"/>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7" name="Rectangle 626"/>
            <p:cNvSpPr/>
            <p:nvPr/>
          </p:nvSpPr>
          <p:spPr>
            <a:xfrm>
              <a:off x="13932027" y="16980408"/>
              <a:ext cx="174879" cy="120015"/>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8" name="Rectangle 627"/>
            <p:cNvSpPr/>
            <p:nvPr/>
          </p:nvSpPr>
          <p:spPr>
            <a:xfrm>
              <a:off x="14117192" y="16980408"/>
              <a:ext cx="174879" cy="120015"/>
            </a:xfrm>
            <a:prstGeom prst="rect">
              <a:avLst/>
            </a:prstGeom>
            <a:solidFill>
              <a:srgbClr val="48B5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9" name="Rectangle 628"/>
            <p:cNvSpPr/>
            <p:nvPr/>
          </p:nvSpPr>
          <p:spPr>
            <a:xfrm>
              <a:off x="14302359" y="16980408"/>
              <a:ext cx="174879" cy="120015"/>
            </a:xfrm>
            <a:prstGeom prst="rect">
              <a:avLst/>
            </a:prstGeom>
            <a:solidFill>
              <a:srgbClr val="D5F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630" name="Group 629"/>
          <p:cNvGrpSpPr/>
          <p:nvPr/>
        </p:nvGrpSpPr>
        <p:grpSpPr>
          <a:xfrm>
            <a:off x="14710409" y="16853535"/>
            <a:ext cx="445770" cy="428624"/>
            <a:chOff x="14710409" y="16853535"/>
            <a:chExt cx="445770" cy="428624"/>
          </a:xfrm>
        </p:grpSpPr>
        <p:sp>
          <p:nvSpPr>
            <p:cNvPr id="631" name="Rectangle 630"/>
            <p:cNvSpPr/>
            <p:nvPr/>
          </p:nvSpPr>
          <p:spPr>
            <a:xfrm>
              <a:off x="14864714" y="16853535"/>
              <a:ext cx="291465" cy="274320"/>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2" name="Rectangle 631"/>
            <p:cNvSpPr/>
            <p:nvPr/>
          </p:nvSpPr>
          <p:spPr>
            <a:xfrm>
              <a:off x="14787562" y="16930687"/>
              <a:ext cx="291465" cy="274320"/>
            </a:xfrm>
            <a:prstGeom prst="rect">
              <a:avLst/>
            </a:prstGeom>
            <a:solidFill>
              <a:srgbClr val="C2DCF9"/>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Rectangle 632"/>
            <p:cNvSpPr/>
            <p:nvPr/>
          </p:nvSpPr>
          <p:spPr>
            <a:xfrm>
              <a:off x="14710409" y="17007839"/>
              <a:ext cx="291465" cy="274320"/>
            </a:xfrm>
            <a:prstGeom prst="rect">
              <a:avLst/>
            </a:prstGeom>
            <a:solidFill>
              <a:srgbClr val="4B8FDA"/>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634" name="TextBox 633"/>
          <p:cNvSpPr txBox="1"/>
          <p:nvPr/>
        </p:nvSpPr>
        <p:spPr>
          <a:xfrm>
            <a:off x="14590394" y="17316450"/>
            <a:ext cx="428625" cy="240030"/>
          </a:xfrm>
          <a:prstGeom prst="rect">
            <a:avLst/>
          </a:prstGeom>
          <a:noFill/>
        </p:spPr>
        <p:txBody>
          <a:bodyPr wrap="square" lIns="34290" rIns="34290" tIns="0" bIns="0" anchor="ctr">
            <a:spAutoFit/>
          </a:bodyPr>
          <a:lstStyle/>
          <a:p>
            <a:pPr algn="ctr">
              <a:spcBef>
                <a:spcPts val="0"/>
              </a:spcBef>
              <a:spcAft>
                <a:spcPts val="0"/>
              </a:spcAft>
              <a:defRPr sz="1188" b="0">
                <a:solidFill>
                  <a:srgbClr val="162D43"/>
                </a:solidFill>
                <a:latin typeface="Arial"/>
              </a:defRPr>
            </a:pPr>
            <a:r>
              <a:t>u</a:t>
            </a:r>
          </a:p>
        </p:txBody>
      </p:sp>
      <p:grpSp>
        <p:nvGrpSpPr>
          <p:cNvPr id="635" name="Group 634"/>
          <p:cNvGrpSpPr/>
          <p:nvPr/>
        </p:nvGrpSpPr>
        <p:grpSpPr>
          <a:xfrm>
            <a:off x="15516225" y="16459200"/>
            <a:ext cx="1104137" cy="641223"/>
            <a:chOff x="15516225" y="16459200"/>
            <a:chExt cx="1104137" cy="641223"/>
          </a:xfrm>
        </p:grpSpPr>
        <p:sp>
          <p:nvSpPr>
            <p:cNvPr id="636" name="Rectangle 635"/>
            <p:cNvSpPr/>
            <p:nvPr/>
          </p:nvSpPr>
          <p:spPr>
            <a:xfrm>
              <a:off x="15516225" y="16459200"/>
              <a:ext cx="212598" cy="120015"/>
            </a:xfrm>
            <a:prstGeom prst="rect">
              <a:avLst/>
            </a:prstGeom>
            <a:solidFill>
              <a:srgbClr val="E8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7" name="Rectangle 636"/>
            <p:cNvSpPr/>
            <p:nvPr/>
          </p:nvSpPr>
          <p:spPr>
            <a:xfrm>
              <a:off x="15739109" y="16459200"/>
              <a:ext cx="212598" cy="120015"/>
            </a:xfrm>
            <a:prstGeom prst="rect">
              <a:avLst/>
            </a:prstGeom>
            <a:solidFill>
              <a:srgbClr val="93B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8" name="Rectangle 637"/>
            <p:cNvSpPr/>
            <p:nvPr/>
          </p:nvSpPr>
          <p:spPr>
            <a:xfrm>
              <a:off x="15961995" y="16459200"/>
              <a:ext cx="212598" cy="120015"/>
            </a:xfrm>
            <a:prstGeom prst="rect">
              <a:avLst/>
            </a:prstGeom>
            <a:solidFill>
              <a:srgbClr val="E8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Rectangle 638"/>
            <p:cNvSpPr/>
            <p:nvPr/>
          </p:nvSpPr>
          <p:spPr>
            <a:xfrm>
              <a:off x="16184880" y="16459200"/>
              <a:ext cx="212598" cy="120015"/>
            </a:xfrm>
            <a:prstGeom prst="rect">
              <a:avLst/>
            </a:prstGeom>
            <a:solidFill>
              <a:srgbClr val="93B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0" name="Rectangle 639"/>
            <p:cNvSpPr/>
            <p:nvPr/>
          </p:nvSpPr>
          <p:spPr>
            <a:xfrm>
              <a:off x="16407764" y="16459200"/>
              <a:ext cx="212598" cy="120015"/>
            </a:xfrm>
            <a:prstGeom prst="rect">
              <a:avLst/>
            </a:prstGeom>
            <a:solidFill>
              <a:srgbClr val="E8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1" name="Rectangle 640"/>
            <p:cNvSpPr/>
            <p:nvPr/>
          </p:nvSpPr>
          <p:spPr>
            <a:xfrm>
              <a:off x="15516225" y="16589501"/>
              <a:ext cx="212598" cy="120015"/>
            </a:xfrm>
            <a:prstGeom prst="rect">
              <a:avLst/>
            </a:prstGeom>
            <a:solidFill>
              <a:srgbClr val="ECD0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Rectangle 641"/>
            <p:cNvSpPr/>
            <p:nvPr/>
          </p:nvSpPr>
          <p:spPr>
            <a:xfrm>
              <a:off x="15739109" y="16589501"/>
              <a:ext cx="212598" cy="120015"/>
            </a:xfrm>
            <a:prstGeom prst="rect">
              <a:avLst/>
            </a:prstGeom>
            <a:solidFill>
              <a:srgbClr val="CBB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3" name="Rectangle 642"/>
            <p:cNvSpPr/>
            <p:nvPr/>
          </p:nvSpPr>
          <p:spPr>
            <a:xfrm>
              <a:off x="15961995" y="16589501"/>
              <a:ext cx="212598" cy="120015"/>
            </a:xfrm>
            <a:prstGeom prst="rect">
              <a:avLst/>
            </a:prstGeom>
            <a:solidFill>
              <a:srgbClr val="ECD0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4" name="Rectangle 643"/>
            <p:cNvSpPr/>
            <p:nvPr/>
          </p:nvSpPr>
          <p:spPr>
            <a:xfrm>
              <a:off x="16184880" y="16589501"/>
              <a:ext cx="212598" cy="120015"/>
            </a:xfrm>
            <a:prstGeom prst="rect">
              <a:avLst/>
            </a:prstGeom>
            <a:solidFill>
              <a:srgbClr val="CBB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5" name="Rectangle 644"/>
            <p:cNvSpPr/>
            <p:nvPr/>
          </p:nvSpPr>
          <p:spPr>
            <a:xfrm>
              <a:off x="16407764" y="16589501"/>
              <a:ext cx="212598" cy="120015"/>
            </a:xfrm>
            <a:prstGeom prst="rect">
              <a:avLst/>
            </a:prstGeom>
            <a:solidFill>
              <a:srgbClr val="ECD0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Rectangle 645"/>
            <p:cNvSpPr/>
            <p:nvPr/>
          </p:nvSpPr>
          <p:spPr>
            <a:xfrm>
              <a:off x="15516225" y="16719804"/>
              <a:ext cx="212598" cy="120015"/>
            </a:xfrm>
            <a:prstGeom prst="rect">
              <a:avLst/>
            </a:prstGeom>
            <a:solidFill>
              <a:srgbClr val="93B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Rectangle 646"/>
            <p:cNvSpPr/>
            <p:nvPr/>
          </p:nvSpPr>
          <p:spPr>
            <a:xfrm>
              <a:off x="15739109" y="16719804"/>
              <a:ext cx="212598" cy="120015"/>
            </a:xfrm>
            <a:prstGeom prst="rect">
              <a:avLst/>
            </a:prstGeom>
            <a:solidFill>
              <a:srgbClr val="E8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8" name="Rectangle 647"/>
            <p:cNvSpPr/>
            <p:nvPr/>
          </p:nvSpPr>
          <p:spPr>
            <a:xfrm>
              <a:off x="15961995" y="16719804"/>
              <a:ext cx="212598" cy="120015"/>
            </a:xfrm>
            <a:prstGeom prst="rect">
              <a:avLst/>
            </a:prstGeom>
            <a:solidFill>
              <a:srgbClr val="93B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9" name="Rectangle 648"/>
            <p:cNvSpPr/>
            <p:nvPr/>
          </p:nvSpPr>
          <p:spPr>
            <a:xfrm>
              <a:off x="16184880" y="16719804"/>
              <a:ext cx="212598" cy="120015"/>
            </a:xfrm>
            <a:prstGeom prst="rect">
              <a:avLst/>
            </a:prstGeom>
            <a:solidFill>
              <a:srgbClr val="E8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Rectangle 649"/>
            <p:cNvSpPr/>
            <p:nvPr/>
          </p:nvSpPr>
          <p:spPr>
            <a:xfrm>
              <a:off x="16407764" y="16719804"/>
              <a:ext cx="212598" cy="120015"/>
            </a:xfrm>
            <a:prstGeom prst="rect">
              <a:avLst/>
            </a:prstGeom>
            <a:solidFill>
              <a:srgbClr val="93B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Rectangle 650"/>
            <p:cNvSpPr/>
            <p:nvPr/>
          </p:nvSpPr>
          <p:spPr>
            <a:xfrm>
              <a:off x="15516225" y="16850106"/>
              <a:ext cx="212598" cy="120015"/>
            </a:xfrm>
            <a:prstGeom prst="rect">
              <a:avLst/>
            </a:prstGeom>
            <a:solidFill>
              <a:srgbClr val="CBB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2" name="Rectangle 651"/>
            <p:cNvSpPr/>
            <p:nvPr/>
          </p:nvSpPr>
          <p:spPr>
            <a:xfrm>
              <a:off x="15739109" y="16850106"/>
              <a:ext cx="212598" cy="120015"/>
            </a:xfrm>
            <a:prstGeom prst="rect">
              <a:avLst/>
            </a:prstGeom>
            <a:solidFill>
              <a:srgbClr val="ECD0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3" name="Rectangle 652"/>
            <p:cNvSpPr/>
            <p:nvPr/>
          </p:nvSpPr>
          <p:spPr>
            <a:xfrm>
              <a:off x="15961995" y="16850106"/>
              <a:ext cx="212598" cy="120015"/>
            </a:xfrm>
            <a:prstGeom prst="rect">
              <a:avLst/>
            </a:prstGeom>
            <a:solidFill>
              <a:srgbClr val="CBB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Rectangle 653"/>
            <p:cNvSpPr/>
            <p:nvPr/>
          </p:nvSpPr>
          <p:spPr>
            <a:xfrm>
              <a:off x="16184880" y="16850106"/>
              <a:ext cx="212598" cy="120015"/>
            </a:xfrm>
            <a:prstGeom prst="rect">
              <a:avLst/>
            </a:prstGeom>
            <a:solidFill>
              <a:srgbClr val="ECD0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Rectangle 654"/>
            <p:cNvSpPr/>
            <p:nvPr/>
          </p:nvSpPr>
          <p:spPr>
            <a:xfrm>
              <a:off x="16407764" y="16850106"/>
              <a:ext cx="212598" cy="120015"/>
            </a:xfrm>
            <a:prstGeom prst="rect">
              <a:avLst/>
            </a:prstGeom>
            <a:solidFill>
              <a:srgbClr val="CBB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6" name="Rectangle 655"/>
            <p:cNvSpPr/>
            <p:nvPr/>
          </p:nvSpPr>
          <p:spPr>
            <a:xfrm>
              <a:off x="15516225" y="16980408"/>
              <a:ext cx="212598" cy="120015"/>
            </a:xfrm>
            <a:prstGeom prst="rect">
              <a:avLst/>
            </a:prstGeom>
            <a:solidFill>
              <a:srgbClr val="E8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7" name="Rectangle 656"/>
            <p:cNvSpPr/>
            <p:nvPr/>
          </p:nvSpPr>
          <p:spPr>
            <a:xfrm>
              <a:off x="15739109" y="16980408"/>
              <a:ext cx="212598" cy="120015"/>
            </a:xfrm>
            <a:prstGeom prst="rect">
              <a:avLst/>
            </a:prstGeom>
            <a:solidFill>
              <a:srgbClr val="93B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Rectangle 657"/>
            <p:cNvSpPr/>
            <p:nvPr/>
          </p:nvSpPr>
          <p:spPr>
            <a:xfrm>
              <a:off x="15961995" y="16980408"/>
              <a:ext cx="212598" cy="120015"/>
            </a:xfrm>
            <a:prstGeom prst="rect">
              <a:avLst/>
            </a:prstGeom>
            <a:solidFill>
              <a:srgbClr val="E8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Rectangle 658"/>
            <p:cNvSpPr/>
            <p:nvPr/>
          </p:nvSpPr>
          <p:spPr>
            <a:xfrm>
              <a:off x="16184880" y="16980408"/>
              <a:ext cx="212598" cy="120015"/>
            </a:xfrm>
            <a:prstGeom prst="rect">
              <a:avLst/>
            </a:prstGeom>
            <a:solidFill>
              <a:srgbClr val="93B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Rectangle 659"/>
            <p:cNvSpPr/>
            <p:nvPr/>
          </p:nvSpPr>
          <p:spPr>
            <a:xfrm>
              <a:off x="16407764" y="16980408"/>
              <a:ext cx="212598" cy="120015"/>
            </a:xfrm>
            <a:prstGeom prst="rect">
              <a:avLst/>
            </a:prstGeom>
            <a:solidFill>
              <a:srgbClr val="E8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cxnSp>
        <p:nvCxnSpPr>
          <p:cNvPr id="661" name="Connector 660"/>
          <p:cNvCxnSpPr/>
          <p:nvPr/>
        </p:nvCxnSpPr>
        <p:spPr>
          <a:xfrm>
            <a:off x="14487525" y="16682084"/>
            <a:ext cx="96012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62" name="Connector 661"/>
          <p:cNvCxnSpPr/>
          <p:nvPr/>
        </p:nvCxnSpPr>
        <p:spPr>
          <a:xfrm>
            <a:off x="15019020" y="17145000"/>
            <a:ext cx="274319" cy="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663" name="Connector 662"/>
          <p:cNvCxnSpPr/>
          <p:nvPr/>
        </p:nvCxnSpPr>
        <p:spPr>
          <a:xfrm flipV="1">
            <a:off x="15293339" y="16887825"/>
            <a:ext cx="0" cy="257175"/>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664" name="Connector 663"/>
          <p:cNvCxnSpPr/>
          <p:nvPr/>
        </p:nvCxnSpPr>
        <p:spPr>
          <a:xfrm>
            <a:off x="15293339" y="16887825"/>
            <a:ext cx="154306"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665" name="Rounded Rectangle 664"/>
          <p:cNvSpPr/>
          <p:nvPr/>
        </p:nvSpPr>
        <p:spPr>
          <a:xfrm>
            <a:off x="17127855" y="16424909"/>
            <a:ext cx="1131570" cy="702944"/>
          </a:xfrm>
          <a:prstGeom prst="roundRect">
            <a:avLst>
              <a:gd name="adj" fmla="val 8000"/>
            </a:avLst>
          </a:prstGeom>
          <a:solidFill>
            <a:srgbClr val="FFF0DD"/>
          </a:solidFill>
          <a:ln w="12700">
            <a:solidFill>
              <a:srgbClr val="E99A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6" name="TextBox 665"/>
          <p:cNvSpPr txBox="1"/>
          <p:nvPr/>
        </p:nvSpPr>
        <p:spPr>
          <a:xfrm>
            <a:off x="17179289" y="16459200"/>
            <a:ext cx="1028700" cy="634365"/>
          </a:xfrm>
          <a:prstGeom prst="rect">
            <a:avLst/>
          </a:prstGeom>
          <a:noFill/>
        </p:spPr>
        <p:txBody>
          <a:bodyPr wrap="square" lIns="34290" rIns="34290" tIns="0" bIns="0" anchor="ctr">
            <a:spAutoFit/>
          </a:bodyPr>
          <a:lstStyle/>
          <a:p>
            <a:pPr algn="ctr">
              <a:spcBef>
                <a:spcPts val="0"/>
              </a:spcBef>
              <a:spcAft>
                <a:spcPts val="0"/>
              </a:spcAft>
              <a:defRPr sz="1320" b="0">
                <a:solidFill>
                  <a:srgbClr val="162D43"/>
                </a:solidFill>
                <a:latin typeface="Arial"/>
              </a:defRPr>
            </a:pPr>
            <a:r>
              <a:t>Attention</a:t>
            </a:r>
          </a:p>
          <a:p>
            <a:pPr algn="ctr">
              <a:spcBef>
                <a:spcPts val="0"/>
              </a:spcBef>
              <a:spcAft>
                <a:spcPts val="0"/>
              </a:spcAft>
              <a:defRPr sz="1320" b="0">
                <a:solidFill>
                  <a:srgbClr val="162D43"/>
                </a:solidFill>
                <a:latin typeface="Arial"/>
              </a:defRPr>
            </a:pPr>
            <a:r>
              <a:t>pooling</a:t>
            </a:r>
          </a:p>
        </p:txBody>
      </p:sp>
      <p:cxnSp>
        <p:nvCxnSpPr>
          <p:cNvPr id="667" name="Connector 666"/>
          <p:cNvCxnSpPr/>
          <p:nvPr/>
        </p:nvCxnSpPr>
        <p:spPr>
          <a:xfrm>
            <a:off x="16664939" y="16767809"/>
            <a:ext cx="462916"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668" name="Rounded Rectangle 667"/>
          <p:cNvSpPr/>
          <p:nvPr/>
        </p:nvSpPr>
        <p:spPr>
          <a:xfrm>
            <a:off x="18722339" y="16424909"/>
            <a:ext cx="1560195" cy="702944"/>
          </a:xfrm>
          <a:prstGeom prst="roundRect">
            <a:avLst>
              <a:gd name="adj" fmla="val 8000"/>
            </a:avLst>
          </a:prstGeom>
          <a:solidFill>
            <a:srgbClr val="F3F6F9"/>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9" name="TextBox 668"/>
          <p:cNvSpPr txBox="1"/>
          <p:nvPr/>
        </p:nvSpPr>
        <p:spPr>
          <a:xfrm>
            <a:off x="18773775" y="16459200"/>
            <a:ext cx="1457325" cy="634365"/>
          </a:xfrm>
          <a:prstGeom prst="rect">
            <a:avLst/>
          </a:prstGeom>
          <a:noFill/>
        </p:spPr>
        <p:txBody>
          <a:bodyPr wrap="square" lIns="34290" rIns="34290" tIns="0" bIns="0" anchor="ctr">
            <a:spAutoFit/>
          </a:bodyPr>
          <a:lstStyle/>
          <a:p>
            <a:pPr algn="ctr">
              <a:spcBef>
                <a:spcPts val="0"/>
              </a:spcBef>
              <a:spcAft>
                <a:spcPts val="0"/>
              </a:spcAft>
              <a:defRPr sz="1320" b="0">
                <a:solidFill>
                  <a:srgbClr val="162D43"/>
                </a:solidFill>
                <a:latin typeface="Arial"/>
              </a:defRPr>
            </a:pPr>
            <a:r>
              <a:t>Local pair head</a:t>
            </a:r>
          </a:p>
        </p:txBody>
      </p:sp>
      <p:cxnSp>
        <p:nvCxnSpPr>
          <p:cNvPr id="670" name="Connector 669"/>
          <p:cNvCxnSpPr/>
          <p:nvPr/>
        </p:nvCxnSpPr>
        <p:spPr>
          <a:xfrm>
            <a:off x="18259425" y="16767809"/>
            <a:ext cx="462914"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71" name="Connector 670"/>
          <p:cNvCxnSpPr/>
          <p:nvPr/>
        </p:nvCxnSpPr>
        <p:spPr>
          <a:xfrm>
            <a:off x="12721590" y="16647795"/>
            <a:ext cx="531494"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672" name="TextBox 671"/>
          <p:cNvSpPr txBox="1"/>
          <p:nvPr/>
        </p:nvSpPr>
        <p:spPr>
          <a:xfrm>
            <a:off x="15670530" y="17145000"/>
            <a:ext cx="4714875" cy="240030"/>
          </a:xfrm>
          <a:prstGeom prst="rect">
            <a:avLst/>
          </a:prstGeom>
          <a:noFill/>
        </p:spPr>
        <p:txBody>
          <a:bodyPr wrap="square" lIns="34290" rIns="34290" tIns="0" bIns="0" anchor="ctr">
            <a:spAutoFit/>
          </a:bodyPr>
          <a:lstStyle/>
          <a:p>
            <a:pPr algn="ctr">
              <a:spcBef>
                <a:spcPts val="0"/>
              </a:spcBef>
              <a:spcAft>
                <a:spcPts val="0"/>
              </a:spcAft>
              <a:defRPr sz="1056" b="0">
                <a:solidFill>
                  <a:srgbClr val="162D43"/>
                </a:solidFill>
                <a:latin typeface="Arial"/>
              </a:defRPr>
            </a:pPr>
            <a:r>
              <a:t>A_P · X_I / X_T · [e, u, |e−u|]</a:t>
            </a:r>
          </a:p>
        </p:txBody>
      </p:sp>
      <p:cxnSp>
        <p:nvCxnSpPr>
          <p:cNvPr id="673" name="Connector 672"/>
          <p:cNvCxnSpPr/>
          <p:nvPr/>
        </p:nvCxnSpPr>
        <p:spPr>
          <a:xfrm>
            <a:off x="11658600" y="16510634"/>
            <a:ext cx="205740" cy="0"/>
          </a:xfrm>
          <a:prstGeom prst="line">
            <a:avLst/>
          </a:prstGeom>
          <a:ln w="16510">
            <a:solidFill>
              <a:srgbClr val="9262C9"/>
            </a:solidFill>
          </a:ln>
        </p:spPr>
        <p:style>
          <a:lnRef idx="2">
            <a:schemeClr val="accent1"/>
          </a:lnRef>
          <a:fillRef idx="0">
            <a:schemeClr val="accent1"/>
          </a:fillRef>
          <a:effectRef idx="1">
            <a:schemeClr val="accent1"/>
          </a:effectRef>
          <a:fontRef idx="minor">
            <a:schemeClr val="tx1"/>
          </a:fontRef>
        </p:style>
      </p:cxnSp>
      <p:cxnSp>
        <p:nvCxnSpPr>
          <p:cNvPr id="674" name="Connector 673"/>
          <p:cNvCxnSpPr/>
          <p:nvPr/>
        </p:nvCxnSpPr>
        <p:spPr>
          <a:xfrm>
            <a:off x="11864340" y="16510634"/>
            <a:ext cx="0" cy="1045846"/>
          </a:xfrm>
          <a:prstGeom prst="line">
            <a:avLst/>
          </a:prstGeom>
          <a:ln w="16510">
            <a:solidFill>
              <a:srgbClr val="9262C9"/>
            </a:solidFill>
          </a:ln>
        </p:spPr>
        <p:style>
          <a:lnRef idx="2">
            <a:schemeClr val="accent1"/>
          </a:lnRef>
          <a:fillRef idx="0">
            <a:schemeClr val="accent1"/>
          </a:fillRef>
          <a:effectRef idx="1">
            <a:schemeClr val="accent1"/>
          </a:effectRef>
          <a:fontRef idx="minor">
            <a:schemeClr val="tx1"/>
          </a:fontRef>
        </p:style>
      </p:cxnSp>
      <p:cxnSp>
        <p:nvCxnSpPr>
          <p:cNvPr id="675" name="Connector 674"/>
          <p:cNvCxnSpPr/>
          <p:nvPr/>
        </p:nvCxnSpPr>
        <p:spPr>
          <a:xfrm>
            <a:off x="11864340" y="17556480"/>
            <a:ext cx="3103244" cy="0"/>
          </a:xfrm>
          <a:prstGeom prst="line">
            <a:avLst/>
          </a:prstGeom>
          <a:ln w="16510">
            <a:solidFill>
              <a:srgbClr val="9262C9"/>
            </a:solidFill>
          </a:ln>
        </p:spPr>
        <p:style>
          <a:lnRef idx="2">
            <a:schemeClr val="accent1"/>
          </a:lnRef>
          <a:fillRef idx="0">
            <a:schemeClr val="accent1"/>
          </a:fillRef>
          <a:effectRef idx="1">
            <a:schemeClr val="accent1"/>
          </a:effectRef>
          <a:fontRef idx="minor">
            <a:schemeClr val="tx1"/>
          </a:fontRef>
        </p:style>
      </p:cxnSp>
      <p:cxnSp>
        <p:nvCxnSpPr>
          <p:cNvPr id="676" name="Connector 675"/>
          <p:cNvCxnSpPr/>
          <p:nvPr/>
        </p:nvCxnSpPr>
        <p:spPr>
          <a:xfrm flipV="1">
            <a:off x="14967584" y="17282160"/>
            <a:ext cx="0" cy="274320"/>
          </a:xfrm>
          <a:prstGeom prst="line">
            <a:avLst/>
          </a:prstGeom>
          <a:ln w="16510">
            <a:solidFill>
              <a:srgbClr val="9262C9"/>
            </a:solidFill>
            <a:tailEnd type="triangle" w="sm" len="sm"/>
          </a:ln>
        </p:spPr>
        <p:style>
          <a:lnRef idx="2">
            <a:schemeClr val="accent1"/>
          </a:lnRef>
          <a:fillRef idx="0">
            <a:schemeClr val="accent1"/>
          </a:fillRef>
          <a:effectRef idx="1">
            <a:schemeClr val="accent1"/>
          </a:effectRef>
          <a:fontRef idx="minor">
            <a:schemeClr val="tx1"/>
          </a:fontRef>
        </p:style>
      </p:cxnSp>
      <p:sp>
        <p:nvSpPr>
          <p:cNvPr id="677" name="Oval 676"/>
          <p:cNvSpPr/>
          <p:nvPr/>
        </p:nvSpPr>
        <p:spPr>
          <a:xfrm>
            <a:off x="22802850" y="15721964"/>
            <a:ext cx="514350" cy="514350"/>
          </a:xfrm>
          <a:prstGeom prst="ellipse">
            <a:avLst/>
          </a:prstGeom>
          <a:solidFill>
            <a:srgbClr val="FFFFFF"/>
          </a:solidFill>
          <a:ln w="12700">
            <a:solidFill>
              <a:srgbClr val="4156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TextBox 677"/>
          <p:cNvSpPr txBox="1"/>
          <p:nvPr/>
        </p:nvSpPr>
        <p:spPr>
          <a:xfrm>
            <a:off x="22802850" y="15721964"/>
            <a:ext cx="514350" cy="514350"/>
          </a:xfrm>
          <a:prstGeom prst="rect">
            <a:avLst/>
          </a:prstGeom>
          <a:noFill/>
        </p:spPr>
        <p:txBody>
          <a:bodyPr wrap="square" lIns="34290" rIns="34290" tIns="0" bIns="0" anchor="ctr">
            <a:spAutoFit/>
          </a:bodyPr>
          <a:lstStyle/>
          <a:p>
            <a:pPr algn="ctr">
              <a:spcBef>
                <a:spcPts val="0"/>
              </a:spcBef>
              <a:spcAft>
                <a:spcPts val="0"/>
              </a:spcAft>
              <a:defRPr sz="2244" b="1">
                <a:solidFill>
                  <a:srgbClr val="162D43"/>
                </a:solidFill>
                <a:latin typeface="Arial"/>
              </a:defRPr>
            </a:pPr>
            <a:r>
              <a:t>γ</a:t>
            </a:r>
          </a:p>
        </p:txBody>
      </p:sp>
      <p:cxnSp>
        <p:nvCxnSpPr>
          <p:cNvPr id="679" name="Connector 678"/>
          <p:cNvCxnSpPr/>
          <p:nvPr/>
        </p:nvCxnSpPr>
        <p:spPr>
          <a:xfrm>
            <a:off x="20488275" y="14727555"/>
            <a:ext cx="1217295" cy="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680" name="Connector 679"/>
          <p:cNvCxnSpPr/>
          <p:nvPr/>
        </p:nvCxnSpPr>
        <p:spPr>
          <a:xfrm>
            <a:off x="21705570" y="14727555"/>
            <a:ext cx="0" cy="113157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681" name="Connector 680"/>
          <p:cNvCxnSpPr/>
          <p:nvPr/>
        </p:nvCxnSpPr>
        <p:spPr>
          <a:xfrm>
            <a:off x="21705570" y="15859125"/>
            <a:ext cx="109728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82" name="Connector 681"/>
          <p:cNvCxnSpPr/>
          <p:nvPr/>
        </p:nvCxnSpPr>
        <p:spPr>
          <a:xfrm>
            <a:off x="20522564" y="16767809"/>
            <a:ext cx="1183006" cy="0"/>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683" name="Connector 682"/>
          <p:cNvCxnSpPr/>
          <p:nvPr/>
        </p:nvCxnSpPr>
        <p:spPr>
          <a:xfrm flipV="1">
            <a:off x="21705570" y="16099155"/>
            <a:ext cx="0" cy="668654"/>
          </a:xfrm>
          <a:prstGeom prst="line">
            <a:avLst/>
          </a:prstGeom>
          <a:ln w="16510">
            <a:solidFill>
              <a:srgbClr val="41566A"/>
            </a:solidFill>
          </a:ln>
        </p:spPr>
        <p:style>
          <a:lnRef idx="2">
            <a:schemeClr val="accent1"/>
          </a:lnRef>
          <a:fillRef idx="0">
            <a:schemeClr val="accent1"/>
          </a:fillRef>
          <a:effectRef idx="1">
            <a:schemeClr val="accent1"/>
          </a:effectRef>
          <a:fontRef idx="minor">
            <a:schemeClr val="tx1"/>
          </a:fontRef>
        </p:style>
      </p:cxnSp>
      <p:cxnSp>
        <p:nvCxnSpPr>
          <p:cNvPr id="684" name="Connector 683"/>
          <p:cNvCxnSpPr/>
          <p:nvPr/>
        </p:nvCxnSpPr>
        <p:spPr>
          <a:xfrm>
            <a:off x="21705570" y="16099155"/>
            <a:ext cx="1097280"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685" name="TextBox 684"/>
          <p:cNvSpPr txBox="1"/>
          <p:nvPr/>
        </p:nvSpPr>
        <p:spPr>
          <a:xfrm>
            <a:off x="20625435" y="14316075"/>
            <a:ext cx="891540" cy="342900"/>
          </a:xfrm>
          <a:prstGeom prst="rect">
            <a:avLst/>
          </a:prstGeom>
          <a:noFill/>
        </p:spPr>
        <p:txBody>
          <a:bodyPr wrap="square" lIns="34290" rIns="34290" tIns="0" bIns="0" anchor="ctr">
            <a:spAutoFit/>
          </a:bodyPr>
          <a:lstStyle/>
          <a:p>
            <a:pPr algn="ctr">
              <a:spcBef>
                <a:spcPts val="0"/>
              </a:spcBef>
              <a:spcAft>
                <a:spcPts val="0"/>
              </a:spcAft>
              <a:defRPr sz="1584" b="1">
                <a:solidFill>
                  <a:srgbClr val="162D43"/>
                </a:solidFill>
                <a:latin typeface="Arial"/>
              </a:defRPr>
            </a:pPr>
            <a:r>
              <a:t>A_g</a:t>
            </a:r>
          </a:p>
        </p:txBody>
      </p:sp>
      <p:sp>
        <p:nvSpPr>
          <p:cNvPr id="686" name="TextBox 685"/>
          <p:cNvSpPr txBox="1"/>
          <p:nvPr/>
        </p:nvSpPr>
        <p:spPr>
          <a:xfrm>
            <a:off x="20625435" y="16853535"/>
            <a:ext cx="891540" cy="342900"/>
          </a:xfrm>
          <a:prstGeom prst="rect">
            <a:avLst/>
          </a:prstGeom>
          <a:noFill/>
        </p:spPr>
        <p:txBody>
          <a:bodyPr wrap="square" lIns="34290" rIns="34290" tIns="0" bIns="0" anchor="ctr">
            <a:spAutoFit/>
          </a:bodyPr>
          <a:lstStyle/>
          <a:p>
            <a:pPr algn="ctr">
              <a:spcBef>
                <a:spcPts val="0"/>
              </a:spcBef>
              <a:spcAft>
                <a:spcPts val="0"/>
              </a:spcAft>
              <a:defRPr sz="1584" b="1">
                <a:solidFill>
                  <a:srgbClr val="162D43"/>
                </a:solidFill>
                <a:latin typeface="Arial"/>
              </a:defRPr>
            </a:pPr>
            <a:r>
              <a:t>A_l</a:t>
            </a:r>
          </a:p>
        </p:txBody>
      </p:sp>
      <p:sp>
        <p:nvSpPr>
          <p:cNvPr id="687" name="Rounded Rectangle 686"/>
          <p:cNvSpPr/>
          <p:nvPr/>
        </p:nvSpPr>
        <p:spPr>
          <a:xfrm>
            <a:off x="24088725" y="15499080"/>
            <a:ext cx="2520315" cy="1045845"/>
          </a:xfrm>
          <a:prstGeom prst="roundRect">
            <a:avLst>
              <a:gd name="adj" fmla="val 8000"/>
            </a:avLst>
          </a:prstGeom>
          <a:solidFill>
            <a:srgbClr val="FFF0DD"/>
          </a:solidFill>
          <a:ln w="12700">
            <a:solidFill>
              <a:srgbClr val="E99A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8" name="TextBox 687"/>
          <p:cNvSpPr txBox="1"/>
          <p:nvPr/>
        </p:nvSpPr>
        <p:spPr>
          <a:xfrm>
            <a:off x="24140160" y="15533370"/>
            <a:ext cx="2417445" cy="977264"/>
          </a:xfrm>
          <a:prstGeom prst="rect">
            <a:avLst/>
          </a:prstGeom>
          <a:noFill/>
        </p:spPr>
        <p:txBody>
          <a:bodyPr wrap="square" lIns="34290" rIns="34290" tIns="0" bIns="0" anchor="ctr">
            <a:spAutoFit/>
          </a:bodyPr>
          <a:lstStyle/>
          <a:p>
            <a:pPr algn="ctr">
              <a:spcBef>
                <a:spcPts val="0"/>
              </a:spcBef>
              <a:spcAft>
                <a:spcPts val="0"/>
              </a:spcAft>
              <a:defRPr sz="2112" b="1">
                <a:solidFill>
                  <a:srgbClr val="162D43"/>
                </a:solidFill>
                <a:latin typeface="Arial"/>
              </a:defRPr>
            </a:pPr>
            <a:r>
              <a:t>Text–Image</a:t>
            </a:r>
          </a:p>
          <a:p>
            <a:pPr algn="ctr">
              <a:spcBef>
                <a:spcPts val="0"/>
              </a:spcBef>
              <a:spcAft>
                <a:spcPts val="0"/>
              </a:spcAft>
              <a:defRPr sz="2112" b="1">
                <a:solidFill>
                  <a:srgbClr val="162D43"/>
                </a:solidFill>
                <a:latin typeface="Arial"/>
              </a:defRPr>
            </a:pPr>
            <a:r>
              <a:t>Alignment A</a:t>
            </a:r>
          </a:p>
        </p:txBody>
      </p:sp>
      <p:cxnSp>
        <p:nvCxnSpPr>
          <p:cNvPr id="689" name="Connector 688"/>
          <p:cNvCxnSpPr/>
          <p:nvPr/>
        </p:nvCxnSpPr>
        <p:spPr>
          <a:xfrm>
            <a:off x="23317200" y="15979139"/>
            <a:ext cx="771525" cy="0"/>
          </a:xfrm>
          <a:prstGeom prst="line">
            <a:avLst/>
          </a:prstGeom>
          <a:ln w="16510">
            <a:solidFill>
              <a:srgbClr val="41566A"/>
            </a:solidFill>
            <a:tailEnd type="triangle" w="sm" len="sm"/>
          </a:ln>
        </p:spPr>
        <p:style>
          <a:lnRef idx="2">
            <a:schemeClr val="accent1"/>
          </a:lnRef>
          <a:fillRef idx="0">
            <a:schemeClr val="accent1"/>
          </a:fillRef>
          <a:effectRef idx="1">
            <a:schemeClr val="accent1"/>
          </a:effectRef>
          <a:fontRef idx="minor">
            <a:schemeClr val="tx1"/>
          </a:fontRef>
        </p:style>
      </p:cxnSp>
      <p:sp>
        <p:nvSpPr>
          <p:cNvPr id="690" name="TextBox 689"/>
          <p:cNvSpPr txBox="1"/>
          <p:nvPr/>
        </p:nvSpPr>
        <p:spPr>
          <a:xfrm>
            <a:off x="22031325" y="16630650"/>
            <a:ext cx="4800600" cy="445770"/>
          </a:xfrm>
          <a:prstGeom prst="rect">
            <a:avLst/>
          </a:prstGeom>
          <a:noFill/>
        </p:spPr>
        <p:txBody>
          <a:bodyPr wrap="square" lIns="34290" rIns="34290" tIns="0" bIns="0" anchor="ctr">
            <a:spAutoFit/>
          </a:bodyPr>
          <a:lstStyle/>
          <a:p>
            <a:pPr algn="ctr">
              <a:spcBef>
                <a:spcPts val="0"/>
              </a:spcBef>
              <a:spcAft>
                <a:spcPts val="0"/>
              </a:spcAft>
              <a:defRPr sz="1848" b="0">
                <a:solidFill>
                  <a:srgbClr val="162D43"/>
                </a:solidFill>
                <a:latin typeface="Cambria"/>
              </a:defRPr>
            </a:pPr>
            <a:r>
              <a:t>A = γ A_g + (1−γ) A_l</a:t>
            </a:r>
          </a:p>
        </p:txBody>
      </p:sp>
      <p:sp>
        <p:nvSpPr>
          <p:cNvPr id="691" name="TextBox 690"/>
          <p:cNvSpPr txBox="1"/>
          <p:nvPr/>
        </p:nvSpPr>
        <p:spPr>
          <a:xfrm>
            <a:off x="22305645" y="17145000"/>
            <a:ext cx="4320540" cy="342900"/>
          </a:xfrm>
          <a:prstGeom prst="rect">
            <a:avLst/>
          </a:prstGeom>
          <a:noFill/>
        </p:spPr>
        <p:txBody>
          <a:bodyPr wrap="square" lIns="34290" rIns="34290" tIns="0" bIns="0" anchor="ctr">
            <a:spAutoFit/>
          </a:bodyPr>
          <a:lstStyle/>
          <a:p>
            <a:pPr algn="ctr">
              <a:spcBef>
                <a:spcPts val="0"/>
              </a:spcBef>
              <a:spcAft>
                <a:spcPts val="0"/>
              </a:spcAft>
              <a:defRPr sz="1320" b="0">
                <a:solidFill>
                  <a:srgbClr val="162D43"/>
                </a:solidFill>
                <a:latin typeface="Arial"/>
              </a:defRPr>
            </a:pPr>
            <a:r>
              <a:t>γ: sample-wise, conditioned on v, u</a:t>
            </a:r>
          </a:p>
        </p:txBody>
      </p:sp>
      <p:sp>
        <p:nvSpPr>
          <p:cNvPr id="692" name="TextBox 691"/>
          <p:cNvSpPr txBox="1"/>
          <p:nvPr/>
        </p:nvSpPr>
        <p:spPr>
          <a:xfrm>
            <a:off x="342900" y="17813655"/>
            <a:ext cx="26574750" cy="394334"/>
          </a:xfrm>
          <a:prstGeom prst="rect">
            <a:avLst/>
          </a:prstGeom>
          <a:noFill/>
        </p:spPr>
        <p:txBody>
          <a:bodyPr wrap="square" lIns="34290" rIns="34290" tIns="0" bIns="0" anchor="ctr">
            <a:spAutoFit/>
          </a:bodyPr>
          <a:lstStyle/>
          <a:p>
            <a:pPr algn="l">
              <a:spcBef>
                <a:spcPts val="0"/>
              </a:spcBef>
              <a:spcAft>
                <a:spcPts val="0"/>
              </a:spcAft>
              <a:defRPr sz="1320" b="0">
                <a:solidFill>
                  <a:srgbClr val="162D43"/>
                </a:solidFill>
                <a:latin typeface="Arial"/>
              </a:defRPr>
            </a:pPr>
            <a:r>
              <a:t>Same z / P₀ / u ports denote the same feature tensors.   sg: stop-gradient.   Visual encoders trainable; text backbone frozen.   Source layer4 → downstream layer3: local projection reset.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_framework_v2.png"/>
          <p:cNvPicPr>
            <a:picLocks noChangeAspect="1"/>
          </p:cNvPicPr>
          <p:nvPr/>
        </p:nvPicPr>
        <p:blipFill>
          <a:blip r:embed="rId2"/>
          <a:stretch>
            <a:fillRect/>
          </a:stretch>
        </p:blipFill>
        <p:spPr>
          <a:xfrm>
            <a:off x="0" y="0"/>
            <a:ext cx="27432000" cy="1828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200150" y="1028700"/>
            <a:ext cx="24860250" cy="1200150"/>
          </a:xfrm>
          <a:prstGeom prst="rect">
            <a:avLst/>
          </a:prstGeom>
          <a:noFill/>
        </p:spPr>
        <p:txBody>
          <a:bodyPr wrap="square" lIns="34290" rIns="34290" tIns="0" bIns="0" anchor="ctr">
            <a:spAutoFit/>
          </a:bodyPr>
          <a:lstStyle/>
          <a:p>
            <a:pPr algn="l">
              <a:spcBef>
                <a:spcPts val="0"/>
              </a:spcBef>
              <a:spcAft>
                <a:spcPts val="0"/>
              </a:spcAft>
              <a:defRPr sz="4488" b="1">
                <a:solidFill>
                  <a:srgbClr val="162D43"/>
                </a:solidFill>
                <a:latin typeface="Arial"/>
              </a:defRPr>
            </a:pPr>
            <a:r>
              <a:t>编辑说明 / Editing guide</a:t>
            </a:r>
          </a:p>
        </p:txBody>
      </p:sp>
      <p:sp>
        <p:nvSpPr>
          <p:cNvPr id="3" name="TextBox 2"/>
          <p:cNvSpPr txBox="1"/>
          <p:nvPr/>
        </p:nvSpPr>
        <p:spPr>
          <a:xfrm>
            <a:off x="1285875" y="2828925"/>
            <a:ext cx="24603075" cy="1114425"/>
          </a:xfrm>
          <a:prstGeom prst="rect">
            <a:avLst/>
          </a:prstGeom>
          <a:noFill/>
        </p:spPr>
        <p:txBody>
          <a:bodyPr wrap="square" lIns="34290" rIns="34290" tIns="0" bIns="0" anchor="ctr">
            <a:spAutoFit/>
          </a:bodyPr>
          <a:lstStyle/>
          <a:p>
            <a:pPr algn="l">
              <a:spcBef>
                <a:spcPts val="0"/>
              </a:spcBef>
              <a:spcAft>
                <a:spcPts val="0"/>
              </a:spcAft>
              <a:defRPr sz="3036" b="0">
                <a:solidFill>
                  <a:srgbClr val="162D43"/>
                </a:solidFill>
                <a:latin typeface="Arial"/>
              </a:defRPr>
            </a:pPr>
            <a:r>
              <a:t>第 1 页：可编辑重绘版。文字、公式、模块、箭头、特征张量和热图均为原生 PPT 对象。</a:t>
            </a:r>
          </a:p>
        </p:txBody>
      </p:sp>
      <p:sp>
        <p:nvSpPr>
          <p:cNvPr id="4" name="TextBox 3"/>
          <p:cNvSpPr txBox="1"/>
          <p:nvPr/>
        </p:nvSpPr>
        <p:spPr>
          <a:xfrm>
            <a:off x="1285875" y="4131945"/>
            <a:ext cx="24603075" cy="1114425"/>
          </a:xfrm>
          <a:prstGeom prst="rect">
            <a:avLst/>
          </a:prstGeom>
          <a:noFill/>
        </p:spPr>
        <p:txBody>
          <a:bodyPr wrap="square" lIns="34290" rIns="34290" tIns="0" bIns="0" anchor="ctr">
            <a:spAutoFit/>
          </a:bodyPr>
          <a:lstStyle/>
          <a:p>
            <a:pPr algn="l">
              <a:spcBef>
                <a:spcPts val="0"/>
              </a:spcBef>
              <a:spcAft>
                <a:spcPts val="0"/>
              </a:spcAft>
              <a:defRPr sz="3036" b="0">
                <a:solidFill>
                  <a:srgbClr val="162D43"/>
                </a:solidFill>
                <a:latin typeface="Arial"/>
              </a:defRPr>
            </a:pPr>
            <a:r>
              <a:t>第 2 页：原始论文风格图，仅作视觉参考。PNG 本身不能在 PowerPoint 中拆成原生图层。</a:t>
            </a:r>
          </a:p>
        </p:txBody>
      </p:sp>
      <p:sp>
        <p:nvSpPr>
          <p:cNvPr id="5" name="TextBox 4"/>
          <p:cNvSpPr txBox="1"/>
          <p:nvPr/>
        </p:nvSpPr>
        <p:spPr>
          <a:xfrm>
            <a:off x="1285875" y="5434965"/>
            <a:ext cx="24603075" cy="1114425"/>
          </a:xfrm>
          <a:prstGeom prst="rect">
            <a:avLst/>
          </a:prstGeom>
          <a:noFill/>
        </p:spPr>
        <p:txBody>
          <a:bodyPr wrap="square" lIns="34290" rIns="34290" tIns="0" bIns="0" anchor="ctr">
            <a:spAutoFit/>
          </a:bodyPr>
          <a:lstStyle/>
          <a:p>
            <a:pPr algn="l">
              <a:spcBef>
                <a:spcPts val="0"/>
              </a:spcBef>
              <a:spcAft>
                <a:spcPts val="0"/>
              </a:spcAft>
              <a:defRPr sz="3036" b="0">
                <a:solidFill>
                  <a:srgbClr val="162D43"/>
                </a:solidFill>
                <a:latin typeface="Arial"/>
              </a:defRPr>
            </a:pPr>
            <a:r>
              <a:t>在第 1 页直接点击文字修改；选中连接线后可拖动端点。图形填充、线条和字体可直接修改。</a:t>
            </a:r>
          </a:p>
        </p:txBody>
      </p:sp>
      <p:sp>
        <p:nvSpPr>
          <p:cNvPr id="6" name="TextBox 5"/>
          <p:cNvSpPr txBox="1"/>
          <p:nvPr/>
        </p:nvSpPr>
        <p:spPr>
          <a:xfrm>
            <a:off x="1285875" y="6737984"/>
            <a:ext cx="24603075" cy="1114425"/>
          </a:xfrm>
          <a:prstGeom prst="rect">
            <a:avLst/>
          </a:prstGeom>
          <a:noFill/>
        </p:spPr>
        <p:txBody>
          <a:bodyPr wrap="square" lIns="34290" rIns="34290" tIns="0" bIns="0" anchor="ctr">
            <a:spAutoFit/>
          </a:bodyPr>
          <a:lstStyle/>
          <a:p>
            <a:pPr algn="l">
              <a:spcBef>
                <a:spcPts val="0"/>
              </a:spcBef>
              <a:spcAft>
                <a:spcPts val="0"/>
              </a:spcAft>
              <a:defRPr sz="3036" b="0">
                <a:solidFill>
                  <a:srgbClr val="162D43"/>
                </a:solidFill>
                <a:latin typeface="Arial"/>
              </a:defRPr>
            </a:pPr>
            <a:r>
              <a:t>张量与热图以局部组合保存：右键 → 组合 → 取消组合，可编辑每个小格；也可 Ctrl+单击选择组内对象。</a:t>
            </a:r>
          </a:p>
        </p:txBody>
      </p:sp>
      <p:sp>
        <p:nvSpPr>
          <p:cNvPr id="7" name="TextBox 6"/>
          <p:cNvSpPr txBox="1"/>
          <p:nvPr/>
        </p:nvSpPr>
        <p:spPr>
          <a:xfrm>
            <a:off x="1285875" y="8041004"/>
            <a:ext cx="24603075" cy="1114425"/>
          </a:xfrm>
          <a:prstGeom prst="rect">
            <a:avLst/>
          </a:prstGeom>
          <a:noFill/>
        </p:spPr>
        <p:txBody>
          <a:bodyPr wrap="square" lIns="34290" rIns="34290" tIns="0" bIns="0" anchor="ctr">
            <a:spAutoFit/>
          </a:bodyPr>
          <a:lstStyle/>
          <a:p>
            <a:pPr algn="l">
              <a:spcBef>
                <a:spcPts val="0"/>
              </a:spcBef>
              <a:spcAft>
                <a:spcPts val="0"/>
              </a:spcAft>
              <a:defRPr sz="3036" b="0">
                <a:solidFill>
                  <a:srgbClr val="162D43"/>
                </a:solidFill>
                <a:latin typeface="Arial"/>
              </a:defRPr>
            </a:pPr>
            <a:r>
              <a:t>全选多个对象后可组合移动。重复的 z / P₀ / u 是同一个特征的命名端口，用于避免长线交叉。</a:t>
            </a:r>
          </a:p>
        </p:txBody>
      </p:sp>
      <p:sp>
        <p:nvSpPr>
          <p:cNvPr id="8" name="TextBox 7"/>
          <p:cNvSpPr txBox="1"/>
          <p:nvPr/>
        </p:nvSpPr>
        <p:spPr>
          <a:xfrm>
            <a:off x="1285875" y="9344025"/>
            <a:ext cx="24603075" cy="1114425"/>
          </a:xfrm>
          <a:prstGeom prst="rect">
            <a:avLst/>
          </a:prstGeom>
          <a:noFill/>
        </p:spPr>
        <p:txBody>
          <a:bodyPr wrap="square" lIns="34290" rIns="34290" tIns="0" bIns="0" anchor="ctr">
            <a:spAutoFit/>
          </a:bodyPr>
          <a:lstStyle/>
          <a:p>
            <a:pPr algn="l">
              <a:spcBef>
                <a:spcPts val="0"/>
              </a:spcBef>
              <a:spcAft>
                <a:spcPts val="0"/>
              </a:spcAft>
              <a:defRPr sz="3036" b="0">
                <a:solidFill>
                  <a:srgbClr val="162D43"/>
                </a:solidFill>
                <a:latin typeface="Arial"/>
              </a:defRPr>
            </a:pPr>
            <a:r>
              <a:t>已按代码修正关键关系：z→全局 Adapter，P₀→局部匹配；质量标量 β，一致性逐样本 γ。</a:t>
            </a:r>
          </a:p>
        </p:txBody>
      </p:sp>
      <p:sp>
        <p:nvSpPr>
          <p:cNvPr id="9" name="TextBox 8"/>
          <p:cNvSpPr txBox="1"/>
          <p:nvPr/>
        </p:nvSpPr>
        <p:spPr>
          <a:xfrm>
            <a:off x="1285875" y="10647044"/>
            <a:ext cx="24603075" cy="1114425"/>
          </a:xfrm>
          <a:prstGeom prst="rect">
            <a:avLst/>
          </a:prstGeom>
          <a:noFill/>
        </p:spPr>
        <p:txBody>
          <a:bodyPr wrap="square" lIns="34290" rIns="34290" tIns="0" bIns="0" anchor="ctr">
            <a:spAutoFit/>
          </a:bodyPr>
          <a:lstStyle/>
          <a:p>
            <a:pPr algn="l">
              <a:spcBef>
                <a:spcPts val="0"/>
              </a:spcBef>
              <a:spcAft>
                <a:spcPts val="0"/>
              </a:spcAft>
              <a:defRPr sz="3036" b="0">
                <a:solidFill>
                  <a:srgbClr val="162D43"/>
                </a:solidFill>
                <a:latin typeface="Arial"/>
              </a:defRPr>
            </a:pPr>
            <a:r>
              <a:t>保留原图配色和双面板视觉语言，但原生重绘并非与原 PNG 逐像素一致。</a:t>
            </a:r>
          </a:p>
        </p:txBody>
      </p:sp>
      <p:sp>
        <p:nvSpPr>
          <p:cNvPr id="10" name="TextBox 9"/>
          <p:cNvSpPr txBox="1"/>
          <p:nvPr/>
        </p:nvSpPr>
        <p:spPr>
          <a:xfrm>
            <a:off x="1285875" y="11950065"/>
            <a:ext cx="24603075" cy="1114425"/>
          </a:xfrm>
          <a:prstGeom prst="rect">
            <a:avLst/>
          </a:prstGeom>
          <a:noFill/>
        </p:spPr>
        <p:txBody>
          <a:bodyPr wrap="square" lIns="34290" rIns="34290" tIns="0" bIns="0" anchor="ctr">
            <a:spAutoFit/>
          </a:bodyPr>
          <a:lstStyle/>
          <a:p>
            <a:pPr algn="l">
              <a:spcBef>
                <a:spcPts val="0"/>
              </a:spcBef>
              <a:spcAft>
                <a:spcPts val="0"/>
              </a:spcAft>
              <a:defRPr sz="3036" b="0">
                <a:solidFill>
                  <a:srgbClr val="162D43"/>
                </a:solidFill>
                <a:latin typeface="Arial"/>
              </a:defRPr>
            </a:pPr>
            <a:r>
              <a:t>导出论文图：文件 → 导出 → PDF；或另存图片。排版时建议保留矢量 PDF。</a:t>
            </a:r>
          </a:p>
        </p:txBody>
      </p:sp>
      <p:sp>
        <p:nvSpPr>
          <p:cNvPr id="11" name="TextBox 10"/>
          <p:cNvSpPr txBox="1"/>
          <p:nvPr/>
        </p:nvSpPr>
        <p:spPr>
          <a:xfrm>
            <a:off x="1285875" y="13253084"/>
            <a:ext cx="24603075" cy="1114425"/>
          </a:xfrm>
          <a:prstGeom prst="rect">
            <a:avLst/>
          </a:prstGeom>
          <a:noFill/>
        </p:spPr>
        <p:txBody>
          <a:bodyPr wrap="square" lIns="34290" rIns="34290" tIns="0" bIns="0" anchor="ctr">
            <a:spAutoFit/>
          </a:bodyPr>
          <a:lstStyle/>
          <a:p>
            <a:pPr algn="l">
              <a:spcBef>
                <a:spcPts val="0"/>
              </a:spcBef>
              <a:spcAft>
                <a:spcPts val="0"/>
              </a:spcAft>
              <a:defRPr sz="3036" b="0">
                <a:solidFill>
                  <a:srgbClr val="162D43"/>
                </a:solidFill>
                <a:latin typeface="Arial"/>
              </a:defRPr>
            </a:pPr>
            <a:r>
              <a:t>依据：代码 e127834；CLIP Large、下游 layer3、Residual Quality Adapter、CE=0.005、标量质量融合。</a:t>
            </a:r>
          </a:p>
        </p:txBody>
      </p:sp>
      <p:sp>
        <p:nvSpPr>
          <p:cNvPr id="12" name="TextBox 11"/>
          <p:cNvSpPr txBox="1"/>
          <p:nvPr/>
        </p:nvSpPr>
        <p:spPr>
          <a:xfrm>
            <a:off x="1285875" y="14556105"/>
            <a:ext cx="24603075" cy="1114425"/>
          </a:xfrm>
          <a:prstGeom prst="rect">
            <a:avLst/>
          </a:prstGeom>
          <a:noFill/>
        </p:spPr>
        <p:txBody>
          <a:bodyPr wrap="square" lIns="34290" rIns="34290" tIns="0" bIns="0" anchor="ctr">
            <a:spAutoFit/>
          </a:bodyPr>
          <a:lstStyle/>
          <a:p>
            <a:pPr algn="l">
              <a:spcBef>
                <a:spcPts val="0"/>
              </a:spcBef>
              <a:spcAft>
                <a:spcPts val="0"/>
              </a:spcAft>
              <a:defRPr sz="3036" b="0">
                <a:solidFill>
                  <a:srgbClr val="162D43"/>
                </a:solidFill>
                <a:latin typeface="Arial"/>
              </a:defRPr>
            </a:pPr>
            <a:r>
              <a:t>未纳入实验中的逐图质量门控，也未把学习率消融宣称为已确定主方法。</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